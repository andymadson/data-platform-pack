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deck for the data-platform-pack enablement session. Pair with 02-facilitator-guide.md for the full talk track and timings. Slides carry the opening framing and the teaching skeleton; the demo itself runs in the terminal from minute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scope out loud before anything else. The cut list is as deliberate as the covered list; the reasons come from 01-design-note.md. If someone wants the cut topics, point them at the docs links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are the capstone concept: the package that bundles skills, agents, and hooks into one versioned unit. You'll teach the individual features on other days. Today is where they stop being a laptop setup and become something an enterprise can adopt.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learning objectives from 01-design-note.md, stated up front so the room knows what done looks like. Objective 2 is the load-bearing one; the hands-on block at minute 20 is where objectives 2 and 3 get practiced.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minute 0 to 3, no screen yet: your champion built genuinely good workflows, then the platform lead asks about rollout and the energy leaves the room. No versioning, no way to push a fix, security has no idea what's running where. That's the objection that stalls the deal, and it's the one plugins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layers left to right, then land the two commands. Two facts to say out loud because they prevent later confusion: components live at the plugin root, not inside .claude-plugin/, and installed plugins run from a cache copy, so editing a checkout changes nothing until a new version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if the model ignores instructions.' It isn't an instruction. The guard is a separate process gating the tool call before it executes. Invite skeptics to read guard.js; 158 lines is the point. Demo beat 3 makes this concrete at minute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rollout motion the platform lead has been asking for. Beat 4 of the demo performs it live with a rule the room suggests. The offline proof step matters: the seller never burns a token to know the policy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are verbatim in PROMPTS.md; narrate decisions, not keystrokes. Beat 3 is where the principle slides pay off: the deny arrives with a rule id and reason, and the audit file shows attempts and outcomes together. Beat 4 takes a rule from the room and ships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practice with immediate feedback: the harness gives an instant pass or fail, so every attendee gets a tight loop. Facilitator circulates. No laptops in the room? Run beat 4 twice more with audience-supplied rules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discovery questions that open the conversation in a real account, then the success signal for this enablement: a real customer run inside 14 days, verified through call recordings or CRM notes. That's the transfer measure, not a quiz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deleting the local plugin and removing the marketplace so the machine is clean for the next rehearsal, then point the room at the repo. Everything on this slide exists in the published kit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1572768"/>
            <a:ext cx="457200" cy="27432"/>
          </a:xfrm>
          <a:prstGeom prst="rect">
            <a:avLst/>
          </a:prstGeom>
          <a:solidFill>
            <a:srgbClr val="CC785C"/>
          </a:solidFill>
          <a:ln/>
        </p:spPr>
      </p:sp>
      <p:sp>
        <p:nvSpPr>
          <p:cNvPr id="3" name="Text 1"/>
          <p:cNvSpPr/>
          <p:nvPr/>
        </p:nvSpPr>
        <p:spPr>
          <a:xfrm>
            <a:off x="548640" y="1755648"/>
            <a:ext cx="7863840" cy="1188720"/>
          </a:xfrm>
          <a:prstGeom prst="rect">
            <a:avLst/>
          </a:prstGeom>
          <a:noFill/>
          <a:ln/>
        </p:spPr>
        <p:txBody>
          <a:bodyPr wrap="square" lIns="0" tIns="0" rIns="0" bIns="0" rtlCol="0" anchor="t"/>
          <a:lstStyle/>
          <a:p>
            <a:pPr algn="l" indent="0" marL="0">
              <a:buNone/>
            </a:pPr>
            <a:r>
              <a:rPr lang="en-US" sz="3800" dirty="0">
                <a:solidFill>
                  <a:srgbClr val="191919"/>
                </a:solidFill>
                <a:latin typeface="Georgia" pitchFamily="34" charset="0"/>
                <a:ea typeface="Georgia" pitchFamily="34" charset="-122"/>
                <a:cs typeface="Georgia" pitchFamily="34" charset="-120"/>
              </a:rPr>
              <a:t>Plugins: the enterprise rollout story.</a:t>
            </a:r>
            <a:endParaRPr lang="en-US" sz="3800" dirty="0"/>
          </a:p>
        </p:txBody>
      </p:sp>
      <p:sp>
        <p:nvSpPr>
          <p:cNvPr id="4" name="Text 2"/>
          <p:cNvSpPr/>
          <p:nvPr/>
        </p:nvSpPr>
        <p:spPr>
          <a:xfrm>
            <a:off x="548640" y="2971800"/>
            <a:ext cx="7315200" cy="365760"/>
          </a:xfrm>
          <a:prstGeom prst="rect">
            <a:avLst/>
          </a:prstGeom>
          <a:noFill/>
          <a:ln/>
        </p:spPr>
        <p:txBody>
          <a:bodyPr wrap="square" lIns="0" tIns="0" rIns="0" bIns="0" rtlCol="0" anchor="ctr"/>
          <a:lstStyle/>
          <a:p>
            <a:pPr indent="0" marL="0">
              <a:buNone/>
            </a:pPr>
            <a:r>
              <a:rPr lang="en-US" sz="1500" dirty="0">
                <a:solidFill>
                  <a:srgbClr val="6B6B66"/>
                </a:solidFill>
                <a:latin typeface="Arial" pitchFamily="34" charset="0"/>
                <a:ea typeface="Arial" pitchFamily="34" charset="-122"/>
                <a:cs typeface="Arial" pitchFamily="34" charset="-120"/>
              </a:rPr>
              <a:t>Claude Code enablement for Applied AI. A 30-minute session.</a:t>
            </a:r>
            <a:endParaRPr lang="en-US" sz="1500" dirty="0"/>
          </a:p>
        </p:txBody>
      </p:sp>
      <p:sp>
        <p:nvSpPr>
          <p:cNvPr id="5" name="Text 3"/>
          <p:cNvSpPr/>
          <p:nvPr/>
        </p:nvSpPr>
        <p:spPr>
          <a:xfrm>
            <a:off x="548640" y="4640580"/>
            <a:ext cx="5486400" cy="274320"/>
          </a:xfrm>
          <a:prstGeom prst="rect">
            <a:avLst/>
          </a:prstGeom>
          <a:noFill/>
          <a:ln/>
        </p:spPr>
        <p:txBody>
          <a:bodyPr wrap="square" lIns="0" tIns="0" rIns="0" bIns="0" rtlCol="0" anchor="ctr"/>
          <a:lstStyle/>
          <a:p>
            <a:pPr indent="0" marL="0">
              <a:buNone/>
            </a:pPr>
            <a:r>
              <a:rPr lang="en-US" sz="1100" dirty="0">
                <a:solidFill>
                  <a:srgbClr val="CC785C"/>
                </a:solidFill>
                <a:latin typeface="Consolas" pitchFamily="34" charset="0"/>
                <a:ea typeface="Consolas" pitchFamily="34" charset="-122"/>
                <a:cs typeface="Consolas" pitchFamily="34" charset="-120"/>
              </a:rPr>
              <a:t>github.com/andymadson/data-platform-pack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What this covers, and what it doesn't.</a:t>
            </a:r>
            <a:endParaRPr lang="en-US" sz="2600" dirty="0"/>
          </a:p>
        </p:txBody>
      </p:sp>
      <p:sp>
        <p:nvSpPr>
          <p:cNvPr id="4" name="Shape 2"/>
          <p:cNvSpPr/>
          <p:nvPr/>
        </p:nvSpPr>
        <p:spPr>
          <a:xfrm>
            <a:off x="548640" y="1417320"/>
            <a:ext cx="3886200" cy="3200400"/>
          </a:xfrm>
          <a:prstGeom prst="rect">
            <a:avLst/>
          </a:prstGeom>
          <a:solidFill>
            <a:srgbClr val="F0EEE6"/>
          </a:solidFill>
          <a:ln/>
        </p:spPr>
      </p:sp>
      <p:sp>
        <p:nvSpPr>
          <p:cNvPr id="5" name="Text 3"/>
          <p:cNvSpPr/>
          <p:nvPr/>
        </p:nvSpPr>
        <p:spPr>
          <a:xfrm>
            <a:off x="822960" y="1618488"/>
            <a:ext cx="3337560" cy="320040"/>
          </a:xfrm>
          <a:prstGeom prst="rect">
            <a:avLst/>
          </a:prstGeom>
          <a:noFill/>
          <a:ln/>
        </p:spPr>
        <p:txBody>
          <a:bodyPr wrap="square" lIns="0" tIns="0" rIns="0" bIns="0" rtlCol="0" anchor="ctr"/>
          <a:lstStyle/>
          <a:p>
            <a:pPr indent="0" marL="0">
              <a:buNone/>
            </a:pPr>
            <a:r>
              <a:rPr lang="en-US" sz="1600" b="1" dirty="0">
                <a:solidFill>
                  <a:srgbClr val="191919"/>
                </a:solidFill>
                <a:latin typeface="Georgia" pitchFamily="34" charset="0"/>
                <a:ea typeface="Georgia" pitchFamily="34" charset="-122"/>
                <a:cs typeface="Georgia" pitchFamily="34" charset="-120"/>
              </a:rPr>
              <a:t>Covered</a:t>
            </a:r>
            <a:endParaRPr lang="en-US" sz="1600" dirty="0"/>
          </a:p>
        </p:txBody>
      </p:sp>
      <p:sp>
        <p:nvSpPr>
          <p:cNvPr id="6" name="Text 4"/>
          <p:cNvSpPr/>
          <p:nvPr/>
        </p:nvSpPr>
        <p:spPr>
          <a:xfrm>
            <a:off x="822960" y="2057400"/>
            <a:ext cx="3337560" cy="22860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Plugin anatomy: marketplace, manifest, components, version pin</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The 4-beat field demo: install, use, govern, ship</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Deterministic guardrails and the audit trail they write</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Shipping a policy change to a whole engineering fleet</a:t>
            </a:r>
            <a:endParaRPr lang="en-US" sz="1250" dirty="0"/>
          </a:p>
        </p:txBody>
      </p:sp>
      <p:sp>
        <p:nvSpPr>
          <p:cNvPr id="7" name="Shape 5"/>
          <p:cNvSpPr/>
          <p:nvPr/>
        </p:nvSpPr>
        <p:spPr>
          <a:xfrm>
            <a:off x="4709160" y="1417320"/>
            <a:ext cx="3886200" cy="3200400"/>
          </a:xfrm>
          <a:prstGeom prst="rect">
            <a:avLst/>
          </a:prstGeom>
          <a:solidFill>
            <a:srgbClr val="FAF9F5"/>
          </a:solidFill>
          <a:ln w="12700">
            <a:solidFill>
              <a:srgbClr val="D4A27F"/>
            </a:solidFill>
            <a:prstDash val="solid"/>
          </a:ln>
        </p:spPr>
      </p:sp>
      <p:sp>
        <p:nvSpPr>
          <p:cNvPr id="8" name="Text 6"/>
          <p:cNvSpPr/>
          <p:nvPr/>
        </p:nvSpPr>
        <p:spPr>
          <a:xfrm>
            <a:off x="4983480" y="1618488"/>
            <a:ext cx="3337560" cy="320040"/>
          </a:xfrm>
          <a:prstGeom prst="rect">
            <a:avLst/>
          </a:prstGeom>
          <a:noFill/>
          <a:ln/>
        </p:spPr>
        <p:txBody>
          <a:bodyPr wrap="square" lIns="0" tIns="0" rIns="0" bIns="0" rtlCol="0" anchor="ctr"/>
          <a:lstStyle/>
          <a:p>
            <a:pPr indent="0" marL="0">
              <a:buNone/>
            </a:pPr>
            <a:r>
              <a:rPr lang="en-US" sz="1600" b="1" dirty="0">
                <a:solidFill>
                  <a:srgbClr val="191919"/>
                </a:solidFill>
                <a:latin typeface="Georgia" pitchFamily="34" charset="0"/>
                <a:ea typeface="Georgia" pitchFamily="34" charset="-122"/>
                <a:cs typeface="Georgia" pitchFamily="34" charset="-120"/>
              </a:rPr>
              <a:t>Not covered, on purpose</a:t>
            </a:r>
            <a:endParaRPr lang="en-US" sz="1600" dirty="0"/>
          </a:p>
        </p:txBody>
      </p:sp>
      <p:sp>
        <p:nvSpPr>
          <p:cNvPr id="9" name="Text 7"/>
          <p:cNvSpPr/>
          <p:nvPr/>
        </p:nvSpPr>
        <p:spPr>
          <a:xfrm>
            <a:off x="4983480" y="2057400"/>
            <a:ext cx="3337560" cy="22860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MCP and LSP servers in plugins. Auth variability is how live demos die.</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Building a plugin from scratch. Scaffolding is boring to watch.</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Multi-plugin marketplaces and dependencies. Day-two concerns.</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Sandboxing and IAM. A different defense layer; plugins don't replace it.</a:t>
            </a:r>
            <a:endParaRPr lang="en-US" sz="1250" dirty="0"/>
          </a:p>
        </p:txBody>
      </p:sp>
      <p:sp>
        <p:nvSpPr>
          <p:cNvPr id="10" name="Text 8"/>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Where this sits in the learning journey.</a:t>
            </a:r>
            <a:endParaRPr lang="en-US" sz="2600" dirty="0"/>
          </a:p>
        </p:txBody>
      </p:sp>
      <p:sp>
        <p:nvSpPr>
          <p:cNvPr id="4" name="Shape 2"/>
          <p:cNvSpPr/>
          <p:nvPr/>
        </p:nvSpPr>
        <p:spPr>
          <a:xfrm>
            <a:off x="548640" y="1554480"/>
            <a:ext cx="2286000" cy="2103120"/>
          </a:xfrm>
          <a:prstGeom prst="rect">
            <a:avLst/>
          </a:prstGeom>
          <a:solidFill>
            <a:srgbClr val="F0EEE6"/>
          </a:solidFill>
          <a:ln/>
        </p:spPr>
      </p:sp>
      <p:sp>
        <p:nvSpPr>
          <p:cNvPr id="5" name="Text 3"/>
          <p:cNvSpPr/>
          <p:nvPr/>
        </p:nvSpPr>
        <p:spPr>
          <a:xfrm>
            <a:off x="777240" y="1737360"/>
            <a:ext cx="18288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BEFORE</a:t>
            </a:r>
            <a:endParaRPr lang="en-US" sz="1050" dirty="0"/>
          </a:p>
        </p:txBody>
      </p:sp>
      <p:sp>
        <p:nvSpPr>
          <p:cNvPr id="6" name="Text 4"/>
          <p:cNvSpPr/>
          <p:nvPr/>
        </p:nvSpPr>
        <p:spPr>
          <a:xfrm>
            <a:off x="777240" y="2121408"/>
            <a:ext cx="1828800" cy="132588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Claude Code fundamentals. Skills, agents, and hooks as individual features on one laptop.</a:t>
            </a:r>
            <a:endParaRPr lang="en-US" sz="1250" dirty="0"/>
          </a:p>
        </p:txBody>
      </p:sp>
      <p:sp>
        <p:nvSpPr>
          <p:cNvPr id="7" name="Text 5"/>
          <p:cNvSpPr/>
          <p:nvPr/>
        </p:nvSpPr>
        <p:spPr>
          <a:xfrm>
            <a:off x="2971800" y="2377440"/>
            <a:ext cx="320040"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3429000" y="1554480"/>
            <a:ext cx="2286000" cy="2103120"/>
          </a:xfrm>
          <a:prstGeom prst="rect">
            <a:avLst/>
          </a:prstGeom>
          <a:solidFill>
            <a:srgbClr val="F0EEE6"/>
          </a:solidFill>
          <a:ln w="19050">
            <a:solidFill>
              <a:srgbClr val="CC785C"/>
            </a:solidFill>
            <a:prstDash val="solid"/>
          </a:ln>
        </p:spPr>
      </p:sp>
      <p:sp>
        <p:nvSpPr>
          <p:cNvPr id="9" name="Text 7"/>
          <p:cNvSpPr/>
          <p:nvPr/>
        </p:nvSpPr>
        <p:spPr>
          <a:xfrm>
            <a:off x="3657600" y="1737360"/>
            <a:ext cx="18288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THIS SESSION</a:t>
            </a:r>
            <a:endParaRPr lang="en-US" sz="1050" dirty="0"/>
          </a:p>
        </p:txBody>
      </p:sp>
      <p:sp>
        <p:nvSpPr>
          <p:cNvPr id="10" name="Text 8"/>
          <p:cNvSpPr/>
          <p:nvPr/>
        </p:nvSpPr>
        <p:spPr>
          <a:xfrm>
            <a:off x="3657600" y="2121408"/>
            <a:ext cx="1828800" cy="132588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Packaging those pieces into one versioned unit a platform team can install, govern, and update.</a:t>
            </a:r>
            <a:endParaRPr lang="en-US" sz="1250" dirty="0"/>
          </a:p>
        </p:txBody>
      </p:sp>
      <p:sp>
        <p:nvSpPr>
          <p:cNvPr id="11" name="Text 9"/>
          <p:cNvSpPr/>
          <p:nvPr/>
        </p:nvSpPr>
        <p:spPr>
          <a:xfrm>
            <a:off x="5852160" y="2377440"/>
            <a:ext cx="320040"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6309360" y="1554480"/>
            <a:ext cx="2286000" cy="2103120"/>
          </a:xfrm>
          <a:prstGeom prst="rect">
            <a:avLst/>
          </a:prstGeom>
          <a:solidFill>
            <a:srgbClr val="F0EEE6"/>
          </a:solidFill>
          <a:ln/>
        </p:spPr>
      </p:sp>
      <p:sp>
        <p:nvSpPr>
          <p:cNvPr id="13" name="Text 11"/>
          <p:cNvSpPr/>
          <p:nvPr/>
        </p:nvSpPr>
        <p:spPr>
          <a:xfrm>
            <a:off x="6537960" y="1737360"/>
            <a:ext cx="18288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AFTER</a:t>
            </a:r>
            <a:endParaRPr lang="en-US" sz="1050" dirty="0"/>
          </a:p>
        </p:txBody>
      </p:sp>
      <p:sp>
        <p:nvSpPr>
          <p:cNvPr id="14" name="Text 12"/>
          <p:cNvSpPr/>
          <p:nvPr/>
        </p:nvSpPr>
        <p:spPr>
          <a:xfrm>
            <a:off x="6537960" y="2121408"/>
            <a:ext cx="1828800" cy="132588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Fork the kit, swap in a customer's real conventions and policy, and run it in a live account.</a:t>
            </a:r>
            <a:endParaRPr lang="en-US" sz="1250" dirty="0"/>
          </a:p>
        </p:txBody>
      </p:sp>
      <p:sp>
        <p:nvSpPr>
          <p:cNvPr id="15" name="Text 13"/>
          <p:cNvSpPr/>
          <p:nvPr/>
        </p:nvSpPr>
        <p:spPr>
          <a:xfrm>
            <a:off x="548640" y="3977640"/>
            <a:ext cx="8046720" cy="365760"/>
          </a:xfrm>
          <a:prstGeom prst="rect">
            <a:avLst/>
          </a:prstGeom>
          <a:noFill/>
          <a:ln/>
        </p:spPr>
        <p:txBody>
          <a:bodyPr wrap="square" lIns="0" tIns="0" rIns="0" bIns="0" rtlCol="0" anchor="ctr"/>
          <a:lstStyle/>
          <a:p>
            <a:pPr indent="0" marL="0">
              <a:buNone/>
            </a:pPr>
            <a:r>
              <a:rPr lang="en-US" sz="1150" dirty="0">
                <a:solidFill>
                  <a:srgbClr val="6B6B66"/>
                </a:solidFill>
                <a:latin typeface="Arial" pitchFamily="34" charset="0"/>
                <a:ea typeface="Arial" pitchFamily="34" charset="-122"/>
                <a:cs typeface="Arial" pitchFamily="34" charset="-120"/>
              </a:rPr>
              <a:t>Prerequisites: Claude Code installed and authenticated, Node 18 or higher, one prior session using skills or hooks.</a:t>
            </a:r>
            <a:endParaRPr lang="en-US" sz="1150" dirty="0"/>
          </a:p>
        </p:txBody>
      </p:sp>
      <p:sp>
        <p:nvSpPr>
          <p:cNvPr id="16" name="Text 14"/>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After 30 minutes, you can do four things.</a:t>
            </a:r>
            <a:endParaRPr lang="en-US" sz="2600" dirty="0"/>
          </a:p>
        </p:txBody>
      </p:sp>
      <p:sp>
        <p:nvSpPr>
          <p:cNvPr id="4" name="Shape 2"/>
          <p:cNvSpPr/>
          <p:nvPr/>
        </p:nvSpPr>
        <p:spPr>
          <a:xfrm>
            <a:off x="548640" y="1371600"/>
            <a:ext cx="3886200" cy="1481328"/>
          </a:xfrm>
          <a:prstGeom prst="rect">
            <a:avLst/>
          </a:prstGeom>
          <a:solidFill>
            <a:srgbClr val="F0EEE6"/>
          </a:solidFill>
          <a:ln/>
        </p:spPr>
      </p:sp>
      <p:sp>
        <p:nvSpPr>
          <p:cNvPr id="5" name="Text 3"/>
          <p:cNvSpPr/>
          <p:nvPr/>
        </p:nvSpPr>
        <p:spPr>
          <a:xfrm>
            <a:off x="749808" y="1536192"/>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234440" y="1554480"/>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Draw plugin anatomy from memory.</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Marketplace, manifest, components, distributed through git and pinned by version.</a:t>
            </a:r>
            <a:endParaRPr lang="en-US" sz="1350" dirty="0"/>
          </a:p>
        </p:txBody>
      </p:sp>
      <p:sp>
        <p:nvSpPr>
          <p:cNvPr id="7" name="Shape 5"/>
          <p:cNvSpPr/>
          <p:nvPr/>
        </p:nvSpPr>
        <p:spPr>
          <a:xfrm>
            <a:off x="4709160" y="1371600"/>
            <a:ext cx="3886200" cy="1481328"/>
          </a:xfrm>
          <a:prstGeom prst="rect">
            <a:avLst/>
          </a:prstGeom>
          <a:solidFill>
            <a:srgbClr val="F0EEE6"/>
          </a:solidFill>
          <a:ln/>
        </p:spPr>
      </p:sp>
      <p:sp>
        <p:nvSpPr>
          <p:cNvPr id="8" name="Text 6"/>
          <p:cNvSpPr/>
          <p:nvPr/>
        </p:nvSpPr>
        <p:spPr>
          <a:xfrm>
            <a:off x="4910328" y="1536192"/>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2</a:t>
            </a:r>
            <a:endParaRPr lang="en-US" sz="2200" dirty="0"/>
          </a:p>
        </p:txBody>
      </p:sp>
      <p:sp>
        <p:nvSpPr>
          <p:cNvPr id="9" name="Text 7"/>
          <p:cNvSpPr/>
          <p:nvPr/>
        </p:nvSpPr>
        <p:spPr>
          <a:xfrm>
            <a:off x="5394960" y="1554480"/>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Run the 4-beat demo solo.</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Fresh clone to finished demo, install through ship, in under 12 minutes.</a:t>
            </a:r>
            <a:endParaRPr lang="en-US" sz="1350" dirty="0"/>
          </a:p>
        </p:txBody>
      </p:sp>
      <p:sp>
        <p:nvSpPr>
          <p:cNvPr id="10" name="Shape 8"/>
          <p:cNvSpPr/>
          <p:nvPr/>
        </p:nvSpPr>
        <p:spPr>
          <a:xfrm>
            <a:off x="548640" y="3081528"/>
            <a:ext cx="3886200" cy="1481328"/>
          </a:xfrm>
          <a:prstGeom prst="rect">
            <a:avLst/>
          </a:prstGeom>
          <a:solidFill>
            <a:srgbClr val="F0EEE6"/>
          </a:solidFill>
          <a:ln/>
        </p:spPr>
      </p:sp>
      <p:sp>
        <p:nvSpPr>
          <p:cNvPr id="11" name="Text 9"/>
          <p:cNvSpPr/>
          <p:nvPr/>
        </p:nvSpPr>
        <p:spPr>
          <a:xfrm>
            <a:off x="749808" y="3246120"/>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3</a:t>
            </a:r>
            <a:endParaRPr lang="en-US" sz="2200" dirty="0"/>
          </a:p>
        </p:txBody>
      </p:sp>
      <p:sp>
        <p:nvSpPr>
          <p:cNvPr id="12" name="Text 10"/>
          <p:cNvSpPr/>
          <p:nvPr/>
        </p:nvSpPr>
        <p:spPr>
          <a:xfrm>
            <a:off x="1234440" y="3264408"/>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Ship a policy change live.</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Add a rule, prove it offline in seconds, bump the version, update the fleet.</a:t>
            </a:r>
            <a:endParaRPr lang="en-US" sz="1350" dirty="0"/>
          </a:p>
        </p:txBody>
      </p:sp>
      <p:sp>
        <p:nvSpPr>
          <p:cNvPr id="13" name="Shape 11"/>
          <p:cNvSpPr/>
          <p:nvPr/>
        </p:nvSpPr>
        <p:spPr>
          <a:xfrm>
            <a:off x="4709160" y="3081528"/>
            <a:ext cx="3886200" cy="1481328"/>
          </a:xfrm>
          <a:prstGeom prst="rect">
            <a:avLst/>
          </a:prstGeom>
          <a:solidFill>
            <a:srgbClr val="F0EEE6"/>
          </a:solidFill>
          <a:ln/>
        </p:spPr>
      </p:sp>
      <p:sp>
        <p:nvSpPr>
          <p:cNvPr id="14" name="Text 12"/>
          <p:cNvSpPr/>
          <p:nvPr/>
        </p:nvSpPr>
        <p:spPr>
          <a:xfrm>
            <a:off x="4910328" y="3246120"/>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4</a:t>
            </a:r>
            <a:endParaRPr lang="en-US" sz="2200" dirty="0"/>
          </a:p>
        </p:txBody>
      </p:sp>
      <p:sp>
        <p:nvSpPr>
          <p:cNvPr id="15" name="Text 13"/>
          <p:cNvSpPr/>
          <p:nvPr/>
        </p:nvSpPr>
        <p:spPr>
          <a:xfrm>
            <a:off x="5394960" y="3264408"/>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Handle the three objections.</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Folder copies, model compliance, and plugin supply chain.</a:t>
            </a:r>
            <a:endParaRPr lang="en-US" sz="1350" dirty="0"/>
          </a:p>
        </p:txBody>
      </p:sp>
      <p:sp>
        <p:nvSpPr>
          <p:cNvPr id="16" name="Text 14"/>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1234440"/>
            <a:ext cx="36576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THE PROBLEM</a:t>
            </a:r>
            <a:endParaRPr lang="en-US" sz="1050" dirty="0"/>
          </a:p>
        </p:txBody>
      </p:sp>
      <p:sp>
        <p:nvSpPr>
          <p:cNvPr id="3" name="Text 1"/>
          <p:cNvSpPr/>
          <p:nvPr/>
        </p:nvSpPr>
        <p:spPr>
          <a:xfrm>
            <a:off x="548640" y="1600200"/>
            <a:ext cx="7955280" cy="1554480"/>
          </a:xfrm>
          <a:prstGeom prst="rect">
            <a:avLst/>
          </a:prstGeom>
          <a:noFill/>
          <a:ln/>
        </p:spPr>
        <p:txBody>
          <a:bodyPr wrap="square" lIns="0" tIns="0" rIns="0" bIns="0" rtlCol="0" anchor="t"/>
          <a:lstStyle/>
          <a:p>
            <a:pPr indent="0" marL="0">
              <a:buNone/>
            </a:pPr>
            <a:r>
              <a:rPr lang="en-US" sz="3000" dirty="0">
                <a:solidFill>
                  <a:srgbClr val="191919"/>
                </a:solidFill>
                <a:latin typeface="Georgia" pitchFamily="34" charset="0"/>
                <a:ea typeface="Georgia" pitchFamily="34" charset="-122"/>
                <a:cs typeface="Georgia" pitchFamily="34" charset="-120"/>
              </a:rPr>
              <a:t>200 engineers. 200 copies of a .claude/ folder. Zero versioning.</a:t>
            </a:r>
            <a:endParaRPr lang="en-US" sz="3000" dirty="0"/>
          </a:p>
        </p:txBody>
      </p:sp>
      <p:sp>
        <p:nvSpPr>
          <p:cNvPr id="4" name="Text 2"/>
          <p:cNvSpPr/>
          <p:nvPr/>
        </p:nvSpPr>
        <p:spPr>
          <a:xfrm>
            <a:off x="548640" y="3291840"/>
            <a:ext cx="7315200" cy="411480"/>
          </a:xfrm>
          <a:prstGeom prst="rect">
            <a:avLst/>
          </a:prstGeom>
          <a:noFill/>
          <a:ln/>
        </p:spPr>
        <p:txBody>
          <a:bodyPr wrap="square" lIns="0" tIns="0" rIns="0" bIns="0" rtlCol="0" anchor="ctr"/>
          <a:lstStyle/>
          <a:p>
            <a:pPr indent="0" marL="0">
              <a:buNone/>
            </a:pPr>
            <a:r>
              <a:rPr lang="en-US" sz="1500" dirty="0">
                <a:solidFill>
                  <a:srgbClr val="6B6B66"/>
                </a:solidFill>
                <a:latin typeface="Arial" pitchFamily="34" charset="0"/>
                <a:ea typeface="Arial" pitchFamily="34" charset="-122"/>
                <a:cs typeface="Arial" pitchFamily="34" charset="-120"/>
              </a:rPr>
              <a:t>The objection that stalls the deal isn't capability. It's rollout.</a:t>
            </a:r>
            <a:endParaRPr lang="en-US" sz="1500" dirty="0"/>
          </a:p>
        </p:txBody>
      </p:sp>
      <p:sp>
        <p:nvSpPr>
          <p:cNvPr id="5" name="Text 3"/>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Principle 1. The plugin is the unit of rollout.</a:t>
            </a:r>
            <a:endParaRPr lang="en-US" sz="2600" dirty="0"/>
          </a:p>
        </p:txBody>
      </p:sp>
      <p:sp>
        <p:nvSpPr>
          <p:cNvPr id="4" name="Shape 2"/>
          <p:cNvSpPr/>
          <p:nvPr/>
        </p:nvSpPr>
        <p:spPr>
          <a:xfrm>
            <a:off x="548640" y="1600200"/>
            <a:ext cx="2194560" cy="1417320"/>
          </a:xfrm>
          <a:prstGeom prst="rect">
            <a:avLst/>
          </a:prstGeom>
          <a:solidFill>
            <a:srgbClr val="F0EEE6"/>
          </a:solidFill>
          <a:ln w="9525">
            <a:solidFill>
              <a:srgbClr val="D4A27F"/>
            </a:solidFill>
            <a:prstDash val="solid"/>
          </a:ln>
        </p:spPr>
      </p:sp>
      <p:sp>
        <p:nvSpPr>
          <p:cNvPr id="5" name="Text 3"/>
          <p:cNvSpPr/>
          <p:nvPr/>
        </p:nvSpPr>
        <p:spPr>
          <a:xfrm>
            <a:off x="731520" y="1746504"/>
            <a:ext cx="1828800" cy="292608"/>
          </a:xfrm>
          <a:prstGeom prst="rect">
            <a:avLst/>
          </a:prstGeom>
          <a:noFill/>
          <a:ln/>
        </p:spPr>
        <p:txBody>
          <a:bodyPr wrap="square" lIns="0" tIns="0" rIns="0" bIns="0" rtlCol="0" anchor="ctr"/>
          <a:lstStyle/>
          <a:p>
            <a:pPr indent="0" marL="0">
              <a:buNone/>
            </a:pPr>
            <a:r>
              <a:rPr lang="en-US" sz="1350" b="1" dirty="0">
                <a:solidFill>
                  <a:srgbClr val="191919"/>
                </a:solidFill>
                <a:latin typeface="Arial" pitchFamily="34" charset="0"/>
                <a:ea typeface="Arial" pitchFamily="34" charset="-122"/>
                <a:cs typeface="Arial" pitchFamily="34" charset="-120"/>
              </a:rPr>
              <a:t>marketplace repo</a:t>
            </a:r>
            <a:endParaRPr lang="en-US" sz="1350" dirty="0"/>
          </a:p>
        </p:txBody>
      </p:sp>
      <p:sp>
        <p:nvSpPr>
          <p:cNvPr id="6" name="Text 4"/>
          <p:cNvSpPr/>
          <p:nvPr/>
        </p:nvSpPr>
        <p:spPr>
          <a:xfrm>
            <a:off x="731520" y="2103120"/>
            <a:ext cx="182880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.claude-plugin/</a:t>
            </a:r>
            <a:endParaRPr lang="en-US" sz="1050" dirty="0"/>
          </a:p>
          <a:p>
            <a:pPr indent="0" marL="0">
              <a:buNone/>
            </a:pPr>
            <a:r>
              <a:rPr lang="en-US" sz="1050" dirty="0">
                <a:solidFill>
                  <a:srgbClr val="6B6B66"/>
                </a:solidFill>
                <a:latin typeface="Consolas" pitchFamily="34" charset="0"/>
                <a:ea typeface="Consolas" pitchFamily="34" charset="-122"/>
                <a:cs typeface="Consolas" pitchFamily="34" charset="-120"/>
              </a:rPr>
              <a:t>marketplace.json</a:t>
            </a:r>
            <a:endParaRPr lang="en-US" sz="1050" dirty="0"/>
          </a:p>
        </p:txBody>
      </p:sp>
      <p:sp>
        <p:nvSpPr>
          <p:cNvPr id="7" name="Text 5"/>
          <p:cNvSpPr/>
          <p:nvPr/>
        </p:nvSpPr>
        <p:spPr>
          <a:xfrm>
            <a:off x="2862072" y="2080260"/>
            <a:ext cx="402336"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3383280" y="1600200"/>
            <a:ext cx="2194560" cy="1417320"/>
          </a:xfrm>
          <a:prstGeom prst="rect">
            <a:avLst/>
          </a:prstGeom>
          <a:solidFill>
            <a:srgbClr val="F0EEE6"/>
          </a:solidFill>
          <a:ln w="15875">
            <a:solidFill>
              <a:srgbClr val="CC785C"/>
            </a:solidFill>
            <a:prstDash val="solid"/>
          </a:ln>
        </p:spPr>
      </p:sp>
      <p:sp>
        <p:nvSpPr>
          <p:cNvPr id="9" name="Text 7"/>
          <p:cNvSpPr/>
          <p:nvPr/>
        </p:nvSpPr>
        <p:spPr>
          <a:xfrm>
            <a:off x="3566160" y="1746504"/>
            <a:ext cx="1828800" cy="292608"/>
          </a:xfrm>
          <a:prstGeom prst="rect">
            <a:avLst/>
          </a:prstGeom>
          <a:noFill/>
          <a:ln/>
        </p:spPr>
        <p:txBody>
          <a:bodyPr wrap="square" lIns="0" tIns="0" rIns="0" bIns="0" rtlCol="0" anchor="ctr"/>
          <a:lstStyle/>
          <a:p>
            <a:pPr indent="0" marL="0">
              <a:buNone/>
            </a:pPr>
            <a:r>
              <a:rPr lang="en-US" sz="1350" b="1" dirty="0">
                <a:solidFill>
                  <a:srgbClr val="191919"/>
                </a:solidFill>
                <a:latin typeface="Arial" pitchFamily="34" charset="0"/>
                <a:ea typeface="Arial" pitchFamily="34" charset="-122"/>
                <a:cs typeface="Arial" pitchFamily="34" charset="-120"/>
              </a:rPr>
              <a:t>plugin</a:t>
            </a:r>
            <a:endParaRPr lang="en-US" sz="1350" dirty="0"/>
          </a:p>
        </p:txBody>
      </p:sp>
      <p:sp>
        <p:nvSpPr>
          <p:cNvPr id="10" name="Text 8"/>
          <p:cNvSpPr/>
          <p:nvPr/>
        </p:nvSpPr>
        <p:spPr>
          <a:xfrm>
            <a:off x="3566160" y="2103120"/>
            <a:ext cx="182880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manifest</a:t>
            </a:r>
            <a:endParaRPr lang="en-US" sz="1050" dirty="0"/>
          </a:p>
          <a:p>
            <a:pPr indent="0" marL="0">
              <a:buNone/>
            </a:pPr>
            <a:r>
              <a:rPr lang="en-US" sz="1050" dirty="0">
                <a:solidFill>
                  <a:srgbClr val="6B6B66"/>
                </a:solidFill>
                <a:latin typeface="Consolas" pitchFamily="34" charset="0"/>
                <a:ea typeface="Consolas" pitchFamily="34" charset="-122"/>
                <a:cs typeface="Consolas" pitchFamily="34" charset="-120"/>
              </a:rPr>
              <a:t>skills/  agents/  hooks/</a:t>
            </a:r>
            <a:endParaRPr lang="en-US" sz="1050" dirty="0"/>
          </a:p>
        </p:txBody>
      </p:sp>
      <p:sp>
        <p:nvSpPr>
          <p:cNvPr id="11" name="Text 9"/>
          <p:cNvSpPr/>
          <p:nvPr/>
        </p:nvSpPr>
        <p:spPr>
          <a:xfrm>
            <a:off x="5696712" y="2080260"/>
            <a:ext cx="402336"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6217920" y="1600200"/>
            <a:ext cx="2194560" cy="1417320"/>
          </a:xfrm>
          <a:prstGeom prst="rect">
            <a:avLst/>
          </a:prstGeom>
          <a:solidFill>
            <a:srgbClr val="F0EEE6"/>
          </a:solidFill>
          <a:ln w="9525">
            <a:solidFill>
              <a:srgbClr val="D4A27F"/>
            </a:solidFill>
            <a:prstDash val="solid"/>
          </a:ln>
        </p:spPr>
      </p:sp>
      <p:sp>
        <p:nvSpPr>
          <p:cNvPr id="13" name="Text 11"/>
          <p:cNvSpPr/>
          <p:nvPr/>
        </p:nvSpPr>
        <p:spPr>
          <a:xfrm>
            <a:off x="6400800" y="1746504"/>
            <a:ext cx="1828800" cy="292608"/>
          </a:xfrm>
          <a:prstGeom prst="rect">
            <a:avLst/>
          </a:prstGeom>
          <a:noFill/>
          <a:ln/>
        </p:spPr>
        <p:txBody>
          <a:bodyPr wrap="square" lIns="0" tIns="0" rIns="0" bIns="0" rtlCol="0" anchor="ctr"/>
          <a:lstStyle/>
          <a:p>
            <a:pPr indent="0" marL="0">
              <a:buNone/>
            </a:pPr>
            <a:r>
              <a:rPr lang="en-US" sz="1350" b="1" dirty="0">
                <a:solidFill>
                  <a:srgbClr val="191919"/>
                </a:solidFill>
                <a:latin typeface="Arial" pitchFamily="34" charset="0"/>
                <a:ea typeface="Arial" pitchFamily="34" charset="-122"/>
                <a:cs typeface="Arial" pitchFamily="34" charset="-120"/>
              </a:rPr>
              <a:t>engineer's machine</a:t>
            </a:r>
            <a:endParaRPr lang="en-US" sz="1350" dirty="0"/>
          </a:p>
        </p:txBody>
      </p:sp>
      <p:sp>
        <p:nvSpPr>
          <p:cNvPr id="14" name="Text 12"/>
          <p:cNvSpPr/>
          <p:nvPr/>
        </p:nvSpPr>
        <p:spPr>
          <a:xfrm>
            <a:off x="6400800" y="2103120"/>
            <a:ext cx="182880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installed, version-pinned,</a:t>
            </a:r>
            <a:endParaRPr lang="en-US" sz="1050" dirty="0"/>
          </a:p>
          <a:p>
            <a:pPr indent="0" marL="0">
              <a:buNone/>
            </a:pPr>
            <a:r>
              <a:rPr lang="en-US" sz="1050" dirty="0">
                <a:solidFill>
                  <a:srgbClr val="6B6B66"/>
                </a:solidFill>
                <a:latin typeface="Consolas" pitchFamily="34" charset="0"/>
                <a:ea typeface="Consolas" pitchFamily="34" charset="-122"/>
                <a:cs typeface="Consolas" pitchFamily="34" charset="-120"/>
              </a:rPr>
              <a:t>namespaced</a:t>
            </a:r>
            <a:endParaRPr lang="en-US" sz="1050" dirty="0"/>
          </a:p>
        </p:txBody>
      </p:sp>
      <p:sp>
        <p:nvSpPr>
          <p:cNvPr id="15" name="Shape 13"/>
          <p:cNvSpPr/>
          <p:nvPr/>
        </p:nvSpPr>
        <p:spPr>
          <a:xfrm>
            <a:off x="548640" y="3383280"/>
            <a:ext cx="8046720" cy="868680"/>
          </a:xfrm>
          <a:prstGeom prst="rect">
            <a:avLst/>
          </a:prstGeom>
          <a:solidFill>
            <a:srgbClr val="F0EEE6"/>
          </a:solidFill>
          <a:ln/>
        </p:spPr>
      </p:sp>
      <p:sp>
        <p:nvSpPr>
          <p:cNvPr id="16" name="Text 14"/>
          <p:cNvSpPr/>
          <p:nvPr/>
        </p:nvSpPr>
        <p:spPr>
          <a:xfrm>
            <a:off x="822960" y="3493008"/>
            <a:ext cx="7498080" cy="658368"/>
          </a:xfrm>
          <a:prstGeom prst="rect">
            <a:avLst/>
          </a:prstGeom>
          <a:noFill/>
          <a:ln/>
        </p:spPr>
        <p:txBody>
          <a:bodyPr wrap="square" lIns="0" tIns="0" rIns="0" bIns="0" rtlCol="0" anchor="t"/>
          <a:lstStyle/>
          <a:p>
            <a:pPr indent="0" marL="0">
              <a:spcAft>
                <a:spcPts val="400"/>
              </a:spcAft>
              <a:buNone/>
            </a:pPr>
            <a:r>
              <a:rPr lang="en-US" sz="1250" dirty="0">
                <a:solidFill>
                  <a:srgbClr val="191919"/>
                </a:solidFill>
                <a:latin typeface="Consolas" pitchFamily="34" charset="0"/>
                <a:ea typeface="Consolas" pitchFamily="34" charset="-122"/>
                <a:cs typeface="Consolas" pitchFamily="34" charset="-120"/>
              </a:rPr>
              <a:t>/plugin marketplace add owner/repo</a:t>
            </a:r>
            <a:endParaRPr lang="en-US" sz="1250" dirty="0"/>
          </a:p>
          <a:p>
            <a:pPr indent="0" marL="0">
              <a:spcAft>
                <a:spcPts val="400"/>
              </a:spcAft>
              <a:buNone/>
            </a:pPr>
            <a:r>
              <a:rPr lang="en-US" sz="1250" dirty="0">
                <a:solidFill>
                  <a:srgbClr val="191919"/>
                </a:solidFill>
                <a:latin typeface="Consolas" pitchFamily="34" charset="0"/>
                <a:ea typeface="Consolas" pitchFamily="34" charset="-122"/>
                <a:cs typeface="Consolas" pitchFamily="34" charset="-120"/>
              </a:rPr>
              <a:t>/plugin install data-platform-pack@platform-tools</a:t>
            </a:r>
            <a:endParaRPr lang="en-US" sz="1250" dirty="0"/>
          </a:p>
        </p:txBody>
      </p:sp>
      <p:sp>
        <p:nvSpPr>
          <p:cNvPr id="17" name="Text 15"/>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1005840"/>
          </a:xfrm>
          <a:prstGeom prst="rect">
            <a:avLst/>
          </a:prstGeom>
          <a:noFill/>
          <a:ln/>
        </p:spPr>
        <p:txBody>
          <a:bodyPr wrap="square" lIns="0" tIns="0" rIns="0" bIns="0" rtlCol="0" anchor="t"/>
          <a:lstStyle/>
          <a:p>
            <a:pPr algn="l" indent="0" marL="0">
              <a:buNone/>
            </a:pPr>
            <a:r>
              <a:rPr lang="en-US" sz="2400" dirty="0">
                <a:solidFill>
                  <a:srgbClr val="191919"/>
                </a:solidFill>
                <a:latin typeface="Georgia" pitchFamily="34" charset="0"/>
                <a:ea typeface="Georgia" pitchFamily="34" charset="-122"/>
                <a:cs typeface="Georgia" pitchFamily="34" charset="-120"/>
              </a:rPr>
              <a:t>Principle 2. An instruction can be ignored.</a:t>
            </a:r>
            <a:endParaRPr lang="en-US" sz="2400" dirty="0"/>
          </a:p>
          <a:p>
            <a:pPr algn="l" indent="0" marL="0">
              <a:buNone/>
            </a:pPr>
            <a:r>
              <a:rPr lang="en-US" sz="2400" dirty="0">
                <a:solidFill>
                  <a:srgbClr val="191919"/>
                </a:solidFill>
                <a:latin typeface="Georgia" pitchFamily="34" charset="0"/>
                <a:ea typeface="Georgia" pitchFamily="34" charset="-122"/>
                <a:cs typeface="Georgia" pitchFamily="34" charset="-120"/>
              </a:rPr>
              <a:t>A process gate can't.</a:t>
            </a:r>
            <a:endParaRPr lang="en-US" sz="2400" dirty="0"/>
          </a:p>
        </p:txBody>
      </p:sp>
      <p:sp>
        <p:nvSpPr>
          <p:cNvPr id="4" name="Shape 2"/>
          <p:cNvSpPr/>
          <p:nvPr/>
        </p:nvSpPr>
        <p:spPr>
          <a:xfrm>
            <a:off x="548640" y="2103120"/>
            <a:ext cx="1737360" cy="685800"/>
          </a:xfrm>
          <a:prstGeom prst="rect">
            <a:avLst/>
          </a:prstGeom>
          <a:solidFill>
            <a:srgbClr val="F0EEE6"/>
          </a:solidFill>
          <a:ln/>
        </p:spPr>
      </p:sp>
      <p:sp>
        <p:nvSpPr>
          <p:cNvPr id="5" name="Text 3"/>
          <p:cNvSpPr/>
          <p:nvPr/>
        </p:nvSpPr>
        <p:spPr>
          <a:xfrm>
            <a:off x="548640" y="2103120"/>
            <a:ext cx="1737360" cy="68580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tool call</a:t>
            </a:r>
            <a:endParaRPr lang="en-US" sz="1200" dirty="0"/>
          </a:p>
        </p:txBody>
      </p:sp>
      <p:sp>
        <p:nvSpPr>
          <p:cNvPr id="6" name="Shape 4"/>
          <p:cNvSpPr/>
          <p:nvPr/>
        </p:nvSpPr>
        <p:spPr>
          <a:xfrm>
            <a:off x="2286000" y="2446020"/>
            <a:ext cx="594360" cy="0"/>
          </a:xfrm>
          <a:prstGeom prst="line">
            <a:avLst/>
          </a:prstGeom>
          <a:noFill/>
          <a:ln w="19050">
            <a:solidFill>
              <a:srgbClr val="CC785C"/>
            </a:solidFill>
            <a:prstDash val="solid"/>
            <a:tailEnd type="triangle"/>
          </a:ln>
        </p:spPr>
      </p:sp>
      <p:sp>
        <p:nvSpPr>
          <p:cNvPr id="7" name="Shape 5"/>
          <p:cNvSpPr/>
          <p:nvPr/>
        </p:nvSpPr>
        <p:spPr>
          <a:xfrm>
            <a:off x="2880360" y="2103120"/>
            <a:ext cx="1737360" cy="685800"/>
          </a:xfrm>
          <a:prstGeom prst="rect">
            <a:avLst/>
          </a:prstGeom>
          <a:solidFill>
            <a:srgbClr val="F0EEE6"/>
          </a:solidFill>
          <a:ln w="12700">
            <a:solidFill>
              <a:srgbClr val="D4A27F"/>
            </a:solidFill>
            <a:prstDash val="solid"/>
          </a:ln>
        </p:spPr>
      </p:sp>
      <p:sp>
        <p:nvSpPr>
          <p:cNvPr id="8" name="Text 6"/>
          <p:cNvSpPr/>
          <p:nvPr/>
        </p:nvSpPr>
        <p:spPr>
          <a:xfrm>
            <a:off x="2880360" y="2103120"/>
            <a:ext cx="1737360" cy="68580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guard.js</a:t>
            </a:r>
            <a:endParaRPr lang="en-US" sz="1200" dirty="0"/>
          </a:p>
        </p:txBody>
      </p:sp>
      <p:sp>
        <p:nvSpPr>
          <p:cNvPr id="9" name="Shape 7"/>
          <p:cNvSpPr/>
          <p:nvPr/>
        </p:nvSpPr>
        <p:spPr>
          <a:xfrm flipV="1">
            <a:off x="4617720" y="1668780"/>
            <a:ext cx="777240" cy="777240"/>
          </a:xfrm>
          <a:prstGeom prst="line">
            <a:avLst/>
          </a:prstGeom>
          <a:noFill/>
          <a:ln w="12700">
            <a:solidFill>
              <a:srgbClr val="6B6B66"/>
            </a:solidFill>
            <a:prstDash val="solid"/>
            <a:tailEnd type="triangle"/>
          </a:ln>
        </p:spPr>
      </p:sp>
      <p:sp>
        <p:nvSpPr>
          <p:cNvPr id="10" name="Shape 8"/>
          <p:cNvSpPr/>
          <p:nvPr/>
        </p:nvSpPr>
        <p:spPr>
          <a:xfrm>
            <a:off x="5394960" y="1394460"/>
            <a:ext cx="1417320" cy="548640"/>
          </a:xfrm>
          <a:prstGeom prst="rect">
            <a:avLst/>
          </a:prstGeom>
          <a:solidFill>
            <a:srgbClr val="F0EEE6"/>
          </a:solidFill>
          <a:ln/>
        </p:spPr>
      </p:sp>
      <p:sp>
        <p:nvSpPr>
          <p:cNvPr id="11" name="Text 9"/>
          <p:cNvSpPr/>
          <p:nvPr/>
        </p:nvSpPr>
        <p:spPr>
          <a:xfrm>
            <a:off x="5394960" y="1394460"/>
            <a:ext cx="1417320" cy="54864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allow</a:t>
            </a:r>
            <a:endParaRPr lang="en-US" sz="1200" dirty="0"/>
          </a:p>
        </p:txBody>
      </p:sp>
      <p:sp>
        <p:nvSpPr>
          <p:cNvPr id="12" name="Shape 10"/>
          <p:cNvSpPr/>
          <p:nvPr/>
        </p:nvSpPr>
        <p:spPr>
          <a:xfrm>
            <a:off x="4617720" y="2446020"/>
            <a:ext cx="777240" cy="914"/>
          </a:xfrm>
          <a:prstGeom prst="line">
            <a:avLst/>
          </a:prstGeom>
          <a:noFill/>
          <a:ln w="12700">
            <a:solidFill>
              <a:srgbClr val="6B6B66"/>
            </a:solidFill>
            <a:prstDash val="solid"/>
            <a:tailEnd type="triangle"/>
          </a:ln>
        </p:spPr>
      </p:sp>
      <p:sp>
        <p:nvSpPr>
          <p:cNvPr id="13" name="Shape 11"/>
          <p:cNvSpPr/>
          <p:nvPr/>
        </p:nvSpPr>
        <p:spPr>
          <a:xfrm>
            <a:off x="5394960" y="2171700"/>
            <a:ext cx="1417320" cy="548640"/>
          </a:xfrm>
          <a:prstGeom prst="rect">
            <a:avLst/>
          </a:prstGeom>
          <a:solidFill>
            <a:srgbClr val="F0EEE6"/>
          </a:solidFill>
          <a:ln/>
        </p:spPr>
      </p:sp>
      <p:sp>
        <p:nvSpPr>
          <p:cNvPr id="14" name="Text 12"/>
          <p:cNvSpPr/>
          <p:nvPr/>
        </p:nvSpPr>
        <p:spPr>
          <a:xfrm>
            <a:off x="5394960" y="2171700"/>
            <a:ext cx="1417320" cy="54864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ask</a:t>
            </a:r>
            <a:endParaRPr lang="en-US" sz="1200" dirty="0"/>
          </a:p>
        </p:txBody>
      </p:sp>
      <p:sp>
        <p:nvSpPr>
          <p:cNvPr id="15" name="Shape 13"/>
          <p:cNvSpPr/>
          <p:nvPr/>
        </p:nvSpPr>
        <p:spPr>
          <a:xfrm>
            <a:off x="4617720" y="2446020"/>
            <a:ext cx="777240" cy="777240"/>
          </a:xfrm>
          <a:prstGeom prst="line">
            <a:avLst/>
          </a:prstGeom>
          <a:noFill/>
          <a:ln w="12700">
            <a:solidFill>
              <a:srgbClr val="6B6B66"/>
            </a:solidFill>
            <a:prstDash val="solid"/>
            <a:tailEnd type="triangle"/>
          </a:ln>
        </p:spPr>
      </p:sp>
      <p:sp>
        <p:nvSpPr>
          <p:cNvPr id="16" name="Shape 14"/>
          <p:cNvSpPr/>
          <p:nvPr/>
        </p:nvSpPr>
        <p:spPr>
          <a:xfrm>
            <a:off x="5394960" y="2948940"/>
            <a:ext cx="1417320" cy="548640"/>
          </a:xfrm>
          <a:prstGeom prst="rect">
            <a:avLst/>
          </a:prstGeom>
          <a:solidFill>
            <a:srgbClr val="FAF9F5"/>
          </a:solidFill>
          <a:ln w="15875">
            <a:solidFill>
              <a:srgbClr val="CC785C"/>
            </a:solidFill>
            <a:prstDash val="solid"/>
          </a:ln>
        </p:spPr>
      </p:sp>
      <p:sp>
        <p:nvSpPr>
          <p:cNvPr id="17" name="Text 15"/>
          <p:cNvSpPr/>
          <p:nvPr/>
        </p:nvSpPr>
        <p:spPr>
          <a:xfrm>
            <a:off x="5394960" y="2948940"/>
            <a:ext cx="1417320" cy="548640"/>
          </a:xfrm>
          <a:prstGeom prst="rect">
            <a:avLst/>
          </a:prstGeom>
          <a:noFill/>
          <a:ln/>
        </p:spPr>
        <p:txBody>
          <a:bodyPr wrap="square" lIns="0" tIns="0" rIns="0" bIns="0" rtlCol="0" anchor="ctr"/>
          <a:lstStyle/>
          <a:p>
            <a:pPr algn="ctr" indent="0" marL="0">
              <a:buNone/>
            </a:pPr>
            <a:r>
              <a:rPr lang="en-US" sz="1200" dirty="0">
                <a:solidFill>
                  <a:srgbClr val="CC785C"/>
                </a:solidFill>
                <a:latin typeface="Consolas" pitchFamily="34" charset="0"/>
                <a:ea typeface="Consolas" pitchFamily="34" charset="-122"/>
                <a:cs typeface="Consolas" pitchFamily="34" charset="-120"/>
              </a:rPr>
              <a:t>deny</a:t>
            </a:r>
            <a:endParaRPr lang="en-US" sz="1200" dirty="0"/>
          </a:p>
        </p:txBody>
      </p:sp>
      <p:sp>
        <p:nvSpPr>
          <p:cNvPr id="18" name="Text 16"/>
          <p:cNvSpPr/>
          <p:nvPr/>
        </p:nvSpPr>
        <p:spPr>
          <a:xfrm>
            <a:off x="548640" y="3886200"/>
            <a:ext cx="5852160" cy="77724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The decision is a regex match against policy.json, not a model choice. Same input, same block, every run. Denials and executions land side by side in the audit trail.</a:t>
            </a:r>
            <a:endParaRPr lang="en-US" sz="1250" dirty="0"/>
          </a:p>
        </p:txBody>
      </p:sp>
      <p:sp>
        <p:nvSpPr>
          <p:cNvPr id="19" name="Text 17"/>
          <p:cNvSpPr/>
          <p:nvPr/>
        </p:nvSpPr>
        <p:spPr>
          <a:xfrm>
            <a:off x="6629400" y="3886200"/>
            <a:ext cx="196596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guard.js: 158 lines, tested offline, zero tokens.</a:t>
            </a:r>
            <a:endParaRPr lang="en-US" sz="1050" dirty="0"/>
          </a:p>
        </p:txBody>
      </p:sp>
      <p:sp>
        <p:nvSpPr>
          <p:cNvPr id="20" name="Text 18"/>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Principle 3. Policy ships like software.</a:t>
            </a:r>
            <a:endParaRPr lang="en-US" sz="2600" dirty="0"/>
          </a:p>
        </p:txBody>
      </p:sp>
      <p:sp>
        <p:nvSpPr>
          <p:cNvPr id="4" name="Shape 2"/>
          <p:cNvSpPr/>
          <p:nvPr/>
        </p:nvSpPr>
        <p:spPr>
          <a:xfrm>
            <a:off x="548640" y="1554480"/>
            <a:ext cx="1847088" cy="1828800"/>
          </a:xfrm>
          <a:prstGeom prst="rect">
            <a:avLst/>
          </a:prstGeom>
          <a:solidFill>
            <a:srgbClr val="F0EEE6"/>
          </a:solidFill>
          <a:ln/>
        </p:spPr>
      </p:sp>
      <p:sp>
        <p:nvSpPr>
          <p:cNvPr id="5" name="Text 3"/>
          <p:cNvSpPr/>
          <p:nvPr/>
        </p:nvSpPr>
        <p:spPr>
          <a:xfrm>
            <a:off x="731520"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731520"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Edit policy.json</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The rules are reviewable config, not prompt text.</a:t>
            </a:r>
            <a:endParaRPr lang="en-US" sz="1300" dirty="0"/>
          </a:p>
        </p:txBody>
      </p:sp>
      <p:sp>
        <p:nvSpPr>
          <p:cNvPr id="7" name="Shape 5"/>
          <p:cNvSpPr/>
          <p:nvPr/>
        </p:nvSpPr>
        <p:spPr>
          <a:xfrm>
            <a:off x="2615184" y="1554480"/>
            <a:ext cx="1847088" cy="1828800"/>
          </a:xfrm>
          <a:prstGeom prst="rect">
            <a:avLst/>
          </a:prstGeom>
          <a:solidFill>
            <a:srgbClr val="F0EEE6"/>
          </a:solidFill>
          <a:ln/>
        </p:spPr>
      </p:sp>
      <p:sp>
        <p:nvSpPr>
          <p:cNvPr id="8" name="Text 6"/>
          <p:cNvSpPr/>
          <p:nvPr/>
        </p:nvSpPr>
        <p:spPr>
          <a:xfrm>
            <a:off x="2798064"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2</a:t>
            </a:r>
            <a:endParaRPr lang="en-US" sz="2000" dirty="0"/>
          </a:p>
        </p:txBody>
      </p:sp>
      <p:sp>
        <p:nvSpPr>
          <p:cNvPr id="9" name="Text 7"/>
          <p:cNvSpPr/>
          <p:nvPr/>
        </p:nvSpPr>
        <p:spPr>
          <a:xfrm>
            <a:off x="2798064"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Prove it offline</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try.js gives an instant decision. The 22-check harness guards regressions.</a:t>
            </a:r>
            <a:endParaRPr lang="en-US" sz="1300" dirty="0"/>
          </a:p>
        </p:txBody>
      </p:sp>
      <p:sp>
        <p:nvSpPr>
          <p:cNvPr id="10" name="Shape 8"/>
          <p:cNvSpPr/>
          <p:nvPr/>
        </p:nvSpPr>
        <p:spPr>
          <a:xfrm>
            <a:off x="4681728" y="1554480"/>
            <a:ext cx="1847088" cy="1828800"/>
          </a:xfrm>
          <a:prstGeom prst="rect">
            <a:avLst/>
          </a:prstGeom>
          <a:solidFill>
            <a:srgbClr val="F0EEE6"/>
          </a:solidFill>
          <a:ln/>
        </p:spPr>
      </p:sp>
      <p:sp>
        <p:nvSpPr>
          <p:cNvPr id="11" name="Text 9"/>
          <p:cNvSpPr/>
          <p:nvPr/>
        </p:nvSpPr>
        <p:spPr>
          <a:xfrm>
            <a:off x="4864608"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3</a:t>
            </a:r>
            <a:endParaRPr lang="en-US" sz="2000" dirty="0"/>
          </a:p>
        </p:txBody>
      </p:sp>
      <p:sp>
        <p:nvSpPr>
          <p:cNvPr id="12" name="Text 10"/>
          <p:cNvSpPr/>
          <p:nvPr/>
        </p:nvSpPr>
        <p:spPr>
          <a:xfrm>
            <a:off x="4864608"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Bump the version</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1.0.0 to 1.0.1 in plugin.json. Push. PR review as usual.</a:t>
            </a:r>
            <a:endParaRPr lang="en-US" sz="1300" dirty="0"/>
          </a:p>
        </p:txBody>
      </p:sp>
      <p:sp>
        <p:nvSpPr>
          <p:cNvPr id="13" name="Shape 11"/>
          <p:cNvSpPr/>
          <p:nvPr/>
        </p:nvSpPr>
        <p:spPr>
          <a:xfrm>
            <a:off x="6748272" y="1554480"/>
            <a:ext cx="1847088" cy="1828800"/>
          </a:xfrm>
          <a:prstGeom prst="rect">
            <a:avLst/>
          </a:prstGeom>
          <a:solidFill>
            <a:srgbClr val="F0EEE6"/>
          </a:solidFill>
          <a:ln/>
        </p:spPr>
      </p:sp>
      <p:sp>
        <p:nvSpPr>
          <p:cNvPr id="14" name="Text 12"/>
          <p:cNvSpPr/>
          <p:nvPr/>
        </p:nvSpPr>
        <p:spPr>
          <a:xfrm>
            <a:off x="6931152"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4</a:t>
            </a:r>
            <a:endParaRPr lang="en-US" sz="2000" dirty="0"/>
          </a:p>
        </p:txBody>
      </p:sp>
      <p:sp>
        <p:nvSpPr>
          <p:cNvPr id="15" name="Text 13"/>
          <p:cNvSpPr/>
          <p:nvPr/>
        </p:nvSpPr>
        <p:spPr>
          <a:xfrm>
            <a:off x="6931152"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Update the fleet</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One command per engineer, or managed settings do it for them.</a:t>
            </a:r>
            <a:endParaRPr lang="en-US" sz="1300" dirty="0"/>
          </a:p>
        </p:txBody>
      </p:sp>
      <p:sp>
        <p:nvSpPr>
          <p:cNvPr id="16" name="Text 14"/>
          <p:cNvSpPr/>
          <p:nvPr/>
        </p:nvSpPr>
        <p:spPr>
          <a:xfrm>
            <a:off x="548640" y="3703320"/>
            <a:ext cx="7315200" cy="411480"/>
          </a:xfrm>
          <a:prstGeom prst="rect">
            <a:avLst/>
          </a:prstGeom>
          <a:noFill/>
          <a:ln/>
        </p:spPr>
        <p:txBody>
          <a:bodyPr wrap="square" lIns="0" tIns="0" rIns="0" bIns="0" rtlCol="0" anchor="ctr"/>
          <a:lstStyle/>
          <a:p>
            <a:pPr indent="0" marL="0">
              <a:buNone/>
            </a:pPr>
            <a:r>
              <a:rPr lang="en-US" sz="1600" dirty="0">
                <a:solidFill>
                  <a:srgbClr val="191919"/>
                </a:solidFill>
                <a:latin typeface="Georgia" pitchFamily="34" charset="0"/>
                <a:ea typeface="Georgia" pitchFamily="34" charset="-122"/>
                <a:cs typeface="Georgia" pitchFamily="34" charset="-120"/>
              </a:rPr>
              <a:t>One PR updates every engineer's agent.</a:t>
            </a:r>
            <a:endParaRPr lang="en-US" sz="1600" dirty="0"/>
          </a:p>
        </p:txBody>
      </p:sp>
      <p:sp>
        <p:nvSpPr>
          <p:cNvPr id="17" name="Text 15"/>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The 4-beat demo. Minutes 8 to 20.</a:t>
            </a:r>
            <a:endParaRPr lang="en-US" sz="2600" dirty="0"/>
          </a:p>
        </p:txBody>
      </p:sp>
      <p:sp>
        <p:nvSpPr>
          <p:cNvPr id="4" name="Shape 2"/>
          <p:cNvSpPr/>
          <p:nvPr/>
        </p:nvSpPr>
        <p:spPr>
          <a:xfrm>
            <a:off x="548640" y="1417320"/>
            <a:ext cx="3886200" cy="1417320"/>
          </a:xfrm>
          <a:prstGeom prst="rect">
            <a:avLst/>
          </a:prstGeom>
          <a:solidFill>
            <a:srgbClr val="F0EEE6"/>
          </a:solidFill>
          <a:ln/>
        </p:spPr>
      </p:sp>
      <p:sp>
        <p:nvSpPr>
          <p:cNvPr id="5" name="Text 3"/>
          <p:cNvSpPr/>
          <p:nvPr/>
        </p:nvSpPr>
        <p:spPr>
          <a:xfrm>
            <a:off x="804672" y="161848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Install</a:t>
            </a:r>
            <a:endParaRPr lang="en-US" sz="1700" dirty="0"/>
          </a:p>
        </p:txBody>
      </p:sp>
      <p:sp>
        <p:nvSpPr>
          <p:cNvPr id="6" name="Text 4"/>
          <p:cNvSpPr/>
          <p:nvPr/>
        </p:nvSpPr>
        <p:spPr>
          <a:xfrm>
            <a:off x="804672" y="203911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One command, ninety seconds.</a:t>
            </a:r>
            <a:endParaRPr lang="en-US" sz="1250" dirty="0"/>
          </a:p>
        </p:txBody>
      </p:sp>
      <p:sp>
        <p:nvSpPr>
          <p:cNvPr id="7" name="Shape 5"/>
          <p:cNvSpPr/>
          <p:nvPr/>
        </p:nvSpPr>
        <p:spPr>
          <a:xfrm>
            <a:off x="4709160" y="1417320"/>
            <a:ext cx="3886200" cy="1417320"/>
          </a:xfrm>
          <a:prstGeom prst="rect">
            <a:avLst/>
          </a:prstGeom>
          <a:solidFill>
            <a:srgbClr val="F0EEE6"/>
          </a:solidFill>
          <a:ln/>
        </p:spPr>
      </p:sp>
      <p:sp>
        <p:nvSpPr>
          <p:cNvPr id="8" name="Text 6"/>
          <p:cNvSpPr/>
          <p:nvPr/>
        </p:nvSpPr>
        <p:spPr>
          <a:xfrm>
            <a:off x="4965192" y="161848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Use</a:t>
            </a:r>
            <a:endParaRPr lang="en-US" sz="1700" dirty="0"/>
          </a:p>
        </p:txBody>
      </p:sp>
      <p:sp>
        <p:nvSpPr>
          <p:cNvPr id="9" name="Text 7"/>
          <p:cNvSpPr/>
          <p:nvPr/>
        </p:nvSpPr>
        <p:spPr>
          <a:xfrm>
            <a:off x="4965192" y="203911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Their conventions, applied by their reviewer.</a:t>
            </a:r>
            <a:endParaRPr lang="en-US" sz="1250" dirty="0"/>
          </a:p>
        </p:txBody>
      </p:sp>
      <p:sp>
        <p:nvSpPr>
          <p:cNvPr id="10" name="Shape 8"/>
          <p:cNvSpPr/>
          <p:nvPr/>
        </p:nvSpPr>
        <p:spPr>
          <a:xfrm>
            <a:off x="548640" y="3063240"/>
            <a:ext cx="3886200" cy="1417320"/>
          </a:xfrm>
          <a:prstGeom prst="rect">
            <a:avLst/>
          </a:prstGeom>
          <a:solidFill>
            <a:srgbClr val="F0EEE6"/>
          </a:solidFill>
          <a:ln/>
        </p:spPr>
      </p:sp>
      <p:sp>
        <p:nvSpPr>
          <p:cNvPr id="11" name="Text 9"/>
          <p:cNvSpPr/>
          <p:nvPr/>
        </p:nvSpPr>
        <p:spPr>
          <a:xfrm>
            <a:off x="804672" y="326440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Govern</a:t>
            </a:r>
            <a:endParaRPr lang="en-US" sz="1700" dirty="0"/>
          </a:p>
        </p:txBody>
      </p:sp>
      <p:sp>
        <p:nvSpPr>
          <p:cNvPr id="12" name="Text 10"/>
          <p:cNvSpPr/>
          <p:nvPr/>
        </p:nvSpPr>
        <p:spPr>
          <a:xfrm>
            <a:off x="804672" y="368503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Deny and ask, deterministically, with an audit trail.</a:t>
            </a:r>
            <a:endParaRPr lang="en-US" sz="1250" dirty="0"/>
          </a:p>
        </p:txBody>
      </p:sp>
      <p:sp>
        <p:nvSpPr>
          <p:cNvPr id="13" name="Shape 11"/>
          <p:cNvSpPr/>
          <p:nvPr/>
        </p:nvSpPr>
        <p:spPr>
          <a:xfrm>
            <a:off x="4709160" y="3063240"/>
            <a:ext cx="3886200" cy="1417320"/>
          </a:xfrm>
          <a:prstGeom prst="rect">
            <a:avLst/>
          </a:prstGeom>
          <a:solidFill>
            <a:srgbClr val="F0EEE6"/>
          </a:solidFill>
          <a:ln/>
        </p:spPr>
      </p:sp>
      <p:sp>
        <p:nvSpPr>
          <p:cNvPr id="14" name="Text 12"/>
          <p:cNvSpPr/>
          <p:nvPr/>
        </p:nvSpPr>
        <p:spPr>
          <a:xfrm>
            <a:off x="4965192" y="326440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Ship</a:t>
            </a:r>
            <a:endParaRPr lang="en-US" sz="1700" dirty="0"/>
          </a:p>
        </p:txBody>
      </p:sp>
      <p:sp>
        <p:nvSpPr>
          <p:cNvPr id="15" name="Text 13"/>
          <p:cNvSpPr/>
          <p:nvPr/>
        </p:nvSpPr>
        <p:spPr>
          <a:xfrm>
            <a:off x="4965192" y="368503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One PR updates every engineer's agent.</a:t>
            </a:r>
            <a:endParaRPr lang="en-US" sz="1250" dirty="0"/>
          </a:p>
        </p:txBody>
      </p:sp>
      <p:sp>
        <p:nvSpPr>
          <p:cNvPr id="16" name="Text 14"/>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You leave having done it. Minutes 20 to 26.</a:t>
            </a:r>
            <a:endParaRPr lang="en-US" sz="2600" dirty="0"/>
          </a:p>
        </p:txBody>
      </p:sp>
      <p:sp>
        <p:nvSpPr>
          <p:cNvPr id="4" name="Text 2"/>
          <p:cNvSpPr/>
          <p:nvPr/>
        </p:nvSpPr>
        <p:spPr>
          <a:xfrm>
            <a:off x="548640" y="1463040"/>
            <a:ext cx="4663440" cy="237744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Run the 22-check harness from your own clone</a:t>
            </a:r>
            <a:endParaRPr lang="en-US" sz="1350" dirty="0"/>
          </a:p>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Install the plugin from the local marketplace</a:t>
            </a:r>
            <a:endParaRPr lang="en-US" sz="1350" dirty="0"/>
          </a:p>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Trigger one deny yourself and read the audit line it wrote</a:t>
            </a:r>
            <a:endParaRPr lang="en-US" sz="1350" dirty="0"/>
          </a:p>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Author one policy rule of your own and make the harness pass with it</a:t>
            </a:r>
            <a:endParaRPr lang="en-US" sz="1350" dirty="0"/>
          </a:p>
        </p:txBody>
      </p:sp>
      <p:sp>
        <p:nvSpPr>
          <p:cNvPr id="5" name="Shape 3"/>
          <p:cNvSpPr/>
          <p:nvPr/>
        </p:nvSpPr>
        <p:spPr>
          <a:xfrm>
            <a:off x="5486400" y="1463040"/>
            <a:ext cx="3108960" cy="2286000"/>
          </a:xfrm>
          <a:prstGeom prst="rect">
            <a:avLst/>
          </a:prstGeom>
          <a:solidFill>
            <a:srgbClr val="F0EEE6"/>
          </a:solidFill>
          <a:ln/>
        </p:spPr>
      </p:sp>
      <p:sp>
        <p:nvSpPr>
          <p:cNvPr id="6" name="Text 4"/>
          <p:cNvSpPr/>
          <p:nvPr/>
        </p:nvSpPr>
        <p:spPr>
          <a:xfrm>
            <a:off x="5742432" y="1691640"/>
            <a:ext cx="2596896"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THE BAR FOR LEAVING</a:t>
            </a:r>
            <a:endParaRPr lang="en-US" sz="1050" dirty="0"/>
          </a:p>
        </p:txBody>
      </p:sp>
      <p:sp>
        <p:nvSpPr>
          <p:cNvPr id="7" name="Text 5"/>
          <p:cNvSpPr/>
          <p:nvPr/>
        </p:nvSpPr>
        <p:spPr>
          <a:xfrm>
            <a:off x="5742432" y="2103120"/>
            <a:ext cx="2596896" cy="1463040"/>
          </a:xfrm>
          <a:prstGeom prst="rect">
            <a:avLst/>
          </a:prstGeom>
          <a:noFill/>
          <a:ln/>
        </p:spPr>
        <p:txBody>
          <a:bodyPr wrap="square" lIns="0" tIns="0" rIns="0" bIns="0" rtlCol="0" anchor="t"/>
          <a:lstStyle/>
          <a:p>
            <a:pPr indent="0" marL="0">
              <a:buNone/>
            </a:pPr>
            <a:r>
              <a:rPr lang="en-US" sz="1550" dirty="0">
                <a:solidFill>
                  <a:srgbClr val="191919"/>
                </a:solidFill>
                <a:latin typeface="Georgia" pitchFamily="34" charset="0"/>
                <a:ea typeface="Georgia" pitchFamily="34" charset="-122"/>
                <a:cs typeface="Georgia" pitchFamily="34" charset="-120"/>
              </a:rPr>
              <a:t>Everyone has personally authored a rule and watched it block.</a:t>
            </a:r>
            <a:endParaRPr lang="en-US" sz="1550" dirty="0"/>
          </a:p>
        </p:txBody>
      </p:sp>
      <p:sp>
        <p:nvSpPr>
          <p:cNvPr id="8" name="Text 6"/>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Make it land.</a:t>
            </a:r>
            <a:endParaRPr lang="en-US" sz="2600" dirty="0"/>
          </a:p>
        </p:txBody>
      </p:sp>
      <p:sp>
        <p:nvSpPr>
          <p:cNvPr id="4" name="Text 2"/>
          <p:cNvSpPr/>
          <p:nvPr/>
        </p:nvSpPr>
        <p:spPr>
          <a:xfrm>
            <a:off x="548640" y="1463040"/>
            <a:ext cx="411480" cy="457200"/>
          </a:xfrm>
          <a:prstGeom prst="rect">
            <a:avLst/>
          </a:prstGeom>
          <a:noFill/>
          <a:ln/>
        </p:spPr>
        <p:txBody>
          <a:bodyPr wrap="square" lIns="0" tIns="0" rIns="0" bIns="0" rtlCol="0" anchor="ctr"/>
          <a:lstStyle/>
          <a:p>
            <a:pPr indent="0" marL="0">
              <a:buNone/>
            </a:pPr>
            <a:r>
              <a:rPr lang="en-US" sz="1900" dirty="0">
                <a:solidFill>
                  <a:srgbClr val="CC785C"/>
                </a:solidFill>
                <a:latin typeface="Georgia" pitchFamily="34" charset="0"/>
                <a:ea typeface="Georgia" pitchFamily="34" charset="-122"/>
                <a:cs typeface="Georgia" pitchFamily="34" charset="-120"/>
              </a:rPr>
              <a:t>1</a:t>
            </a:r>
            <a:endParaRPr lang="en-US" sz="1900" dirty="0"/>
          </a:p>
        </p:txBody>
      </p:sp>
      <p:sp>
        <p:nvSpPr>
          <p:cNvPr id="5" name="Text 3"/>
          <p:cNvSpPr/>
          <p:nvPr/>
        </p:nvSpPr>
        <p:spPr>
          <a:xfrm>
            <a:off x="1051560" y="1481328"/>
            <a:ext cx="6858000" cy="45720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Who owns tooling standards</a:t>
            </a:r>
            <a:endParaRPr lang="en-US" sz="1700" dirty="0"/>
          </a:p>
        </p:txBody>
      </p:sp>
      <p:sp>
        <p:nvSpPr>
          <p:cNvPr id="6" name="Shape 4"/>
          <p:cNvSpPr/>
          <p:nvPr/>
        </p:nvSpPr>
        <p:spPr>
          <a:xfrm>
            <a:off x="548640" y="2029968"/>
            <a:ext cx="7589520" cy="0"/>
          </a:xfrm>
          <a:prstGeom prst="line">
            <a:avLst/>
          </a:prstGeom>
          <a:noFill/>
          <a:ln w="19050">
            <a:solidFill>
              <a:srgbClr val="F0EEE6"/>
            </a:solidFill>
            <a:prstDash val="solid"/>
          </a:ln>
        </p:spPr>
      </p:sp>
      <p:sp>
        <p:nvSpPr>
          <p:cNvPr id="7" name="Text 5"/>
          <p:cNvSpPr/>
          <p:nvPr/>
        </p:nvSpPr>
        <p:spPr>
          <a:xfrm>
            <a:off x="548640" y="2176272"/>
            <a:ext cx="411480" cy="457200"/>
          </a:xfrm>
          <a:prstGeom prst="rect">
            <a:avLst/>
          </a:prstGeom>
          <a:noFill/>
          <a:ln/>
        </p:spPr>
        <p:txBody>
          <a:bodyPr wrap="square" lIns="0" tIns="0" rIns="0" bIns="0" rtlCol="0" anchor="ctr"/>
          <a:lstStyle/>
          <a:p>
            <a:pPr indent="0" marL="0">
              <a:buNone/>
            </a:pPr>
            <a:r>
              <a:rPr lang="en-US" sz="1900" dirty="0">
                <a:solidFill>
                  <a:srgbClr val="CC785C"/>
                </a:solidFill>
                <a:latin typeface="Georgia" pitchFamily="34" charset="0"/>
                <a:ea typeface="Georgia" pitchFamily="34" charset="-122"/>
                <a:cs typeface="Georgia" pitchFamily="34" charset="-120"/>
              </a:rPr>
              <a:t>2</a:t>
            </a:r>
            <a:endParaRPr lang="en-US" sz="1900" dirty="0"/>
          </a:p>
        </p:txBody>
      </p:sp>
      <p:sp>
        <p:nvSpPr>
          <p:cNvPr id="8" name="Text 6"/>
          <p:cNvSpPr/>
          <p:nvPr/>
        </p:nvSpPr>
        <p:spPr>
          <a:xfrm>
            <a:off x="1051560" y="2194560"/>
            <a:ext cx="6858000" cy="45720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What's your agent audit story</a:t>
            </a:r>
            <a:endParaRPr lang="en-US" sz="1700" dirty="0"/>
          </a:p>
        </p:txBody>
      </p:sp>
      <p:sp>
        <p:nvSpPr>
          <p:cNvPr id="9" name="Shape 7"/>
          <p:cNvSpPr/>
          <p:nvPr/>
        </p:nvSpPr>
        <p:spPr>
          <a:xfrm>
            <a:off x="548640" y="2743200"/>
            <a:ext cx="7589520" cy="0"/>
          </a:xfrm>
          <a:prstGeom prst="line">
            <a:avLst/>
          </a:prstGeom>
          <a:noFill/>
          <a:ln w="19050">
            <a:solidFill>
              <a:srgbClr val="F0EEE6"/>
            </a:solidFill>
            <a:prstDash val="solid"/>
          </a:ln>
        </p:spPr>
      </p:sp>
      <p:sp>
        <p:nvSpPr>
          <p:cNvPr id="10" name="Text 8"/>
          <p:cNvSpPr/>
          <p:nvPr/>
        </p:nvSpPr>
        <p:spPr>
          <a:xfrm>
            <a:off x="548640" y="2889504"/>
            <a:ext cx="411480" cy="457200"/>
          </a:xfrm>
          <a:prstGeom prst="rect">
            <a:avLst/>
          </a:prstGeom>
          <a:noFill/>
          <a:ln/>
        </p:spPr>
        <p:txBody>
          <a:bodyPr wrap="square" lIns="0" tIns="0" rIns="0" bIns="0" rtlCol="0" anchor="ctr"/>
          <a:lstStyle/>
          <a:p>
            <a:pPr indent="0" marL="0">
              <a:buNone/>
            </a:pPr>
            <a:r>
              <a:rPr lang="en-US" sz="1900" dirty="0">
                <a:solidFill>
                  <a:srgbClr val="CC785C"/>
                </a:solidFill>
                <a:latin typeface="Georgia" pitchFamily="34" charset="0"/>
                <a:ea typeface="Georgia" pitchFamily="34" charset="-122"/>
                <a:cs typeface="Georgia" pitchFamily="34" charset="-120"/>
              </a:rPr>
              <a:t>3</a:t>
            </a:r>
            <a:endParaRPr lang="en-US" sz="1900" dirty="0"/>
          </a:p>
        </p:txBody>
      </p:sp>
      <p:sp>
        <p:nvSpPr>
          <p:cNvPr id="11" name="Text 9"/>
          <p:cNvSpPr/>
          <p:nvPr/>
        </p:nvSpPr>
        <p:spPr>
          <a:xfrm>
            <a:off x="1051560" y="2907792"/>
            <a:ext cx="6858000" cy="45720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What command should an agent never run here</a:t>
            </a:r>
            <a:endParaRPr lang="en-US" sz="1700" dirty="0"/>
          </a:p>
        </p:txBody>
      </p:sp>
      <p:sp>
        <p:nvSpPr>
          <p:cNvPr id="12" name="Text 10"/>
          <p:cNvSpPr/>
          <p:nvPr/>
        </p:nvSpPr>
        <p:spPr>
          <a:xfrm>
            <a:off x="548640" y="3977640"/>
            <a:ext cx="27432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THE SIGNAL</a:t>
            </a:r>
            <a:endParaRPr lang="en-US" sz="1050" dirty="0"/>
          </a:p>
        </p:txBody>
      </p:sp>
      <p:sp>
        <p:nvSpPr>
          <p:cNvPr id="13" name="Text 11"/>
          <p:cNvSpPr/>
          <p:nvPr/>
        </p:nvSpPr>
        <p:spPr>
          <a:xfrm>
            <a:off x="548640" y="4279392"/>
            <a:ext cx="7589520" cy="411480"/>
          </a:xfrm>
          <a:prstGeom prst="rect">
            <a:avLst/>
          </a:prstGeom>
          <a:noFill/>
          <a:ln/>
        </p:spPr>
        <p:txBody>
          <a:bodyPr wrap="square" lIns="0" tIns="0" rIns="0" bIns="0" rtlCol="0" anchor="ctr"/>
          <a:lstStyle/>
          <a:p>
            <a:pPr indent="0" marL="0">
              <a:buNone/>
            </a:pPr>
            <a:r>
              <a:rPr lang="en-US" sz="1400" dirty="0">
                <a:solidFill>
                  <a:srgbClr val="191919"/>
                </a:solidFill>
                <a:latin typeface="Arial" pitchFamily="34" charset="0"/>
                <a:ea typeface="Arial" pitchFamily="34" charset="-122"/>
                <a:cs typeface="Arial" pitchFamily="34" charset="-120"/>
              </a:rPr>
              <a:t>The seller runs this with a real customer inside 14 days.</a:t>
            </a:r>
            <a:endParaRPr lang="en-US" sz="1400" dirty="0"/>
          </a:p>
        </p:txBody>
      </p:sp>
      <p:sp>
        <p:nvSpPr>
          <p:cNvPr id="14" name="Text 12"/>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Recap, then go run it.</a:t>
            </a:r>
            <a:endParaRPr lang="en-US" sz="2600" dirty="0"/>
          </a:p>
        </p:txBody>
      </p:sp>
      <p:sp>
        <p:nvSpPr>
          <p:cNvPr id="4" name="Text 2"/>
          <p:cNvSpPr/>
          <p:nvPr/>
        </p:nvSpPr>
        <p:spPr>
          <a:xfrm>
            <a:off x="548640" y="1463040"/>
            <a:ext cx="411480" cy="457200"/>
          </a:xfrm>
          <a:prstGeom prst="rect">
            <a:avLst/>
          </a:prstGeom>
          <a:noFill/>
          <a:ln/>
        </p:spPr>
        <p:txBody>
          <a:bodyPr wrap="square" lIns="0" tIns="0" rIns="0" bIns="0" rtlCol="0" anchor="ctr"/>
          <a:lstStyle/>
          <a:p>
            <a:pPr indent="0" marL="0">
              <a:buNone/>
            </a:pPr>
            <a:r>
              <a:rPr lang="en-US" sz="1800" dirty="0">
                <a:solidFill>
                  <a:srgbClr val="CC785C"/>
                </a:solidFill>
                <a:latin typeface="Georgia" pitchFamily="34" charset="0"/>
                <a:ea typeface="Georgia" pitchFamily="34" charset="-122"/>
                <a:cs typeface="Georgia" pitchFamily="34" charset="-120"/>
              </a:rPr>
              <a:t>1</a:t>
            </a:r>
            <a:endParaRPr lang="en-US" sz="1800" dirty="0"/>
          </a:p>
        </p:txBody>
      </p:sp>
      <p:sp>
        <p:nvSpPr>
          <p:cNvPr id="5" name="Text 3"/>
          <p:cNvSpPr/>
          <p:nvPr/>
        </p:nvSpPr>
        <p:spPr>
          <a:xfrm>
            <a:off x="1051560" y="1490472"/>
            <a:ext cx="4206240" cy="548640"/>
          </a:xfrm>
          <a:prstGeom prst="rect">
            <a:avLst/>
          </a:prstGeom>
          <a:noFill/>
          <a:ln/>
        </p:spPr>
        <p:txBody>
          <a:bodyPr wrap="square" lIns="0" tIns="0" rIns="0" bIns="0" rtlCol="0" anchor="ctr"/>
          <a:lstStyle/>
          <a:p>
            <a:pPr indent="0" marL="0">
              <a:buNone/>
            </a:pPr>
            <a:r>
              <a:rPr lang="en-US" sz="1500" dirty="0">
                <a:solidFill>
                  <a:srgbClr val="191919"/>
                </a:solidFill>
                <a:latin typeface="Georgia" pitchFamily="34" charset="0"/>
                <a:ea typeface="Georgia" pitchFamily="34" charset="-122"/>
                <a:cs typeface="Georgia" pitchFamily="34" charset="-120"/>
              </a:rPr>
              <a:t>The plugin is the unit of rollout.</a:t>
            </a:r>
            <a:endParaRPr lang="en-US" sz="1500" dirty="0"/>
          </a:p>
        </p:txBody>
      </p:sp>
      <p:sp>
        <p:nvSpPr>
          <p:cNvPr id="6" name="Text 4"/>
          <p:cNvSpPr/>
          <p:nvPr/>
        </p:nvSpPr>
        <p:spPr>
          <a:xfrm>
            <a:off x="548640" y="2121408"/>
            <a:ext cx="411480" cy="457200"/>
          </a:xfrm>
          <a:prstGeom prst="rect">
            <a:avLst/>
          </a:prstGeom>
          <a:noFill/>
          <a:ln/>
        </p:spPr>
        <p:txBody>
          <a:bodyPr wrap="square" lIns="0" tIns="0" rIns="0" bIns="0" rtlCol="0" anchor="ctr"/>
          <a:lstStyle/>
          <a:p>
            <a:pPr indent="0" marL="0">
              <a:buNone/>
            </a:pPr>
            <a:r>
              <a:rPr lang="en-US" sz="1800" dirty="0">
                <a:solidFill>
                  <a:srgbClr val="CC785C"/>
                </a:solidFill>
                <a:latin typeface="Georgia" pitchFamily="34" charset="0"/>
                <a:ea typeface="Georgia" pitchFamily="34" charset="-122"/>
                <a:cs typeface="Georgia" pitchFamily="34" charset="-120"/>
              </a:rPr>
              <a:t>2</a:t>
            </a:r>
            <a:endParaRPr lang="en-US" sz="1800" dirty="0"/>
          </a:p>
        </p:txBody>
      </p:sp>
      <p:sp>
        <p:nvSpPr>
          <p:cNvPr id="7" name="Text 5"/>
          <p:cNvSpPr/>
          <p:nvPr/>
        </p:nvSpPr>
        <p:spPr>
          <a:xfrm>
            <a:off x="1051560" y="2148840"/>
            <a:ext cx="4206240" cy="548640"/>
          </a:xfrm>
          <a:prstGeom prst="rect">
            <a:avLst/>
          </a:prstGeom>
          <a:noFill/>
          <a:ln/>
        </p:spPr>
        <p:txBody>
          <a:bodyPr wrap="square" lIns="0" tIns="0" rIns="0" bIns="0" rtlCol="0" anchor="ctr"/>
          <a:lstStyle/>
          <a:p>
            <a:pPr indent="0" marL="0">
              <a:buNone/>
            </a:pPr>
            <a:r>
              <a:rPr lang="en-US" sz="1500" dirty="0">
                <a:solidFill>
                  <a:srgbClr val="191919"/>
                </a:solidFill>
                <a:latin typeface="Georgia" pitchFamily="34" charset="0"/>
                <a:ea typeface="Georgia" pitchFamily="34" charset="-122"/>
                <a:cs typeface="Georgia" pitchFamily="34" charset="-120"/>
              </a:rPr>
              <a:t>An instruction can be ignored. A process gate can't.</a:t>
            </a:r>
            <a:endParaRPr lang="en-US" sz="1500" dirty="0"/>
          </a:p>
        </p:txBody>
      </p:sp>
      <p:sp>
        <p:nvSpPr>
          <p:cNvPr id="8" name="Text 6"/>
          <p:cNvSpPr/>
          <p:nvPr/>
        </p:nvSpPr>
        <p:spPr>
          <a:xfrm>
            <a:off x="548640" y="2779776"/>
            <a:ext cx="411480" cy="457200"/>
          </a:xfrm>
          <a:prstGeom prst="rect">
            <a:avLst/>
          </a:prstGeom>
          <a:noFill/>
          <a:ln/>
        </p:spPr>
        <p:txBody>
          <a:bodyPr wrap="square" lIns="0" tIns="0" rIns="0" bIns="0" rtlCol="0" anchor="ctr"/>
          <a:lstStyle/>
          <a:p>
            <a:pPr indent="0" marL="0">
              <a:buNone/>
            </a:pPr>
            <a:r>
              <a:rPr lang="en-US" sz="1800" dirty="0">
                <a:solidFill>
                  <a:srgbClr val="CC785C"/>
                </a:solidFill>
                <a:latin typeface="Georgia" pitchFamily="34" charset="0"/>
                <a:ea typeface="Georgia" pitchFamily="34" charset="-122"/>
                <a:cs typeface="Georgia" pitchFamily="34" charset="-120"/>
              </a:rPr>
              <a:t>3</a:t>
            </a:r>
            <a:endParaRPr lang="en-US" sz="1800" dirty="0"/>
          </a:p>
        </p:txBody>
      </p:sp>
      <p:sp>
        <p:nvSpPr>
          <p:cNvPr id="9" name="Text 7"/>
          <p:cNvSpPr/>
          <p:nvPr/>
        </p:nvSpPr>
        <p:spPr>
          <a:xfrm>
            <a:off x="1051560" y="2807208"/>
            <a:ext cx="4206240" cy="548640"/>
          </a:xfrm>
          <a:prstGeom prst="rect">
            <a:avLst/>
          </a:prstGeom>
          <a:noFill/>
          <a:ln/>
        </p:spPr>
        <p:txBody>
          <a:bodyPr wrap="square" lIns="0" tIns="0" rIns="0" bIns="0" rtlCol="0" anchor="ctr"/>
          <a:lstStyle/>
          <a:p>
            <a:pPr indent="0" marL="0">
              <a:buNone/>
            </a:pPr>
            <a:r>
              <a:rPr lang="en-US" sz="1500" dirty="0">
                <a:solidFill>
                  <a:srgbClr val="191919"/>
                </a:solidFill>
                <a:latin typeface="Georgia" pitchFamily="34" charset="0"/>
                <a:ea typeface="Georgia" pitchFamily="34" charset="-122"/>
                <a:cs typeface="Georgia" pitchFamily="34" charset="-120"/>
              </a:rPr>
              <a:t>Policy ships like software.</a:t>
            </a:r>
            <a:endParaRPr lang="en-US" sz="1500" dirty="0"/>
          </a:p>
        </p:txBody>
      </p:sp>
      <p:sp>
        <p:nvSpPr>
          <p:cNvPr id="10" name="Shape 8"/>
          <p:cNvSpPr/>
          <p:nvPr/>
        </p:nvSpPr>
        <p:spPr>
          <a:xfrm>
            <a:off x="5486400" y="1417320"/>
            <a:ext cx="3108960" cy="2743200"/>
          </a:xfrm>
          <a:prstGeom prst="rect">
            <a:avLst/>
          </a:prstGeom>
          <a:solidFill>
            <a:srgbClr val="F0EEE6"/>
          </a:solidFill>
          <a:ln/>
        </p:spPr>
      </p:sp>
      <p:sp>
        <p:nvSpPr>
          <p:cNvPr id="11" name="Text 9"/>
          <p:cNvSpPr/>
          <p:nvPr/>
        </p:nvSpPr>
        <p:spPr>
          <a:xfrm>
            <a:off x="5742432" y="1600200"/>
            <a:ext cx="2596896" cy="320040"/>
          </a:xfrm>
          <a:prstGeom prst="rect">
            <a:avLst/>
          </a:prstGeom>
          <a:noFill/>
          <a:ln/>
        </p:spPr>
        <p:txBody>
          <a:bodyPr wrap="square" lIns="0" tIns="0" rIns="0" bIns="0" rtlCol="0" anchor="ctr"/>
          <a:lstStyle/>
          <a:p>
            <a:pPr indent="0" marL="0">
              <a:buNone/>
            </a:pPr>
            <a:r>
              <a:rPr lang="en-US" sz="1500" b="1" dirty="0">
                <a:solidFill>
                  <a:srgbClr val="191919"/>
                </a:solidFill>
                <a:latin typeface="Georgia" pitchFamily="34" charset="0"/>
                <a:ea typeface="Georgia" pitchFamily="34" charset="-122"/>
                <a:cs typeface="Georgia" pitchFamily="34" charset="-120"/>
              </a:rPr>
              <a:t>Next steps</a:t>
            </a:r>
            <a:endParaRPr lang="en-US" sz="1500" dirty="0"/>
          </a:p>
        </p:txBody>
      </p:sp>
      <p:sp>
        <p:nvSpPr>
          <p:cNvPr id="12" name="Text 10"/>
          <p:cNvSpPr/>
          <p:nvPr/>
        </p:nvSpPr>
        <p:spPr>
          <a:xfrm>
            <a:off x="5742432" y="2011680"/>
            <a:ext cx="2596896" cy="20116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Clone the repo and run the harness: 22 checks, zero tokens</a:t>
            </a:r>
            <a:endParaRPr lang="en-US" sz="1150" dirty="0"/>
          </a:p>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Rehearse the four beats from PROMPTS.md</a:t>
            </a:r>
            <a:endParaRPr lang="en-US" sz="1150" dirty="0"/>
          </a:p>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Read 02-facilitator-guide.md for the talk track</a:t>
            </a:r>
            <a:endParaRPr lang="en-US" sz="1150" dirty="0"/>
          </a:p>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Book your first customer run</a:t>
            </a:r>
            <a:endParaRPr lang="en-US" sz="1150" dirty="0"/>
          </a:p>
        </p:txBody>
      </p:sp>
      <p:sp>
        <p:nvSpPr>
          <p:cNvPr id="13" name="Text 11"/>
          <p:cNvSpPr/>
          <p:nvPr/>
        </p:nvSpPr>
        <p:spPr>
          <a:xfrm>
            <a:off x="548640" y="4069080"/>
            <a:ext cx="4663440" cy="457200"/>
          </a:xfrm>
          <a:prstGeom prst="rect">
            <a:avLst/>
          </a:prstGeom>
          <a:noFill/>
          <a:ln/>
        </p:spPr>
        <p:txBody>
          <a:bodyPr wrap="square" lIns="0" tIns="0" rIns="0" bIns="0" rtlCol="0" anchor="ctr"/>
          <a:lstStyle/>
          <a:p>
            <a:pPr indent="0" marL="0">
              <a:buNone/>
            </a:pPr>
            <a:r>
              <a:rPr lang="en-US" sz="1400" i="1" dirty="0">
                <a:solidFill>
                  <a:srgbClr val="6B6B66"/>
                </a:solidFill>
                <a:latin typeface="Georgia" pitchFamily="34" charset="0"/>
                <a:ea typeface="Georgia" pitchFamily="34" charset="-122"/>
                <a:cs typeface="Georgia" pitchFamily="34" charset="-120"/>
              </a:rPr>
              <a:t>The demo ends with the customer's policy in the artifact.</a:t>
            </a:r>
            <a:endParaRPr lang="en-US" sz="1400" dirty="0"/>
          </a:p>
        </p:txBody>
      </p:sp>
      <p:sp>
        <p:nvSpPr>
          <p:cNvPr id="14" name="Text 12"/>
          <p:cNvSpPr/>
          <p:nvPr/>
        </p:nvSpPr>
        <p:spPr>
          <a:xfrm>
            <a:off x="548640" y="4686300"/>
            <a:ext cx="4572000" cy="274320"/>
          </a:xfrm>
          <a:prstGeom prst="rect">
            <a:avLst/>
          </a:prstGeom>
          <a:noFill/>
          <a:ln/>
        </p:spPr>
        <p:txBody>
          <a:bodyPr wrap="square" lIns="0" tIns="0" rIns="0" bIns="0" rtlCol="0" anchor="ctr"/>
          <a:lstStyle/>
          <a:p>
            <a:pPr indent="0" marL="0">
              <a:buNone/>
            </a:pPr>
            <a:r>
              <a:rPr lang="en-US" sz="1050" dirty="0">
                <a:solidFill>
                  <a:srgbClr val="CC785C"/>
                </a:solidFill>
                <a:latin typeface="Consolas" pitchFamily="34" charset="0"/>
                <a:ea typeface="Consolas" pitchFamily="34" charset="-122"/>
                <a:cs typeface="Consolas" pitchFamily="34" charset="-120"/>
              </a:rPr>
              <a:t>github.com/andymadson/data-platform-pack</a:t>
            </a:r>
            <a:endParaRPr lang="en-US" sz="1050" dirty="0"/>
          </a:p>
        </p:txBody>
      </p:sp>
      <p:sp>
        <p:nvSpPr>
          <p:cNvPr id="15" name="Text 13"/>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Plugins: the enterprise rollout story</dc:title>
  <dc:subject>Claude Code plugins enablement</dc:subject>
  <dc:creator>Andy Madson</dc:creator>
  <cp:lastModifiedBy>Andy Madson</cp:lastModifiedBy>
  <cp:revision>1</cp:revision>
  <dcterms:created xsi:type="dcterms:W3CDTF">2026-06-10T12:47:16Z</dcterms:created>
  <dcterms:modified xsi:type="dcterms:W3CDTF">2026-06-10T12:47:16Z</dcterms:modified>
</cp:coreProperties>
</file>