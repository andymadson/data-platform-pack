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Prospect-facing deck for the data-platform-pack session. Pair with 02-facilitator-guide.md (internal, never shared) for the talk track and timings. Slides carry the framing; the demo runs in the terminal from minute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scope out loud before anything else. The cut list is as deliberate as the covered list; the reasons come from 01-design-note.md. If someone wants the cut topics, point them at the docs links at the bottom of the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are the capstone concept: the package that bundles skills, agents, and hooks into one versioned unit. Don't detour into the individual features; today is where they stop being a laptop setup and become something their enterprise can adopt.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not agenda: tell the room what they'll have done by the end, not what you'll talk about. Items 3 and 4 happen with their hands on keyboards in the 20-to-26 block. The presenter-side objectives live in 01-design-note.md and stay internal.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minute 0 to 3, no screen yet: one of their engineers built genuinely good workflows, then their platform lead asked about rollout and the energy left the room. No versioning, no way to push a fix, security has no idea what's running where. That's what stalls adoption, and it's the thing plugins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layers left to right, then land the two commands. Two facts to say out loud because they prevent later confusion: components live at the plugin root, not inside .claude-plugin/, and installed plugins run from a cache copy, so editing a checkout changes nothing until a new version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'what if the model ignores instructions.' It isn't an instruction. The guard is a separate process gating the tool call before it executes. Invite skeptics to read guard.js; 158 lines is the point. Demo beat 3 makes this concrete at minute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rollout motion the platform lead has been asking for. Beat 4 of the demo performs it live with a rule the room suggests. The offline proof step matters: the seller never burns a token to know the policy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Prompts are verbatim in PROMPTS.md; narrate decisions, not keystrokes. Beat 3 is where the principle slides pay off: the deny arrives with a rule id and reason, and the audit file shows attempts and outcomes together. Beat 4 takes a rule from the room and ships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practice with immediate feedback: the harness gives an instant pass or fail, so every attendee gets a tight loop. Facilitator circulates. No laptops in the room? Run beat 4 twice more with audience-supplied rules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the three questions to the room and let them answer; they're discovery, and the answers tell you where a pilot lands. The next step on the slide is the ask: a two-week pilot in their repo with their conventions. Internally, the success signal stays the 14-day real-customer run from 01-design-note.md.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uninstalling and reinstalling the plugin on screen, under a minute; distribution is the product, worth showing twice. After the room leaves, uninstall and remove the marketplace so the machine is clean for the next session. Everything on this slide exists in the published kit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1572768"/>
            <a:ext cx="457200" cy="27432"/>
          </a:xfrm>
          <a:prstGeom prst="rect">
            <a:avLst/>
          </a:prstGeom>
          <a:solidFill>
            <a:srgbClr val="CC785C"/>
          </a:solidFill>
          <a:ln/>
        </p:spPr>
      </p:sp>
      <p:sp>
        <p:nvSpPr>
          <p:cNvPr id="3" name="Text 1"/>
          <p:cNvSpPr/>
          <p:nvPr/>
        </p:nvSpPr>
        <p:spPr>
          <a:xfrm>
            <a:off x="548640" y="1755648"/>
            <a:ext cx="7863840" cy="1188720"/>
          </a:xfrm>
          <a:prstGeom prst="rect">
            <a:avLst/>
          </a:prstGeom>
          <a:noFill/>
          <a:ln/>
        </p:spPr>
        <p:txBody>
          <a:bodyPr wrap="square" lIns="0" tIns="0" rIns="0" bIns="0" rtlCol="0" anchor="t"/>
          <a:lstStyle/>
          <a:p>
            <a:pPr algn="l" indent="0" marL="0">
              <a:buNone/>
            </a:pPr>
            <a:r>
              <a:rPr lang="en-US" sz="3800" dirty="0">
                <a:solidFill>
                  <a:srgbClr val="191919"/>
                </a:solidFill>
                <a:latin typeface="Georgia" pitchFamily="34" charset="0"/>
                <a:ea typeface="Georgia" pitchFamily="34" charset="-122"/>
                <a:cs typeface="Georgia" pitchFamily="34" charset="-120"/>
              </a:rPr>
              <a:t>Plugins: the enterprise rollout story.</a:t>
            </a:r>
            <a:endParaRPr lang="en-US" sz="3800" dirty="0"/>
          </a:p>
        </p:txBody>
      </p:sp>
      <p:sp>
        <p:nvSpPr>
          <p:cNvPr id="4" name="Text 2"/>
          <p:cNvSpPr/>
          <p:nvPr/>
        </p:nvSpPr>
        <p:spPr>
          <a:xfrm>
            <a:off x="548640" y="2971800"/>
            <a:ext cx="7315200" cy="365760"/>
          </a:xfrm>
          <a:prstGeom prst="rect">
            <a:avLst/>
          </a:prstGeom>
          <a:noFill/>
          <a:ln/>
        </p:spPr>
        <p:txBody>
          <a:bodyPr wrap="square" lIns="0" tIns="0" rIns="0" bIns="0" rtlCol="0" anchor="ctr"/>
          <a:lstStyle/>
          <a:p>
            <a:pPr indent="0" marL="0">
              <a:buNone/>
            </a:pPr>
            <a:r>
              <a:rPr lang="en-US" sz="1500" dirty="0">
                <a:solidFill>
                  <a:srgbClr val="6B6B66"/>
                </a:solidFill>
                <a:latin typeface="Arial" pitchFamily="34" charset="0"/>
                <a:ea typeface="Arial" pitchFamily="34" charset="-122"/>
                <a:cs typeface="Arial" pitchFamily="34" charset="-120"/>
              </a:rPr>
              <a:t>Every engineer, the same setup, your policies attached. A 30-minute working session.</a:t>
            </a:r>
            <a:endParaRPr lang="en-US" sz="1500" dirty="0"/>
          </a:p>
        </p:txBody>
      </p:sp>
      <p:sp>
        <p:nvSpPr>
          <p:cNvPr id="5" name="Text 3"/>
          <p:cNvSpPr/>
          <p:nvPr/>
        </p:nvSpPr>
        <p:spPr>
          <a:xfrm>
            <a:off x="548640" y="4640580"/>
            <a:ext cx="5486400" cy="274320"/>
          </a:xfrm>
          <a:prstGeom prst="rect">
            <a:avLst/>
          </a:prstGeom>
          <a:noFill/>
          <a:ln/>
        </p:spPr>
        <p:txBody>
          <a:bodyPr wrap="square" lIns="0" tIns="0" rIns="0" bIns="0" rtlCol="0" anchor="ctr"/>
          <a:lstStyle/>
          <a:p>
            <a:pPr indent="0" marL="0">
              <a:buNone/>
            </a:pPr>
            <a:r>
              <a:rPr lang="en-US" sz="1100" dirty="0">
                <a:solidFill>
                  <a:srgbClr val="CC785C"/>
                </a:solidFill>
                <a:latin typeface="Consolas" pitchFamily="34" charset="0"/>
                <a:ea typeface="Consolas" pitchFamily="34" charset="-122"/>
                <a:cs typeface="Consolas" pitchFamily="34" charset="-120"/>
              </a:rPr>
              <a:t>github.com/andymadson/data-platform-pack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What this covers, and what it doesn't.</a:t>
            </a:r>
            <a:endParaRPr lang="en-US" sz="2600" dirty="0"/>
          </a:p>
        </p:txBody>
      </p:sp>
      <p:sp>
        <p:nvSpPr>
          <p:cNvPr id="4" name="Shape 2"/>
          <p:cNvSpPr/>
          <p:nvPr/>
        </p:nvSpPr>
        <p:spPr>
          <a:xfrm>
            <a:off x="548640" y="1417320"/>
            <a:ext cx="3886200" cy="3200400"/>
          </a:xfrm>
          <a:prstGeom prst="rect">
            <a:avLst/>
          </a:prstGeom>
          <a:solidFill>
            <a:srgbClr val="F0EEE6"/>
          </a:solidFill>
          <a:ln/>
        </p:spPr>
      </p:sp>
      <p:sp>
        <p:nvSpPr>
          <p:cNvPr id="5" name="Text 3"/>
          <p:cNvSpPr/>
          <p:nvPr/>
        </p:nvSpPr>
        <p:spPr>
          <a:xfrm>
            <a:off x="822960" y="1618488"/>
            <a:ext cx="3337560" cy="320040"/>
          </a:xfrm>
          <a:prstGeom prst="rect">
            <a:avLst/>
          </a:prstGeom>
          <a:noFill/>
          <a:ln/>
        </p:spPr>
        <p:txBody>
          <a:bodyPr wrap="square" lIns="0" tIns="0" rIns="0" bIns="0" rtlCol="0" anchor="ctr"/>
          <a:lstStyle/>
          <a:p>
            <a:pPr indent="0" marL="0">
              <a:buNone/>
            </a:pPr>
            <a:r>
              <a:rPr lang="en-US" sz="1600" b="1" dirty="0">
                <a:solidFill>
                  <a:srgbClr val="191919"/>
                </a:solidFill>
                <a:latin typeface="Georgia" pitchFamily="34" charset="0"/>
                <a:ea typeface="Georgia" pitchFamily="34" charset="-122"/>
                <a:cs typeface="Georgia" pitchFamily="34" charset="-120"/>
              </a:rPr>
              <a:t>Covered</a:t>
            </a:r>
            <a:endParaRPr lang="en-US" sz="1600" dirty="0"/>
          </a:p>
        </p:txBody>
      </p:sp>
      <p:sp>
        <p:nvSpPr>
          <p:cNvPr id="6" name="Text 4"/>
          <p:cNvSpPr/>
          <p:nvPr/>
        </p:nvSpPr>
        <p:spPr>
          <a:xfrm>
            <a:off x="822960" y="2057400"/>
            <a:ext cx="3337560" cy="22860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Plugin anatomy: marketplace, manifest, components, version pin</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The live demo, in four beats: install, use, govern, ship</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Deterministic guardrails and the audit trail they write</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Shipping a policy change to a whole engineering fleet</a:t>
            </a:r>
            <a:endParaRPr lang="en-US" sz="1250" dirty="0"/>
          </a:p>
        </p:txBody>
      </p:sp>
      <p:sp>
        <p:nvSpPr>
          <p:cNvPr id="7" name="Shape 5"/>
          <p:cNvSpPr/>
          <p:nvPr/>
        </p:nvSpPr>
        <p:spPr>
          <a:xfrm>
            <a:off x="4709160" y="1417320"/>
            <a:ext cx="3886200" cy="3200400"/>
          </a:xfrm>
          <a:prstGeom prst="rect">
            <a:avLst/>
          </a:prstGeom>
          <a:solidFill>
            <a:srgbClr val="FAF9F5"/>
          </a:solidFill>
          <a:ln w="12700">
            <a:solidFill>
              <a:srgbClr val="D4A27F"/>
            </a:solidFill>
            <a:prstDash val="solid"/>
          </a:ln>
        </p:spPr>
      </p:sp>
      <p:sp>
        <p:nvSpPr>
          <p:cNvPr id="8" name="Text 6"/>
          <p:cNvSpPr/>
          <p:nvPr/>
        </p:nvSpPr>
        <p:spPr>
          <a:xfrm>
            <a:off x="4983480" y="1618488"/>
            <a:ext cx="3337560" cy="320040"/>
          </a:xfrm>
          <a:prstGeom prst="rect">
            <a:avLst/>
          </a:prstGeom>
          <a:noFill/>
          <a:ln/>
        </p:spPr>
        <p:txBody>
          <a:bodyPr wrap="square" lIns="0" tIns="0" rIns="0" bIns="0" rtlCol="0" anchor="ctr"/>
          <a:lstStyle/>
          <a:p>
            <a:pPr indent="0" marL="0">
              <a:buNone/>
            </a:pPr>
            <a:r>
              <a:rPr lang="en-US" sz="1600" b="1" dirty="0">
                <a:solidFill>
                  <a:srgbClr val="191919"/>
                </a:solidFill>
                <a:latin typeface="Georgia" pitchFamily="34" charset="0"/>
                <a:ea typeface="Georgia" pitchFamily="34" charset="-122"/>
                <a:cs typeface="Georgia" pitchFamily="34" charset="-120"/>
              </a:rPr>
              <a:t>Not covered, on purpose</a:t>
            </a:r>
            <a:endParaRPr lang="en-US" sz="1600" dirty="0"/>
          </a:p>
        </p:txBody>
      </p:sp>
      <p:sp>
        <p:nvSpPr>
          <p:cNvPr id="9" name="Text 7"/>
          <p:cNvSpPr/>
          <p:nvPr/>
        </p:nvSpPr>
        <p:spPr>
          <a:xfrm>
            <a:off x="4983480" y="2057400"/>
            <a:ext cx="3337560" cy="22860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MCP and LSP servers in plugins. Auth variability is how live demos die.</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Building a plugin from scratch. Scaffolding is boring to watch.</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Multi-plugin marketplaces and dependencies. Day-two concerns.</a:t>
            </a:r>
            <a:endParaRPr lang="en-US" sz="1250" dirty="0"/>
          </a:p>
          <a:p>
            <a:pPr marL="342900" indent="-342900">
              <a:spcAft>
                <a:spcPts val="1000"/>
              </a:spcAft>
              <a:buSzPct val="100000"/>
              <a:buChar char="•"/>
            </a:pPr>
            <a:r>
              <a:rPr lang="en-US" sz="1250" dirty="0">
                <a:solidFill>
                  <a:srgbClr val="191919"/>
                </a:solidFill>
                <a:latin typeface="Arial" pitchFamily="34" charset="0"/>
                <a:ea typeface="Arial" pitchFamily="34" charset="-122"/>
                <a:cs typeface="Arial" pitchFamily="34" charset="-120"/>
              </a:rPr>
              <a:t>Sandboxing and IAM. A different defense layer; plugins don't replace it.</a:t>
            </a:r>
            <a:endParaRPr lang="en-US" sz="1250" dirty="0"/>
          </a:p>
        </p:txBody>
      </p:sp>
      <p:sp>
        <p:nvSpPr>
          <p:cNvPr id="10" name="Text 8"/>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Where this sits in your adoption journey.</a:t>
            </a:r>
            <a:endParaRPr lang="en-US" sz="2600" dirty="0"/>
          </a:p>
        </p:txBody>
      </p:sp>
      <p:sp>
        <p:nvSpPr>
          <p:cNvPr id="4" name="Shape 2"/>
          <p:cNvSpPr/>
          <p:nvPr/>
        </p:nvSpPr>
        <p:spPr>
          <a:xfrm>
            <a:off x="548640" y="1554480"/>
            <a:ext cx="2286000" cy="2103120"/>
          </a:xfrm>
          <a:prstGeom prst="rect">
            <a:avLst/>
          </a:prstGeom>
          <a:solidFill>
            <a:srgbClr val="F0EEE6"/>
          </a:solidFill>
          <a:ln/>
        </p:spPr>
      </p:sp>
      <p:sp>
        <p:nvSpPr>
          <p:cNvPr id="5" name="Text 3"/>
          <p:cNvSpPr/>
          <p:nvPr/>
        </p:nvSpPr>
        <p:spPr>
          <a:xfrm>
            <a:off x="777240" y="1737360"/>
            <a:ext cx="18288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BEFORE</a:t>
            </a:r>
            <a:endParaRPr lang="en-US" sz="1050" dirty="0"/>
          </a:p>
        </p:txBody>
      </p:sp>
      <p:sp>
        <p:nvSpPr>
          <p:cNvPr id="6" name="Text 4"/>
          <p:cNvSpPr/>
          <p:nvPr/>
        </p:nvSpPr>
        <p:spPr>
          <a:xfrm>
            <a:off x="777240" y="2121408"/>
            <a:ext cx="1828800" cy="1325880"/>
          </a:xfrm>
          <a:prstGeom prst="rect">
            <a:avLst/>
          </a:prstGeom>
          <a:noFill/>
          <a:ln/>
        </p:spPr>
        <p:txBody>
          <a:bodyPr wrap="square" lIns="0" tIns="0" rIns="0" bIns="0" rtlCol="0" anchor="t"/>
          <a:lstStyle/>
          <a:p>
            <a:pPr indent="0" marL="0">
              <a:buNone/>
            </a:pPr>
            <a:r>
              <a:rPr lang="en-US" sz="1250" dirty="0">
                <a:solidFill>
                  <a:srgbClr val="191919"/>
                </a:solidFill>
                <a:latin typeface="Arial" pitchFamily="34" charset="0"/>
                <a:ea typeface="Arial" pitchFamily="34" charset="-122"/>
                <a:cs typeface="Arial" pitchFamily="34" charset="-120"/>
              </a:rPr>
              <a:t>Your engineers run Claude Code one laptop at a time. Skills, agents, and hooks as individual features.</a:t>
            </a:r>
            <a:endParaRPr lang="en-US" sz="1250" dirty="0"/>
          </a:p>
        </p:txBody>
      </p:sp>
      <p:sp>
        <p:nvSpPr>
          <p:cNvPr id="7" name="Text 5"/>
          <p:cNvSpPr/>
          <p:nvPr/>
        </p:nvSpPr>
        <p:spPr>
          <a:xfrm>
            <a:off x="2971800" y="2377440"/>
            <a:ext cx="320040" cy="457200"/>
          </a:xfrm>
          <a:prstGeom prst="rect">
            <a:avLst/>
          </a:prstGeom>
          <a:noFill/>
          <a:ln/>
        </p:spPr>
        <p:txBody>
          <a:bodyPr wrap="square" lIns="0" tIns="0" rIns="0" bIns="0" rtlCol="0" anchor="ctr"/>
          <a:lstStyle/>
          <a:p>
            <a:pPr algn="ctr" indent="0" marL="0">
              <a:buNone/>
            </a:pPr>
            <a:r>
              <a:rPr lang="en-US" sz="1800" dirty="0">
                <a:solidFill>
                  <a:srgbClr val="CC785C"/>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3429000" y="1554480"/>
            <a:ext cx="2286000" cy="2103120"/>
          </a:xfrm>
          <a:prstGeom prst="rect">
            <a:avLst/>
          </a:prstGeom>
          <a:solidFill>
            <a:srgbClr val="F0EEE6"/>
          </a:solidFill>
          <a:ln w="19050">
            <a:solidFill>
              <a:srgbClr val="CC785C"/>
            </a:solidFill>
            <a:prstDash val="solid"/>
          </a:ln>
        </p:spPr>
      </p:sp>
      <p:sp>
        <p:nvSpPr>
          <p:cNvPr id="9" name="Text 7"/>
          <p:cNvSpPr/>
          <p:nvPr/>
        </p:nvSpPr>
        <p:spPr>
          <a:xfrm>
            <a:off x="3657600" y="1737360"/>
            <a:ext cx="18288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THIS SESSION</a:t>
            </a:r>
            <a:endParaRPr lang="en-US" sz="1050" dirty="0"/>
          </a:p>
        </p:txBody>
      </p:sp>
      <p:sp>
        <p:nvSpPr>
          <p:cNvPr id="10" name="Text 8"/>
          <p:cNvSpPr/>
          <p:nvPr/>
        </p:nvSpPr>
        <p:spPr>
          <a:xfrm>
            <a:off x="3657600" y="2121408"/>
            <a:ext cx="1828800" cy="1325880"/>
          </a:xfrm>
          <a:prstGeom prst="rect">
            <a:avLst/>
          </a:prstGeom>
          <a:noFill/>
          <a:ln/>
        </p:spPr>
        <p:txBody>
          <a:bodyPr wrap="square" lIns="0" tIns="0" rIns="0" bIns="0" rtlCol="0" anchor="t"/>
          <a:lstStyle/>
          <a:p>
            <a:pPr indent="0" marL="0">
              <a:buNone/>
            </a:pPr>
            <a:r>
              <a:rPr lang="en-US" sz="1250" dirty="0">
                <a:solidFill>
                  <a:srgbClr val="191919"/>
                </a:solidFill>
                <a:latin typeface="Arial" pitchFamily="34" charset="0"/>
                <a:ea typeface="Arial" pitchFamily="34" charset="-122"/>
                <a:cs typeface="Arial" pitchFamily="34" charset="-120"/>
              </a:rPr>
              <a:t>Those pieces become one versioned unit your platform team installs, governs, and updates.</a:t>
            </a:r>
            <a:endParaRPr lang="en-US" sz="1250" dirty="0"/>
          </a:p>
        </p:txBody>
      </p:sp>
      <p:sp>
        <p:nvSpPr>
          <p:cNvPr id="11" name="Text 9"/>
          <p:cNvSpPr/>
          <p:nvPr/>
        </p:nvSpPr>
        <p:spPr>
          <a:xfrm>
            <a:off x="5852160" y="2377440"/>
            <a:ext cx="320040" cy="457200"/>
          </a:xfrm>
          <a:prstGeom prst="rect">
            <a:avLst/>
          </a:prstGeom>
          <a:noFill/>
          <a:ln/>
        </p:spPr>
        <p:txBody>
          <a:bodyPr wrap="square" lIns="0" tIns="0" rIns="0" bIns="0" rtlCol="0" anchor="ctr"/>
          <a:lstStyle/>
          <a:p>
            <a:pPr algn="ctr" indent="0" marL="0">
              <a:buNone/>
            </a:pPr>
            <a:r>
              <a:rPr lang="en-US" sz="1800" dirty="0">
                <a:solidFill>
                  <a:srgbClr val="CC785C"/>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6309360" y="1554480"/>
            <a:ext cx="2286000" cy="2103120"/>
          </a:xfrm>
          <a:prstGeom prst="rect">
            <a:avLst/>
          </a:prstGeom>
          <a:solidFill>
            <a:srgbClr val="F0EEE6"/>
          </a:solidFill>
          <a:ln/>
        </p:spPr>
      </p:sp>
      <p:sp>
        <p:nvSpPr>
          <p:cNvPr id="13" name="Text 11"/>
          <p:cNvSpPr/>
          <p:nvPr/>
        </p:nvSpPr>
        <p:spPr>
          <a:xfrm>
            <a:off x="6537960" y="1737360"/>
            <a:ext cx="18288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AFTER</a:t>
            </a:r>
            <a:endParaRPr lang="en-US" sz="1050" dirty="0"/>
          </a:p>
        </p:txBody>
      </p:sp>
      <p:sp>
        <p:nvSpPr>
          <p:cNvPr id="14" name="Text 12"/>
          <p:cNvSpPr/>
          <p:nvPr/>
        </p:nvSpPr>
        <p:spPr>
          <a:xfrm>
            <a:off x="6537960" y="2121408"/>
            <a:ext cx="1828800" cy="1325880"/>
          </a:xfrm>
          <a:prstGeom prst="rect">
            <a:avLst/>
          </a:prstGeom>
          <a:noFill/>
          <a:ln/>
        </p:spPr>
        <p:txBody>
          <a:bodyPr wrap="square" lIns="0" tIns="0" rIns="0" bIns="0" rtlCol="0" anchor="t"/>
          <a:lstStyle/>
          <a:p>
            <a:pPr indent="0" marL="0">
              <a:buNone/>
            </a:pPr>
            <a:r>
              <a:rPr lang="en-US" sz="1250" dirty="0">
                <a:solidFill>
                  <a:srgbClr val="191919"/>
                </a:solidFill>
                <a:latin typeface="Arial" pitchFamily="34" charset="0"/>
                <a:ea typeface="Arial" pitchFamily="34" charset="-122"/>
                <a:cs typeface="Arial" pitchFamily="34" charset="-120"/>
              </a:rPr>
              <a:t>Fork the kit, swap in your conventions and policy, and run a two-week pilot in your repo.</a:t>
            </a:r>
            <a:endParaRPr lang="en-US" sz="1250" dirty="0"/>
          </a:p>
        </p:txBody>
      </p:sp>
      <p:sp>
        <p:nvSpPr>
          <p:cNvPr id="15" name="Text 13"/>
          <p:cNvSpPr/>
          <p:nvPr/>
        </p:nvSpPr>
        <p:spPr>
          <a:xfrm>
            <a:off x="548640" y="3977640"/>
            <a:ext cx="8046720" cy="365760"/>
          </a:xfrm>
          <a:prstGeom prst="rect">
            <a:avLst/>
          </a:prstGeom>
          <a:noFill/>
          <a:ln/>
        </p:spPr>
        <p:txBody>
          <a:bodyPr wrap="square" lIns="0" tIns="0" rIns="0" bIns="0" rtlCol="0" anchor="ctr"/>
          <a:lstStyle/>
          <a:p>
            <a:pPr indent="0" marL="0">
              <a:buNone/>
            </a:pPr>
            <a:r>
              <a:rPr lang="en-US" sz="1150" dirty="0">
                <a:solidFill>
                  <a:srgbClr val="6B6B66"/>
                </a:solidFill>
                <a:latin typeface="Arial" pitchFamily="34" charset="0"/>
                <a:ea typeface="Arial" pitchFamily="34" charset="-122"/>
                <a:cs typeface="Arial" pitchFamily="34" charset="-120"/>
              </a:rPr>
              <a:t>To follow along on a laptop: Claude Code installed and authenticated, Node 18 or higher, and a clone of the repo.</a:t>
            </a:r>
            <a:endParaRPr lang="en-US" sz="1150" dirty="0"/>
          </a:p>
        </p:txBody>
      </p:sp>
      <p:sp>
        <p:nvSpPr>
          <p:cNvPr id="16" name="Text 14"/>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In 30 minutes, your team does four things.</a:t>
            </a:r>
            <a:endParaRPr lang="en-US" sz="2600" dirty="0"/>
          </a:p>
        </p:txBody>
      </p:sp>
      <p:sp>
        <p:nvSpPr>
          <p:cNvPr id="4" name="Shape 2"/>
          <p:cNvSpPr/>
          <p:nvPr/>
        </p:nvSpPr>
        <p:spPr>
          <a:xfrm>
            <a:off x="548640" y="1371600"/>
            <a:ext cx="3886200" cy="1481328"/>
          </a:xfrm>
          <a:prstGeom prst="rect">
            <a:avLst/>
          </a:prstGeom>
          <a:solidFill>
            <a:srgbClr val="F0EEE6"/>
          </a:solidFill>
          <a:ln/>
        </p:spPr>
      </p:sp>
      <p:sp>
        <p:nvSpPr>
          <p:cNvPr id="5" name="Text 3"/>
          <p:cNvSpPr/>
          <p:nvPr/>
        </p:nvSpPr>
        <p:spPr>
          <a:xfrm>
            <a:off x="749808" y="1536192"/>
            <a:ext cx="457200" cy="457200"/>
          </a:xfrm>
          <a:prstGeom prst="rect">
            <a:avLst/>
          </a:prstGeom>
          <a:noFill/>
          <a:ln/>
        </p:spPr>
        <p:txBody>
          <a:bodyPr wrap="square" lIns="0" tIns="0" rIns="0" bIns="0" rtlCol="0" anchor="ctr"/>
          <a:lstStyle/>
          <a:p>
            <a:pPr indent="0" marL="0">
              <a:buNone/>
            </a:pPr>
            <a:r>
              <a:rPr lang="en-US" sz="2200" dirty="0">
                <a:solidFill>
                  <a:srgbClr val="CC785C"/>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1234440" y="1554480"/>
            <a:ext cx="2971800" cy="1115568"/>
          </a:xfrm>
          <a:prstGeom prst="rect">
            <a:avLst/>
          </a:prstGeom>
          <a:noFill/>
          <a:ln/>
        </p:spPr>
        <p:txBody>
          <a:bodyPr wrap="square" lIns="0" tIns="0" rIns="0" bIns="0" rtlCol="0" anchor="t"/>
          <a:lstStyle/>
          <a:p>
            <a:pPr indent="0" marL="0">
              <a:spcAft>
                <a:spcPts val="400"/>
              </a:spcAft>
              <a:buNone/>
            </a:pPr>
            <a:r>
              <a:rPr lang="en-US" sz="1350" b="1" dirty="0">
                <a:solidFill>
                  <a:srgbClr val="191919"/>
                </a:solidFill>
                <a:latin typeface="Arial" pitchFamily="34" charset="0"/>
                <a:ea typeface="Arial" pitchFamily="34" charset="-122"/>
                <a:cs typeface="Arial" pitchFamily="34" charset="-120"/>
              </a:rPr>
              <a:t>Watch a vanilla machine standardize.</a:t>
            </a:r>
            <a:endParaRPr lang="en-US" sz="1350" dirty="0"/>
          </a:p>
          <a:p>
            <a:pPr indent="0" marL="0">
              <a:spcAft>
                <a:spcPts val="400"/>
              </a:spcAft>
              <a:buNone/>
            </a:pPr>
            <a:r>
              <a:rPr lang="en-US" sz="1200" dirty="0">
                <a:solidFill>
                  <a:srgbClr val="6B6B66"/>
                </a:solidFill>
                <a:latin typeface="Arial" pitchFamily="34" charset="0"/>
                <a:ea typeface="Arial" pitchFamily="34" charset="-122"/>
                <a:cs typeface="Arial" pitchFamily="34" charset="-120"/>
              </a:rPr>
              <a:t>The team's conventions, reviewer, and guardrails arrive in ninety seconds.</a:t>
            </a:r>
            <a:endParaRPr lang="en-US" sz="1350" dirty="0"/>
          </a:p>
        </p:txBody>
      </p:sp>
      <p:sp>
        <p:nvSpPr>
          <p:cNvPr id="7" name="Shape 5"/>
          <p:cNvSpPr/>
          <p:nvPr/>
        </p:nvSpPr>
        <p:spPr>
          <a:xfrm>
            <a:off x="4709160" y="1371600"/>
            <a:ext cx="3886200" cy="1481328"/>
          </a:xfrm>
          <a:prstGeom prst="rect">
            <a:avLst/>
          </a:prstGeom>
          <a:solidFill>
            <a:srgbClr val="F0EEE6"/>
          </a:solidFill>
          <a:ln/>
        </p:spPr>
      </p:sp>
      <p:sp>
        <p:nvSpPr>
          <p:cNvPr id="8" name="Text 6"/>
          <p:cNvSpPr/>
          <p:nvPr/>
        </p:nvSpPr>
        <p:spPr>
          <a:xfrm>
            <a:off x="4910328" y="1536192"/>
            <a:ext cx="457200" cy="457200"/>
          </a:xfrm>
          <a:prstGeom prst="rect">
            <a:avLst/>
          </a:prstGeom>
          <a:noFill/>
          <a:ln/>
        </p:spPr>
        <p:txBody>
          <a:bodyPr wrap="square" lIns="0" tIns="0" rIns="0" bIns="0" rtlCol="0" anchor="ctr"/>
          <a:lstStyle/>
          <a:p>
            <a:pPr indent="0" marL="0">
              <a:buNone/>
            </a:pPr>
            <a:r>
              <a:rPr lang="en-US" sz="2200" dirty="0">
                <a:solidFill>
                  <a:srgbClr val="CC785C"/>
                </a:solidFill>
                <a:latin typeface="Georgia" pitchFamily="34" charset="0"/>
                <a:ea typeface="Georgia" pitchFamily="34" charset="-122"/>
                <a:cs typeface="Georgia" pitchFamily="34" charset="-120"/>
              </a:rPr>
              <a:t>2</a:t>
            </a:r>
            <a:endParaRPr lang="en-US" sz="2200" dirty="0"/>
          </a:p>
        </p:txBody>
      </p:sp>
      <p:sp>
        <p:nvSpPr>
          <p:cNvPr id="9" name="Text 7"/>
          <p:cNvSpPr/>
          <p:nvPr/>
        </p:nvSpPr>
        <p:spPr>
          <a:xfrm>
            <a:off x="5394960" y="1554480"/>
            <a:ext cx="2971800" cy="1115568"/>
          </a:xfrm>
          <a:prstGeom prst="rect">
            <a:avLst/>
          </a:prstGeom>
          <a:noFill/>
          <a:ln/>
        </p:spPr>
        <p:txBody>
          <a:bodyPr wrap="square" lIns="0" tIns="0" rIns="0" bIns="0" rtlCol="0" anchor="t"/>
          <a:lstStyle/>
          <a:p>
            <a:pPr indent="0" marL="0">
              <a:spcAft>
                <a:spcPts val="400"/>
              </a:spcAft>
              <a:buNone/>
            </a:pPr>
            <a:r>
              <a:rPr lang="en-US" sz="1350" b="1" dirty="0">
                <a:solidFill>
                  <a:srgbClr val="191919"/>
                </a:solidFill>
                <a:latin typeface="Arial" pitchFamily="34" charset="0"/>
                <a:ea typeface="Arial" pitchFamily="34" charset="-122"/>
                <a:cs typeface="Arial" pitchFamily="34" charset="-120"/>
              </a:rPr>
              <a:t>See your standards do the reviewing.</a:t>
            </a:r>
            <a:endParaRPr lang="en-US" sz="1350" dirty="0"/>
          </a:p>
          <a:p>
            <a:pPr indent="0" marL="0">
              <a:spcAft>
                <a:spcPts val="400"/>
              </a:spcAft>
              <a:buNone/>
            </a:pPr>
            <a:r>
              <a:rPr lang="en-US" sz="1200" dirty="0">
                <a:solidFill>
                  <a:srgbClr val="6B6B66"/>
                </a:solidFill>
                <a:latin typeface="Arial" pitchFamily="34" charset="0"/>
                <a:ea typeface="Arial" pitchFamily="34" charset="-122"/>
                <a:cs typeface="Arial" pitchFamily="34" charset="-120"/>
              </a:rPr>
              <a:t>Findings cite written rule numbers, not generic AI taste.</a:t>
            </a:r>
            <a:endParaRPr lang="en-US" sz="1350" dirty="0"/>
          </a:p>
        </p:txBody>
      </p:sp>
      <p:sp>
        <p:nvSpPr>
          <p:cNvPr id="10" name="Shape 8"/>
          <p:cNvSpPr/>
          <p:nvPr/>
        </p:nvSpPr>
        <p:spPr>
          <a:xfrm>
            <a:off x="548640" y="3081528"/>
            <a:ext cx="3886200" cy="1481328"/>
          </a:xfrm>
          <a:prstGeom prst="rect">
            <a:avLst/>
          </a:prstGeom>
          <a:solidFill>
            <a:srgbClr val="F0EEE6"/>
          </a:solidFill>
          <a:ln/>
        </p:spPr>
      </p:sp>
      <p:sp>
        <p:nvSpPr>
          <p:cNvPr id="11" name="Text 9"/>
          <p:cNvSpPr/>
          <p:nvPr/>
        </p:nvSpPr>
        <p:spPr>
          <a:xfrm>
            <a:off x="749808" y="3246120"/>
            <a:ext cx="457200" cy="457200"/>
          </a:xfrm>
          <a:prstGeom prst="rect">
            <a:avLst/>
          </a:prstGeom>
          <a:noFill/>
          <a:ln/>
        </p:spPr>
        <p:txBody>
          <a:bodyPr wrap="square" lIns="0" tIns="0" rIns="0" bIns="0" rtlCol="0" anchor="ctr"/>
          <a:lstStyle/>
          <a:p>
            <a:pPr indent="0" marL="0">
              <a:buNone/>
            </a:pPr>
            <a:r>
              <a:rPr lang="en-US" sz="2200" dirty="0">
                <a:solidFill>
                  <a:srgbClr val="CC785C"/>
                </a:solidFill>
                <a:latin typeface="Georgia" pitchFamily="34" charset="0"/>
                <a:ea typeface="Georgia" pitchFamily="34" charset="-122"/>
                <a:cs typeface="Georgia" pitchFamily="34" charset="-120"/>
              </a:rPr>
              <a:t>3</a:t>
            </a:r>
            <a:endParaRPr lang="en-US" sz="2200" dirty="0"/>
          </a:p>
        </p:txBody>
      </p:sp>
      <p:sp>
        <p:nvSpPr>
          <p:cNvPr id="12" name="Text 10"/>
          <p:cNvSpPr/>
          <p:nvPr/>
        </p:nvSpPr>
        <p:spPr>
          <a:xfrm>
            <a:off x="1234440" y="3264408"/>
            <a:ext cx="2971800" cy="1115568"/>
          </a:xfrm>
          <a:prstGeom prst="rect">
            <a:avLst/>
          </a:prstGeom>
          <a:noFill/>
          <a:ln/>
        </p:spPr>
        <p:txBody>
          <a:bodyPr wrap="square" lIns="0" tIns="0" rIns="0" bIns="0" rtlCol="0" anchor="t"/>
          <a:lstStyle/>
          <a:p>
            <a:pPr indent="0" marL="0">
              <a:spcAft>
                <a:spcPts val="400"/>
              </a:spcAft>
              <a:buNone/>
            </a:pPr>
            <a:r>
              <a:rPr lang="en-US" sz="1350" b="1" dirty="0">
                <a:solidFill>
                  <a:srgbClr val="191919"/>
                </a:solidFill>
                <a:latin typeface="Arial" pitchFamily="34" charset="0"/>
                <a:ea typeface="Arial" pitchFamily="34" charset="-122"/>
                <a:cs typeface="Arial" pitchFamily="34" charset="-120"/>
              </a:rPr>
              <a:t>Trigger a deny and read its receipt.</a:t>
            </a:r>
            <a:endParaRPr lang="en-US" sz="1350" dirty="0"/>
          </a:p>
          <a:p>
            <a:pPr indent="0" marL="0">
              <a:spcAft>
                <a:spcPts val="400"/>
              </a:spcAft>
              <a:buNone/>
            </a:pPr>
            <a:r>
              <a:rPr lang="en-US" sz="1200" dirty="0">
                <a:solidFill>
                  <a:srgbClr val="6B6B66"/>
                </a:solidFill>
                <a:latin typeface="Arial" pitchFamily="34" charset="0"/>
                <a:ea typeface="Arial" pitchFamily="34" charset="-122"/>
                <a:cs typeface="Arial" pitchFamily="34" charset="-120"/>
              </a:rPr>
              <a:t>A process gate blocks the command and the audit trail shows it.</a:t>
            </a:r>
            <a:endParaRPr lang="en-US" sz="1350" dirty="0"/>
          </a:p>
        </p:txBody>
      </p:sp>
      <p:sp>
        <p:nvSpPr>
          <p:cNvPr id="13" name="Shape 11"/>
          <p:cNvSpPr/>
          <p:nvPr/>
        </p:nvSpPr>
        <p:spPr>
          <a:xfrm>
            <a:off x="4709160" y="3081528"/>
            <a:ext cx="3886200" cy="1481328"/>
          </a:xfrm>
          <a:prstGeom prst="rect">
            <a:avLst/>
          </a:prstGeom>
          <a:solidFill>
            <a:srgbClr val="F0EEE6"/>
          </a:solidFill>
          <a:ln/>
        </p:spPr>
      </p:sp>
      <p:sp>
        <p:nvSpPr>
          <p:cNvPr id="14" name="Text 12"/>
          <p:cNvSpPr/>
          <p:nvPr/>
        </p:nvSpPr>
        <p:spPr>
          <a:xfrm>
            <a:off x="4910328" y="3246120"/>
            <a:ext cx="457200" cy="457200"/>
          </a:xfrm>
          <a:prstGeom prst="rect">
            <a:avLst/>
          </a:prstGeom>
          <a:noFill/>
          <a:ln/>
        </p:spPr>
        <p:txBody>
          <a:bodyPr wrap="square" lIns="0" tIns="0" rIns="0" bIns="0" rtlCol="0" anchor="ctr"/>
          <a:lstStyle/>
          <a:p>
            <a:pPr indent="0" marL="0">
              <a:buNone/>
            </a:pPr>
            <a:r>
              <a:rPr lang="en-US" sz="2200" dirty="0">
                <a:solidFill>
                  <a:srgbClr val="CC785C"/>
                </a:solidFill>
                <a:latin typeface="Georgia" pitchFamily="34" charset="0"/>
                <a:ea typeface="Georgia" pitchFamily="34" charset="-122"/>
                <a:cs typeface="Georgia" pitchFamily="34" charset="-120"/>
              </a:rPr>
              <a:t>4</a:t>
            </a:r>
            <a:endParaRPr lang="en-US" sz="2200" dirty="0"/>
          </a:p>
        </p:txBody>
      </p:sp>
      <p:sp>
        <p:nvSpPr>
          <p:cNvPr id="15" name="Text 13"/>
          <p:cNvSpPr/>
          <p:nvPr/>
        </p:nvSpPr>
        <p:spPr>
          <a:xfrm>
            <a:off x="5394960" y="3264408"/>
            <a:ext cx="2971800" cy="1115568"/>
          </a:xfrm>
          <a:prstGeom prst="rect">
            <a:avLst/>
          </a:prstGeom>
          <a:noFill/>
          <a:ln/>
        </p:spPr>
        <p:txBody>
          <a:bodyPr wrap="square" lIns="0" tIns="0" rIns="0" bIns="0" rtlCol="0" anchor="t"/>
          <a:lstStyle/>
          <a:p>
            <a:pPr indent="0" marL="0">
              <a:spcAft>
                <a:spcPts val="400"/>
              </a:spcAft>
              <a:buNone/>
            </a:pPr>
            <a:r>
              <a:rPr lang="en-US" sz="1350" b="1" dirty="0">
                <a:solidFill>
                  <a:srgbClr val="191919"/>
                </a:solidFill>
                <a:latin typeface="Arial" pitchFamily="34" charset="0"/>
                <a:ea typeface="Arial" pitchFamily="34" charset="-122"/>
                <a:cs typeface="Arial" pitchFamily="34" charset="-120"/>
              </a:rPr>
              <a:t>Ship a policy rule to the fleet.</a:t>
            </a:r>
            <a:endParaRPr lang="en-US" sz="1350" dirty="0"/>
          </a:p>
          <a:p>
            <a:pPr indent="0" marL="0">
              <a:spcAft>
                <a:spcPts val="400"/>
              </a:spcAft>
              <a:buNone/>
            </a:pPr>
            <a:r>
              <a:rPr lang="en-US" sz="1200" dirty="0">
                <a:solidFill>
                  <a:srgbClr val="6B6B66"/>
                </a:solidFill>
                <a:latin typeface="Arial" pitchFamily="34" charset="0"/>
                <a:ea typeface="Arial" pitchFamily="34" charset="-122"/>
                <a:cs typeface="Arial" pitchFamily="34" charset="-120"/>
              </a:rPr>
              <a:t>Your rule, proven offline in seconds, rolled out with one version bump.</a:t>
            </a:r>
            <a:endParaRPr lang="en-US" sz="1350" dirty="0"/>
          </a:p>
        </p:txBody>
      </p:sp>
      <p:sp>
        <p:nvSpPr>
          <p:cNvPr id="16" name="Text 14"/>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1234440"/>
            <a:ext cx="36576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THE PROBLEM</a:t>
            </a:r>
            <a:endParaRPr lang="en-US" sz="1050" dirty="0"/>
          </a:p>
        </p:txBody>
      </p:sp>
      <p:sp>
        <p:nvSpPr>
          <p:cNvPr id="3" name="Text 1"/>
          <p:cNvSpPr/>
          <p:nvPr/>
        </p:nvSpPr>
        <p:spPr>
          <a:xfrm>
            <a:off x="548640" y="1600200"/>
            <a:ext cx="7955280" cy="1554480"/>
          </a:xfrm>
          <a:prstGeom prst="rect">
            <a:avLst/>
          </a:prstGeom>
          <a:noFill/>
          <a:ln/>
        </p:spPr>
        <p:txBody>
          <a:bodyPr wrap="square" lIns="0" tIns="0" rIns="0" bIns="0" rtlCol="0" anchor="t"/>
          <a:lstStyle/>
          <a:p>
            <a:pPr indent="0" marL="0">
              <a:buNone/>
            </a:pPr>
            <a:r>
              <a:rPr lang="en-US" sz="3000" dirty="0">
                <a:solidFill>
                  <a:srgbClr val="191919"/>
                </a:solidFill>
                <a:latin typeface="Georgia" pitchFamily="34" charset="0"/>
                <a:ea typeface="Georgia" pitchFamily="34" charset="-122"/>
                <a:cs typeface="Georgia" pitchFamily="34" charset="-120"/>
              </a:rPr>
              <a:t>200 engineers. 200 copies of a .claude/ folder. Zero versioning.</a:t>
            </a:r>
            <a:endParaRPr lang="en-US" sz="3000" dirty="0"/>
          </a:p>
        </p:txBody>
      </p:sp>
      <p:sp>
        <p:nvSpPr>
          <p:cNvPr id="4" name="Text 2"/>
          <p:cNvSpPr/>
          <p:nvPr/>
        </p:nvSpPr>
        <p:spPr>
          <a:xfrm>
            <a:off x="548640" y="3291840"/>
            <a:ext cx="7315200" cy="411480"/>
          </a:xfrm>
          <a:prstGeom prst="rect">
            <a:avLst/>
          </a:prstGeom>
          <a:noFill/>
          <a:ln/>
        </p:spPr>
        <p:txBody>
          <a:bodyPr wrap="square" lIns="0" tIns="0" rIns="0" bIns="0" rtlCol="0" anchor="ctr"/>
          <a:lstStyle/>
          <a:p>
            <a:pPr indent="0" marL="0">
              <a:buNone/>
            </a:pPr>
            <a:r>
              <a:rPr lang="en-US" sz="1500" dirty="0">
                <a:solidFill>
                  <a:srgbClr val="6B6B66"/>
                </a:solidFill>
                <a:latin typeface="Arial" pitchFamily="34" charset="0"/>
                <a:ea typeface="Arial" pitchFamily="34" charset="-122"/>
                <a:cs typeface="Arial" pitchFamily="34" charset="-120"/>
              </a:rPr>
              <a:t>What stalls adoption isn't capability. It's rollout.</a:t>
            </a:r>
            <a:endParaRPr lang="en-US" sz="1500" dirty="0"/>
          </a:p>
        </p:txBody>
      </p:sp>
      <p:sp>
        <p:nvSpPr>
          <p:cNvPr id="5" name="Text 3"/>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Principle 1. The plugin is the unit of rollout.</a:t>
            </a:r>
            <a:endParaRPr lang="en-US" sz="2600" dirty="0"/>
          </a:p>
        </p:txBody>
      </p:sp>
      <p:sp>
        <p:nvSpPr>
          <p:cNvPr id="4" name="Shape 2"/>
          <p:cNvSpPr/>
          <p:nvPr/>
        </p:nvSpPr>
        <p:spPr>
          <a:xfrm>
            <a:off x="548640" y="1600200"/>
            <a:ext cx="2194560" cy="1417320"/>
          </a:xfrm>
          <a:prstGeom prst="rect">
            <a:avLst/>
          </a:prstGeom>
          <a:solidFill>
            <a:srgbClr val="F0EEE6"/>
          </a:solidFill>
          <a:ln w="9525">
            <a:solidFill>
              <a:srgbClr val="D4A27F"/>
            </a:solidFill>
            <a:prstDash val="solid"/>
          </a:ln>
        </p:spPr>
      </p:sp>
      <p:sp>
        <p:nvSpPr>
          <p:cNvPr id="5" name="Text 3"/>
          <p:cNvSpPr/>
          <p:nvPr/>
        </p:nvSpPr>
        <p:spPr>
          <a:xfrm>
            <a:off x="731520" y="1746504"/>
            <a:ext cx="1828800" cy="292608"/>
          </a:xfrm>
          <a:prstGeom prst="rect">
            <a:avLst/>
          </a:prstGeom>
          <a:noFill/>
          <a:ln/>
        </p:spPr>
        <p:txBody>
          <a:bodyPr wrap="square" lIns="0" tIns="0" rIns="0" bIns="0" rtlCol="0" anchor="ctr"/>
          <a:lstStyle/>
          <a:p>
            <a:pPr indent="0" marL="0">
              <a:buNone/>
            </a:pPr>
            <a:r>
              <a:rPr lang="en-US" sz="1350" b="1" dirty="0">
                <a:solidFill>
                  <a:srgbClr val="191919"/>
                </a:solidFill>
                <a:latin typeface="Arial" pitchFamily="34" charset="0"/>
                <a:ea typeface="Arial" pitchFamily="34" charset="-122"/>
                <a:cs typeface="Arial" pitchFamily="34" charset="-120"/>
              </a:rPr>
              <a:t>marketplace repo</a:t>
            </a:r>
            <a:endParaRPr lang="en-US" sz="1350" dirty="0"/>
          </a:p>
        </p:txBody>
      </p:sp>
      <p:sp>
        <p:nvSpPr>
          <p:cNvPr id="6" name="Text 4"/>
          <p:cNvSpPr/>
          <p:nvPr/>
        </p:nvSpPr>
        <p:spPr>
          <a:xfrm>
            <a:off x="731520" y="2103120"/>
            <a:ext cx="1828800" cy="777240"/>
          </a:xfrm>
          <a:prstGeom prst="rect">
            <a:avLst/>
          </a:prstGeom>
          <a:noFill/>
          <a:ln/>
        </p:spPr>
        <p:txBody>
          <a:bodyPr wrap="square" lIns="0" tIns="0" rIns="0" bIns="0" rtlCol="0" anchor="t"/>
          <a:lstStyle/>
          <a:p>
            <a:pPr indent="0" marL="0">
              <a:buNone/>
            </a:pPr>
            <a:r>
              <a:rPr lang="en-US" sz="1050" dirty="0">
                <a:solidFill>
                  <a:srgbClr val="6B6B66"/>
                </a:solidFill>
                <a:latin typeface="Consolas" pitchFamily="34" charset="0"/>
                <a:ea typeface="Consolas" pitchFamily="34" charset="-122"/>
                <a:cs typeface="Consolas" pitchFamily="34" charset="-120"/>
              </a:rPr>
              <a:t>.claude-plugin/</a:t>
            </a:r>
            <a:endParaRPr lang="en-US" sz="1050" dirty="0"/>
          </a:p>
          <a:p>
            <a:pPr indent="0" marL="0">
              <a:buNone/>
            </a:pPr>
            <a:r>
              <a:rPr lang="en-US" sz="1050" dirty="0">
                <a:solidFill>
                  <a:srgbClr val="6B6B66"/>
                </a:solidFill>
                <a:latin typeface="Consolas" pitchFamily="34" charset="0"/>
                <a:ea typeface="Consolas" pitchFamily="34" charset="-122"/>
                <a:cs typeface="Consolas" pitchFamily="34" charset="-120"/>
              </a:rPr>
              <a:t>marketplace.json</a:t>
            </a:r>
            <a:endParaRPr lang="en-US" sz="1050" dirty="0"/>
          </a:p>
        </p:txBody>
      </p:sp>
      <p:sp>
        <p:nvSpPr>
          <p:cNvPr id="7" name="Text 5"/>
          <p:cNvSpPr/>
          <p:nvPr/>
        </p:nvSpPr>
        <p:spPr>
          <a:xfrm>
            <a:off x="2862072" y="2080260"/>
            <a:ext cx="402336" cy="457200"/>
          </a:xfrm>
          <a:prstGeom prst="rect">
            <a:avLst/>
          </a:prstGeom>
          <a:noFill/>
          <a:ln/>
        </p:spPr>
        <p:txBody>
          <a:bodyPr wrap="square" lIns="0" tIns="0" rIns="0" bIns="0" rtlCol="0" anchor="ctr"/>
          <a:lstStyle/>
          <a:p>
            <a:pPr algn="ctr" indent="0" marL="0">
              <a:buNone/>
            </a:pPr>
            <a:r>
              <a:rPr lang="en-US" sz="1800" dirty="0">
                <a:solidFill>
                  <a:srgbClr val="CC785C"/>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3383280" y="1600200"/>
            <a:ext cx="2194560" cy="1417320"/>
          </a:xfrm>
          <a:prstGeom prst="rect">
            <a:avLst/>
          </a:prstGeom>
          <a:solidFill>
            <a:srgbClr val="F0EEE6"/>
          </a:solidFill>
          <a:ln w="15875">
            <a:solidFill>
              <a:srgbClr val="CC785C"/>
            </a:solidFill>
            <a:prstDash val="solid"/>
          </a:ln>
        </p:spPr>
      </p:sp>
      <p:sp>
        <p:nvSpPr>
          <p:cNvPr id="9" name="Text 7"/>
          <p:cNvSpPr/>
          <p:nvPr/>
        </p:nvSpPr>
        <p:spPr>
          <a:xfrm>
            <a:off x="3566160" y="1746504"/>
            <a:ext cx="1828800" cy="292608"/>
          </a:xfrm>
          <a:prstGeom prst="rect">
            <a:avLst/>
          </a:prstGeom>
          <a:noFill/>
          <a:ln/>
        </p:spPr>
        <p:txBody>
          <a:bodyPr wrap="square" lIns="0" tIns="0" rIns="0" bIns="0" rtlCol="0" anchor="ctr"/>
          <a:lstStyle/>
          <a:p>
            <a:pPr indent="0" marL="0">
              <a:buNone/>
            </a:pPr>
            <a:r>
              <a:rPr lang="en-US" sz="1350" b="1" dirty="0">
                <a:solidFill>
                  <a:srgbClr val="191919"/>
                </a:solidFill>
                <a:latin typeface="Arial" pitchFamily="34" charset="0"/>
                <a:ea typeface="Arial" pitchFamily="34" charset="-122"/>
                <a:cs typeface="Arial" pitchFamily="34" charset="-120"/>
              </a:rPr>
              <a:t>plugin</a:t>
            </a:r>
            <a:endParaRPr lang="en-US" sz="1350" dirty="0"/>
          </a:p>
        </p:txBody>
      </p:sp>
      <p:sp>
        <p:nvSpPr>
          <p:cNvPr id="10" name="Text 8"/>
          <p:cNvSpPr/>
          <p:nvPr/>
        </p:nvSpPr>
        <p:spPr>
          <a:xfrm>
            <a:off x="3566160" y="2103120"/>
            <a:ext cx="1828800" cy="777240"/>
          </a:xfrm>
          <a:prstGeom prst="rect">
            <a:avLst/>
          </a:prstGeom>
          <a:noFill/>
          <a:ln/>
        </p:spPr>
        <p:txBody>
          <a:bodyPr wrap="square" lIns="0" tIns="0" rIns="0" bIns="0" rtlCol="0" anchor="t"/>
          <a:lstStyle/>
          <a:p>
            <a:pPr indent="0" marL="0">
              <a:buNone/>
            </a:pPr>
            <a:r>
              <a:rPr lang="en-US" sz="1050" dirty="0">
                <a:solidFill>
                  <a:srgbClr val="6B6B66"/>
                </a:solidFill>
                <a:latin typeface="Consolas" pitchFamily="34" charset="0"/>
                <a:ea typeface="Consolas" pitchFamily="34" charset="-122"/>
                <a:cs typeface="Consolas" pitchFamily="34" charset="-120"/>
              </a:rPr>
              <a:t>manifest</a:t>
            </a:r>
            <a:endParaRPr lang="en-US" sz="1050" dirty="0"/>
          </a:p>
          <a:p>
            <a:pPr indent="0" marL="0">
              <a:buNone/>
            </a:pPr>
            <a:r>
              <a:rPr lang="en-US" sz="1050" dirty="0">
                <a:solidFill>
                  <a:srgbClr val="6B6B66"/>
                </a:solidFill>
                <a:latin typeface="Consolas" pitchFamily="34" charset="0"/>
                <a:ea typeface="Consolas" pitchFamily="34" charset="-122"/>
                <a:cs typeface="Consolas" pitchFamily="34" charset="-120"/>
              </a:rPr>
              <a:t>skills/  agents/  hooks/</a:t>
            </a:r>
            <a:endParaRPr lang="en-US" sz="1050" dirty="0"/>
          </a:p>
        </p:txBody>
      </p:sp>
      <p:sp>
        <p:nvSpPr>
          <p:cNvPr id="11" name="Text 9"/>
          <p:cNvSpPr/>
          <p:nvPr/>
        </p:nvSpPr>
        <p:spPr>
          <a:xfrm>
            <a:off x="5696712" y="2080260"/>
            <a:ext cx="402336" cy="457200"/>
          </a:xfrm>
          <a:prstGeom prst="rect">
            <a:avLst/>
          </a:prstGeom>
          <a:noFill/>
          <a:ln/>
        </p:spPr>
        <p:txBody>
          <a:bodyPr wrap="square" lIns="0" tIns="0" rIns="0" bIns="0" rtlCol="0" anchor="ctr"/>
          <a:lstStyle/>
          <a:p>
            <a:pPr algn="ctr" indent="0" marL="0">
              <a:buNone/>
            </a:pPr>
            <a:r>
              <a:rPr lang="en-US" sz="1800" dirty="0">
                <a:solidFill>
                  <a:srgbClr val="CC785C"/>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6217920" y="1600200"/>
            <a:ext cx="2194560" cy="1417320"/>
          </a:xfrm>
          <a:prstGeom prst="rect">
            <a:avLst/>
          </a:prstGeom>
          <a:solidFill>
            <a:srgbClr val="F0EEE6"/>
          </a:solidFill>
          <a:ln w="9525">
            <a:solidFill>
              <a:srgbClr val="D4A27F"/>
            </a:solidFill>
            <a:prstDash val="solid"/>
          </a:ln>
        </p:spPr>
      </p:sp>
      <p:sp>
        <p:nvSpPr>
          <p:cNvPr id="13" name="Text 11"/>
          <p:cNvSpPr/>
          <p:nvPr/>
        </p:nvSpPr>
        <p:spPr>
          <a:xfrm>
            <a:off x="6400800" y="1746504"/>
            <a:ext cx="1828800" cy="292608"/>
          </a:xfrm>
          <a:prstGeom prst="rect">
            <a:avLst/>
          </a:prstGeom>
          <a:noFill/>
          <a:ln/>
        </p:spPr>
        <p:txBody>
          <a:bodyPr wrap="square" lIns="0" tIns="0" rIns="0" bIns="0" rtlCol="0" anchor="ctr"/>
          <a:lstStyle/>
          <a:p>
            <a:pPr indent="0" marL="0">
              <a:buNone/>
            </a:pPr>
            <a:r>
              <a:rPr lang="en-US" sz="1350" b="1" dirty="0">
                <a:solidFill>
                  <a:srgbClr val="191919"/>
                </a:solidFill>
                <a:latin typeface="Arial" pitchFamily="34" charset="0"/>
                <a:ea typeface="Arial" pitchFamily="34" charset="-122"/>
                <a:cs typeface="Arial" pitchFamily="34" charset="-120"/>
              </a:rPr>
              <a:t>engineer's machine</a:t>
            </a:r>
            <a:endParaRPr lang="en-US" sz="1350" dirty="0"/>
          </a:p>
        </p:txBody>
      </p:sp>
      <p:sp>
        <p:nvSpPr>
          <p:cNvPr id="14" name="Text 12"/>
          <p:cNvSpPr/>
          <p:nvPr/>
        </p:nvSpPr>
        <p:spPr>
          <a:xfrm>
            <a:off x="6400800" y="2103120"/>
            <a:ext cx="1828800" cy="777240"/>
          </a:xfrm>
          <a:prstGeom prst="rect">
            <a:avLst/>
          </a:prstGeom>
          <a:noFill/>
          <a:ln/>
        </p:spPr>
        <p:txBody>
          <a:bodyPr wrap="square" lIns="0" tIns="0" rIns="0" bIns="0" rtlCol="0" anchor="t"/>
          <a:lstStyle/>
          <a:p>
            <a:pPr indent="0" marL="0">
              <a:buNone/>
            </a:pPr>
            <a:r>
              <a:rPr lang="en-US" sz="1050" dirty="0">
                <a:solidFill>
                  <a:srgbClr val="6B6B66"/>
                </a:solidFill>
                <a:latin typeface="Consolas" pitchFamily="34" charset="0"/>
                <a:ea typeface="Consolas" pitchFamily="34" charset="-122"/>
                <a:cs typeface="Consolas" pitchFamily="34" charset="-120"/>
              </a:rPr>
              <a:t>installed, version-pinned,</a:t>
            </a:r>
            <a:endParaRPr lang="en-US" sz="1050" dirty="0"/>
          </a:p>
          <a:p>
            <a:pPr indent="0" marL="0">
              <a:buNone/>
            </a:pPr>
            <a:r>
              <a:rPr lang="en-US" sz="1050" dirty="0">
                <a:solidFill>
                  <a:srgbClr val="6B6B66"/>
                </a:solidFill>
                <a:latin typeface="Consolas" pitchFamily="34" charset="0"/>
                <a:ea typeface="Consolas" pitchFamily="34" charset="-122"/>
                <a:cs typeface="Consolas" pitchFamily="34" charset="-120"/>
              </a:rPr>
              <a:t>namespaced</a:t>
            </a:r>
            <a:endParaRPr lang="en-US" sz="1050" dirty="0"/>
          </a:p>
        </p:txBody>
      </p:sp>
      <p:sp>
        <p:nvSpPr>
          <p:cNvPr id="15" name="Shape 13"/>
          <p:cNvSpPr/>
          <p:nvPr/>
        </p:nvSpPr>
        <p:spPr>
          <a:xfrm>
            <a:off x="548640" y="3383280"/>
            <a:ext cx="8046720" cy="868680"/>
          </a:xfrm>
          <a:prstGeom prst="rect">
            <a:avLst/>
          </a:prstGeom>
          <a:solidFill>
            <a:srgbClr val="F0EEE6"/>
          </a:solidFill>
          <a:ln/>
        </p:spPr>
      </p:sp>
      <p:sp>
        <p:nvSpPr>
          <p:cNvPr id="16" name="Text 14"/>
          <p:cNvSpPr/>
          <p:nvPr/>
        </p:nvSpPr>
        <p:spPr>
          <a:xfrm>
            <a:off x="822960" y="3493008"/>
            <a:ext cx="7498080" cy="658368"/>
          </a:xfrm>
          <a:prstGeom prst="rect">
            <a:avLst/>
          </a:prstGeom>
          <a:noFill/>
          <a:ln/>
        </p:spPr>
        <p:txBody>
          <a:bodyPr wrap="square" lIns="0" tIns="0" rIns="0" bIns="0" rtlCol="0" anchor="t"/>
          <a:lstStyle/>
          <a:p>
            <a:pPr indent="0" marL="0">
              <a:spcAft>
                <a:spcPts val="400"/>
              </a:spcAft>
              <a:buNone/>
            </a:pPr>
            <a:r>
              <a:rPr lang="en-US" sz="1250" dirty="0">
                <a:solidFill>
                  <a:srgbClr val="191919"/>
                </a:solidFill>
                <a:latin typeface="Consolas" pitchFamily="34" charset="0"/>
                <a:ea typeface="Consolas" pitchFamily="34" charset="-122"/>
                <a:cs typeface="Consolas" pitchFamily="34" charset="-120"/>
              </a:rPr>
              <a:t>/plugin marketplace add owner/repo</a:t>
            </a:r>
            <a:endParaRPr lang="en-US" sz="1250" dirty="0"/>
          </a:p>
          <a:p>
            <a:pPr indent="0" marL="0">
              <a:spcAft>
                <a:spcPts val="400"/>
              </a:spcAft>
              <a:buNone/>
            </a:pPr>
            <a:r>
              <a:rPr lang="en-US" sz="1250" dirty="0">
                <a:solidFill>
                  <a:srgbClr val="191919"/>
                </a:solidFill>
                <a:latin typeface="Consolas" pitchFamily="34" charset="0"/>
                <a:ea typeface="Consolas" pitchFamily="34" charset="-122"/>
                <a:cs typeface="Consolas" pitchFamily="34" charset="-120"/>
              </a:rPr>
              <a:t>/plugin install data-platform-pack@platform-tools</a:t>
            </a:r>
            <a:endParaRPr lang="en-US" sz="1250" dirty="0"/>
          </a:p>
        </p:txBody>
      </p:sp>
      <p:sp>
        <p:nvSpPr>
          <p:cNvPr id="17" name="Text 15"/>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1005840"/>
          </a:xfrm>
          <a:prstGeom prst="rect">
            <a:avLst/>
          </a:prstGeom>
          <a:noFill/>
          <a:ln/>
        </p:spPr>
        <p:txBody>
          <a:bodyPr wrap="square" lIns="0" tIns="0" rIns="0" bIns="0" rtlCol="0" anchor="t"/>
          <a:lstStyle/>
          <a:p>
            <a:pPr algn="l" indent="0" marL="0">
              <a:buNone/>
            </a:pPr>
            <a:r>
              <a:rPr lang="en-US" sz="2400" dirty="0">
                <a:solidFill>
                  <a:srgbClr val="191919"/>
                </a:solidFill>
                <a:latin typeface="Georgia" pitchFamily="34" charset="0"/>
                <a:ea typeface="Georgia" pitchFamily="34" charset="-122"/>
                <a:cs typeface="Georgia" pitchFamily="34" charset="-120"/>
              </a:rPr>
              <a:t>Principle 2. An instruction can be ignored.</a:t>
            </a:r>
            <a:endParaRPr lang="en-US" sz="2400" dirty="0"/>
          </a:p>
          <a:p>
            <a:pPr algn="l" indent="0" marL="0">
              <a:buNone/>
            </a:pPr>
            <a:r>
              <a:rPr lang="en-US" sz="2400" dirty="0">
                <a:solidFill>
                  <a:srgbClr val="191919"/>
                </a:solidFill>
                <a:latin typeface="Georgia" pitchFamily="34" charset="0"/>
                <a:ea typeface="Georgia" pitchFamily="34" charset="-122"/>
                <a:cs typeface="Georgia" pitchFamily="34" charset="-120"/>
              </a:rPr>
              <a:t>A process gate can't.</a:t>
            </a:r>
            <a:endParaRPr lang="en-US" sz="2400" dirty="0"/>
          </a:p>
        </p:txBody>
      </p:sp>
      <p:sp>
        <p:nvSpPr>
          <p:cNvPr id="4" name="Shape 2"/>
          <p:cNvSpPr/>
          <p:nvPr/>
        </p:nvSpPr>
        <p:spPr>
          <a:xfrm>
            <a:off x="548640" y="2103120"/>
            <a:ext cx="1737360" cy="685800"/>
          </a:xfrm>
          <a:prstGeom prst="rect">
            <a:avLst/>
          </a:prstGeom>
          <a:solidFill>
            <a:srgbClr val="F0EEE6"/>
          </a:solidFill>
          <a:ln/>
        </p:spPr>
      </p:sp>
      <p:sp>
        <p:nvSpPr>
          <p:cNvPr id="5" name="Text 3"/>
          <p:cNvSpPr/>
          <p:nvPr/>
        </p:nvSpPr>
        <p:spPr>
          <a:xfrm>
            <a:off x="548640" y="2103120"/>
            <a:ext cx="1737360" cy="685800"/>
          </a:xfrm>
          <a:prstGeom prst="rect">
            <a:avLst/>
          </a:prstGeom>
          <a:noFill/>
          <a:ln/>
        </p:spPr>
        <p:txBody>
          <a:bodyPr wrap="square" lIns="0" tIns="0" rIns="0" bIns="0" rtlCol="0" anchor="ctr"/>
          <a:lstStyle/>
          <a:p>
            <a:pPr algn="ctr" indent="0" marL="0">
              <a:buNone/>
            </a:pPr>
            <a:r>
              <a:rPr lang="en-US" sz="1200" dirty="0">
                <a:solidFill>
                  <a:srgbClr val="191919"/>
                </a:solidFill>
                <a:latin typeface="Consolas" pitchFamily="34" charset="0"/>
                <a:ea typeface="Consolas" pitchFamily="34" charset="-122"/>
                <a:cs typeface="Consolas" pitchFamily="34" charset="-120"/>
              </a:rPr>
              <a:t>tool call</a:t>
            </a:r>
            <a:endParaRPr lang="en-US" sz="1200" dirty="0"/>
          </a:p>
        </p:txBody>
      </p:sp>
      <p:sp>
        <p:nvSpPr>
          <p:cNvPr id="6" name="Shape 4"/>
          <p:cNvSpPr/>
          <p:nvPr/>
        </p:nvSpPr>
        <p:spPr>
          <a:xfrm>
            <a:off x="2286000" y="2446020"/>
            <a:ext cx="594360" cy="0"/>
          </a:xfrm>
          <a:prstGeom prst="line">
            <a:avLst/>
          </a:prstGeom>
          <a:noFill/>
          <a:ln w="19050">
            <a:solidFill>
              <a:srgbClr val="CC785C"/>
            </a:solidFill>
            <a:prstDash val="solid"/>
            <a:tailEnd type="triangle"/>
          </a:ln>
        </p:spPr>
      </p:sp>
      <p:sp>
        <p:nvSpPr>
          <p:cNvPr id="7" name="Shape 5"/>
          <p:cNvSpPr/>
          <p:nvPr/>
        </p:nvSpPr>
        <p:spPr>
          <a:xfrm>
            <a:off x="2880360" y="2103120"/>
            <a:ext cx="1737360" cy="685800"/>
          </a:xfrm>
          <a:prstGeom prst="rect">
            <a:avLst/>
          </a:prstGeom>
          <a:solidFill>
            <a:srgbClr val="F0EEE6"/>
          </a:solidFill>
          <a:ln w="12700">
            <a:solidFill>
              <a:srgbClr val="D4A27F"/>
            </a:solidFill>
            <a:prstDash val="solid"/>
          </a:ln>
        </p:spPr>
      </p:sp>
      <p:sp>
        <p:nvSpPr>
          <p:cNvPr id="8" name="Text 6"/>
          <p:cNvSpPr/>
          <p:nvPr/>
        </p:nvSpPr>
        <p:spPr>
          <a:xfrm>
            <a:off x="2880360" y="2103120"/>
            <a:ext cx="1737360" cy="685800"/>
          </a:xfrm>
          <a:prstGeom prst="rect">
            <a:avLst/>
          </a:prstGeom>
          <a:noFill/>
          <a:ln/>
        </p:spPr>
        <p:txBody>
          <a:bodyPr wrap="square" lIns="0" tIns="0" rIns="0" bIns="0" rtlCol="0" anchor="ctr"/>
          <a:lstStyle/>
          <a:p>
            <a:pPr algn="ctr" indent="0" marL="0">
              <a:buNone/>
            </a:pPr>
            <a:r>
              <a:rPr lang="en-US" sz="1200" dirty="0">
                <a:solidFill>
                  <a:srgbClr val="191919"/>
                </a:solidFill>
                <a:latin typeface="Consolas" pitchFamily="34" charset="0"/>
                <a:ea typeface="Consolas" pitchFamily="34" charset="-122"/>
                <a:cs typeface="Consolas" pitchFamily="34" charset="-120"/>
              </a:rPr>
              <a:t>guard.js</a:t>
            </a:r>
            <a:endParaRPr lang="en-US" sz="1200" dirty="0"/>
          </a:p>
        </p:txBody>
      </p:sp>
      <p:sp>
        <p:nvSpPr>
          <p:cNvPr id="9" name="Shape 7"/>
          <p:cNvSpPr/>
          <p:nvPr/>
        </p:nvSpPr>
        <p:spPr>
          <a:xfrm flipV="1">
            <a:off x="4617720" y="1668780"/>
            <a:ext cx="777240" cy="777240"/>
          </a:xfrm>
          <a:prstGeom prst="line">
            <a:avLst/>
          </a:prstGeom>
          <a:noFill/>
          <a:ln w="12700">
            <a:solidFill>
              <a:srgbClr val="6B6B66"/>
            </a:solidFill>
            <a:prstDash val="solid"/>
            <a:tailEnd type="triangle"/>
          </a:ln>
        </p:spPr>
      </p:sp>
      <p:sp>
        <p:nvSpPr>
          <p:cNvPr id="10" name="Shape 8"/>
          <p:cNvSpPr/>
          <p:nvPr/>
        </p:nvSpPr>
        <p:spPr>
          <a:xfrm>
            <a:off x="5394960" y="1394460"/>
            <a:ext cx="1417320" cy="548640"/>
          </a:xfrm>
          <a:prstGeom prst="rect">
            <a:avLst/>
          </a:prstGeom>
          <a:solidFill>
            <a:srgbClr val="F0EEE6"/>
          </a:solidFill>
          <a:ln/>
        </p:spPr>
      </p:sp>
      <p:sp>
        <p:nvSpPr>
          <p:cNvPr id="11" name="Text 9"/>
          <p:cNvSpPr/>
          <p:nvPr/>
        </p:nvSpPr>
        <p:spPr>
          <a:xfrm>
            <a:off x="5394960" y="1394460"/>
            <a:ext cx="1417320" cy="548640"/>
          </a:xfrm>
          <a:prstGeom prst="rect">
            <a:avLst/>
          </a:prstGeom>
          <a:noFill/>
          <a:ln/>
        </p:spPr>
        <p:txBody>
          <a:bodyPr wrap="square" lIns="0" tIns="0" rIns="0" bIns="0" rtlCol="0" anchor="ctr"/>
          <a:lstStyle/>
          <a:p>
            <a:pPr algn="ctr" indent="0" marL="0">
              <a:buNone/>
            </a:pPr>
            <a:r>
              <a:rPr lang="en-US" sz="1200" dirty="0">
                <a:solidFill>
                  <a:srgbClr val="191919"/>
                </a:solidFill>
                <a:latin typeface="Consolas" pitchFamily="34" charset="0"/>
                <a:ea typeface="Consolas" pitchFamily="34" charset="-122"/>
                <a:cs typeface="Consolas" pitchFamily="34" charset="-120"/>
              </a:rPr>
              <a:t>allow</a:t>
            </a:r>
            <a:endParaRPr lang="en-US" sz="1200" dirty="0"/>
          </a:p>
        </p:txBody>
      </p:sp>
      <p:sp>
        <p:nvSpPr>
          <p:cNvPr id="12" name="Shape 10"/>
          <p:cNvSpPr/>
          <p:nvPr/>
        </p:nvSpPr>
        <p:spPr>
          <a:xfrm>
            <a:off x="4617720" y="2446020"/>
            <a:ext cx="777240" cy="914"/>
          </a:xfrm>
          <a:prstGeom prst="line">
            <a:avLst/>
          </a:prstGeom>
          <a:noFill/>
          <a:ln w="12700">
            <a:solidFill>
              <a:srgbClr val="6B6B66"/>
            </a:solidFill>
            <a:prstDash val="solid"/>
            <a:tailEnd type="triangle"/>
          </a:ln>
        </p:spPr>
      </p:sp>
      <p:sp>
        <p:nvSpPr>
          <p:cNvPr id="13" name="Shape 11"/>
          <p:cNvSpPr/>
          <p:nvPr/>
        </p:nvSpPr>
        <p:spPr>
          <a:xfrm>
            <a:off x="5394960" y="2171700"/>
            <a:ext cx="1417320" cy="548640"/>
          </a:xfrm>
          <a:prstGeom prst="rect">
            <a:avLst/>
          </a:prstGeom>
          <a:solidFill>
            <a:srgbClr val="F0EEE6"/>
          </a:solidFill>
          <a:ln/>
        </p:spPr>
      </p:sp>
      <p:sp>
        <p:nvSpPr>
          <p:cNvPr id="14" name="Text 12"/>
          <p:cNvSpPr/>
          <p:nvPr/>
        </p:nvSpPr>
        <p:spPr>
          <a:xfrm>
            <a:off x="5394960" y="2171700"/>
            <a:ext cx="1417320" cy="548640"/>
          </a:xfrm>
          <a:prstGeom prst="rect">
            <a:avLst/>
          </a:prstGeom>
          <a:noFill/>
          <a:ln/>
        </p:spPr>
        <p:txBody>
          <a:bodyPr wrap="square" lIns="0" tIns="0" rIns="0" bIns="0" rtlCol="0" anchor="ctr"/>
          <a:lstStyle/>
          <a:p>
            <a:pPr algn="ctr" indent="0" marL="0">
              <a:buNone/>
            </a:pPr>
            <a:r>
              <a:rPr lang="en-US" sz="1200" dirty="0">
                <a:solidFill>
                  <a:srgbClr val="191919"/>
                </a:solidFill>
                <a:latin typeface="Consolas" pitchFamily="34" charset="0"/>
                <a:ea typeface="Consolas" pitchFamily="34" charset="-122"/>
                <a:cs typeface="Consolas" pitchFamily="34" charset="-120"/>
              </a:rPr>
              <a:t>ask</a:t>
            </a:r>
            <a:endParaRPr lang="en-US" sz="1200" dirty="0"/>
          </a:p>
        </p:txBody>
      </p:sp>
      <p:sp>
        <p:nvSpPr>
          <p:cNvPr id="15" name="Shape 13"/>
          <p:cNvSpPr/>
          <p:nvPr/>
        </p:nvSpPr>
        <p:spPr>
          <a:xfrm>
            <a:off x="4617720" y="2446020"/>
            <a:ext cx="777240" cy="777240"/>
          </a:xfrm>
          <a:prstGeom prst="line">
            <a:avLst/>
          </a:prstGeom>
          <a:noFill/>
          <a:ln w="12700">
            <a:solidFill>
              <a:srgbClr val="6B6B66"/>
            </a:solidFill>
            <a:prstDash val="solid"/>
            <a:tailEnd type="triangle"/>
          </a:ln>
        </p:spPr>
      </p:sp>
      <p:sp>
        <p:nvSpPr>
          <p:cNvPr id="16" name="Shape 14"/>
          <p:cNvSpPr/>
          <p:nvPr/>
        </p:nvSpPr>
        <p:spPr>
          <a:xfrm>
            <a:off x="5394960" y="2948940"/>
            <a:ext cx="1417320" cy="548640"/>
          </a:xfrm>
          <a:prstGeom prst="rect">
            <a:avLst/>
          </a:prstGeom>
          <a:solidFill>
            <a:srgbClr val="FAF9F5"/>
          </a:solidFill>
          <a:ln w="15875">
            <a:solidFill>
              <a:srgbClr val="CC785C"/>
            </a:solidFill>
            <a:prstDash val="solid"/>
          </a:ln>
        </p:spPr>
      </p:sp>
      <p:sp>
        <p:nvSpPr>
          <p:cNvPr id="17" name="Text 15"/>
          <p:cNvSpPr/>
          <p:nvPr/>
        </p:nvSpPr>
        <p:spPr>
          <a:xfrm>
            <a:off x="5394960" y="2948940"/>
            <a:ext cx="1417320" cy="548640"/>
          </a:xfrm>
          <a:prstGeom prst="rect">
            <a:avLst/>
          </a:prstGeom>
          <a:noFill/>
          <a:ln/>
        </p:spPr>
        <p:txBody>
          <a:bodyPr wrap="square" lIns="0" tIns="0" rIns="0" bIns="0" rtlCol="0" anchor="ctr"/>
          <a:lstStyle/>
          <a:p>
            <a:pPr algn="ctr" indent="0" marL="0">
              <a:buNone/>
            </a:pPr>
            <a:r>
              <a:rPr lang="en-US" sz="1200" dirty="0">
                <a:solidFill>
                  <a:srgbClr val="CC785C"/>
                </a:solidFill>
                <a:latin typeface="Consolas" pitchFamily="34" charset="0"/>
                <a:ea typeface="Consolas" pitchFamily="34" charset="-122"/>
                <a:cs typeface="Consolas" pitchFamily="34" charset="-120"/>
              </a:rPr>
              <a:t>deny</a:t>
            </a:r>
            <a:endParaRPr lang="en-US" sz="1200" dirty="0"/>
          </a:p>
        </p:txBody>
      </p:sp>
      <p:sp>
        <p:nvSpPr>
          <p:cNvPr id="18" name="Text 16"/>
          <p:cNvSpPr/>
          <p:nvPr/>
        </p:nvSpPr>
        <p:spPr>
          <a:xfrm>
            <a:off x="548640" y="3886200"/>
            <a:ext cx="5852160" cy="777240"/>
          </a:xfrm>
          <a:prstGeom prst="rect">
            <a:avLst/>
          </a:prstGeom>
          <a:noFill/>
          <a:ln/>
        </p:spPr>
        <p:txBody>
          <a:bodyPr wrap="square" lIns="0" tIns="0" rIns="0" bIns="0" rtlCol="0" anchor="t"/>
          <a:lstStyle/>
          <a:p>
            <a:pPr indent="0" marL="0">
              <a:buNone/>
            </a:pPr>
            <a:r>
              <a:rPr lang="en-US" sz="1250" dirty="0">
                <a:solidFill>
                  <a:srgbClr val="191919"/>
                </a:solidFill>
                <a:latin typeface="Arial" pitchFamily="34" charset="0"/>
                <a:ea typeface="Arial" pitchFamily="34" charset="-122"/>
                <a:cs typeface="Arial" pitchFamily="34" charset="-120"/>
              </a:rPr>
              <a:t>The decision is a regex match against policy.json, not a model choice. Same input, same block, every run. Denials and executions land side by side in the audit trail.</a:t>
            </a:r>
            <a:endParaRPr lang="en-US" sz="1250" dirty="0"/>
          </a:p>
        </p:txBody>
      </p:sp>
      <p:sp>
        <p:nvSpPr>
          <p:cNvPr id="19" name="Text 17"/>
          <p:cNvSpPr/>
          <p:nvPr/>
        </p:nvSpPr>
        <p:spPr>
          <a:xfrm>
            <a:off x="6629400" y="3886200"/>
            <a:ext cx="1965960" cy="777240"/>
          </a:xfrm>
          <a:prstGeom prst="rect">
            <a:avLst/>
          </a:prstGeom>
          <a:noFill/>
          <a:ln/>
        </p:spPr>
        <p:txBody>
          <a:bodyPr wrap="square" lIns="0" tIns="0" rIns="0" bIns="0" rtlCol="0" anchor="t"/>
          <a:lstStyle/>
          <a:p>
            <a:pPr indent="0" marL="0">
              <a:buNone/>
            </a:pPr>
            <a:r>
              <a:rPr lang="en-US" sz="1050" dirty="0">
                <a:solidFill>
                  <a:srgbClr val="6B6B66"/>
                </a:solidFill>
                <a:latin typeface="Consolas" pitchFamily="34" charset="0"/>
                <a:ea typeface="Consolas" pitchFamily="34" charset="-122"/>
                <a:cs typeface="Consolas" pitchFamily="34" charset="-120"/>
              </a:rPr>
              <a:t>guard.js: 158 lines, tested offline, zero tokens.</a:t>
            </a:r>
            <a:endParaRPr lang="en-US" sz="1050" dirty="0"/>
          </a:p>
        </p:txBody>
      </p:sp>
      <p:sp>
        <p:nvSpPr>
          <p:cNvPr id="20" name="Text 18"/>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Principle 3. Policy ships like software.</a:t>
            </a:r>
            <a:endParaRPr lang="en-US" sz="2600" dirty="0"/>
          </a:p>
        </p:txBody>
      </p:sp>
      <p:sp>
        <p:nvSpPr>
          <p:cNvPr id="4" name="Shape 2"/>
          <p:cNvSpPr/>
          <p:nvPr/>
        </p:nvSpPr>
        <p:spPr>
          <a:xfrm>
            <a:off x="548640" y="1554480"/>
            <a:ext cx="1847088" cy="1828800"/>
          </a:xfrm>
          <a:prstGeom prst="rect">
            <a:avLst/>
          </a:prstGeom>
          <a:solidFill>
            <a:srgbClr val="F0EEE6"/>
          </a:solidFill>
          <a:ln/>
        </p:spPr>
      </p:sp>
      <p:sp>
        <p:nvSpPr>
          <p:cNvPr id="5" name="Text 3"/>
          <p:cNvSpPr/>
          <p:nvPr/>
        </p:nvSpPr>
        <p:spPr>
          <a:xfrm>
            <a:off x="731520" y="1700784"/>
            <a:ext cx="457200" cy="411480"/>
          </a:xfrm>
          <a:prstGeom prst="rect">
            <a:avLst/>
          </a:prstGeom>
          <a:noFill/>
          <a:ln/>
        </p:spPr>
        <p:txBody>
          <a:bodyPr wrap="square" lIns="0" tIns="0" rIns="0" bIns="0" rtlCol="0" anchor="ctr"/>
          <a:lstStyle/>
          <a:p>
            <a:pPr indent="0" marL="0">
              <a:buNone/>
            </a:pPr>
            <a:r>
              <a:rPr lang="en-US" sz="2000" dirty="0">
                <a:solidFill>
                  <a:srgbClr val="CC785C"/>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731520" y="2148840"/>
            <a:ext cx="1481328" cy="1051560"/>
          </a:xfrm>
          <a:prstGeom prst="rect">
            <a:avLst/>
          </a:prstGeom>
          <a:noFill/>
          <a:ln/>
        </p:spPr>
        <p:txBody>
          <a:bodyPr wrap="square" lIns="0" tIns="0" rIns="0" bIns="0" rtlCol="0" anchor="t"/>
          <a:lstStyle/>
          <a:p>
            <a:pPr indent="0" marL="0">
              <a:spcAft>
                <a:spcPts val="400"/>
              </a:spcAft>
              <a:buNone/>
            </a:pPr>
            <a:r>
              <a:rPr lang="en-US" sz="1300" b="1" dirty="0">
                <a:solidFill>
                  <a:srgbClr val="191919"/>
                </a:solidFill>
                <a:latin typeface="Arial" pitchFamily="34" charset="0"/>
                <a:ea typeface="Arial" pitchFamily="34" charset="-122"/>
                <a:cs typeface="Arial" pitchFamily="34" charset="-120"/>
              </a:rPr>
              <a:t>Edit policy.json</a:t>
            </a:r>
            <a:endParaRPr lang="en-US" sz="1300" dirty="0"/>
          </a:p>
          <a:p>
            <a:pPr indent="0" marL="0">
              <a:spcAft>
                <a:spcPts val="400"/>
              </a:spcAft>
              <a:buNone/>
            </a:pPr>
            <a:r>
              <a:rPr lang="en-US" sz="1150" dirty="0">
                <a:solidFill>
                  <a:srgbClr val="6B6B66"/>
                </a:solidFill>
                <a:latin typeface="Arial" pitchFamily="34" charset="0"/>
                <a:ea typeface="Arial" pitchFamily="34" charset="-122"/>
                <a:cs typeface="Arial" pitchFamily="34" charset="-120"/>
              </a:rPr>
              <a:t>The rules are reviewable config, not prompt text.</a:t>
            </a:r>
            <a:endParaRPr lang="en-US" sz="1300" dirty="0"/>
          </a:p>
        </p:txBody>
      </p:sp>
      <p:sp>
        <p:nvSpPr>
          <p:cNvPr id="7" name="Shape 5"/>
          <p:cNvSpPr/>
          <p:nvPr/>
        </p:nvSpPr>
        <p:spPr>
          <a:xfrm>
            <a:off x="2615184" y="1554480"/>
            <a:ext cx="1847088" cy="1828800"/>
          </a:xfrm>
          <a:prstGeom prst="rect">
            <a:avLst/>
          </a:prstGeom>
          <a:solidFill>
            <a:srgbClr val="F0EEE6"/>
          </a:solidFill>
          <a:ln/>
        </p:spPr>
      </p:sp>
      <p:sp>
        <p:nvSpPr>
          <p:cNvPr id="8" name="Text 6"/>
          <p:cNvSpPr/>
          <p:nvPr/>
        </p:nvSpPr>
        <p:spPr>
          <a:xfrm>
            <a:off x="2798064" y="1700784"/>
            <a:ext cx="457200" cy="411480"/>
          </a:xfrm>
          <a:prstGeom prst="rect">
            <a:avLst/>
          </a:prstGeom>
          <a:noFill/>
          <a:ln/>
        </p:spPr>
        <p:txBody>
          <a:bodyPr wrap="square" lIns="0" tIns="0" rIns="0" bIns="0" rtlCol="0" anchor="ctr"/>
          <a:lstStyle/>
          <a:p>
            <a:pPr indent="0" marL="0">
              <a:buNone/>
            </a:pPr>
            <a:r>
              <a:rPr lang="en-US" sz="2000" dirty="0">
                <a:solidFill>
                  <a:srgbClr val="CC785C"/>
                </a:solidFill>
                <a:latin typeface="Georgia" pitchFamily="34" charset="0"/>
                <a:ea typeface="Georgia" pitchFamily="34" charset="-122"/>
                <a:cs typeface="Georgia" pitchFamily="34" charset="-120"/>
              </a:rPr>
              <a:t>2</a:t>
            </a:r>
            <a:endParaRPr lang="en-US" sz="2000" dirty="0"/>
          </a:p>
        </p:txBody>
      </p:sp>
      <p:sp>
        <p:nvSpPr>
          <p:cNvPr id="9" name="Text 7"/>
          <p:cNvSpPr/>
          <p:nvPr/>
        </p:nvSpPr>
        <p:spPr>
          <a:xfrm>
            <a:off x="2798064" y="2148840"/>
            <a:ext cx="1481328" cy="1051560"/>
          </a:xfrm>
          <a:prstGeom prst="rect">
            <a:avLst/>
          </a:prstGeom>
          <a:noFill/>
          <a:ln/>
        </p:spPr>
        <p:txBody>
          <a:bodyPr wrap="square" lIns="0" tIns="0" rIns="0" bIns="0" rtlCol="0" anchor="t"/>
          <a:lstStyle/>
          <a:p>
            <a:pPr indent="0" marL="0">
              <a:spcAft>
                <a:spcPts val="400"/>
              </a:spcAft>
              <a:buNone/>
            </a:pPr>
            <a:r>
              <a:rPr lang="en-US" sz="1300" b="1" dirty="0">
                <a:solidFill>
                  <a:srgbClr val="191919"/>
                </a:solidFill>
                <a:latin typeface="Arial" pitchFamily="34" charset="0"/>
                <a:ea typeface="Arial" pitchFamily="34" charset="-122"/>
                <a:cs typeface="Arial" pitchFamily="34" charset="-120"/>
              </a:rPr>
              <a:t>Prove it offline</a:t>
            </a:r>
            <a:endParaRPr lang="en-US" sz="1300" dirty="0"/>
          </a:p>
          <a:p>
            <a:pPr indent="0" marL="0">
              <a:spcAft>
                <a:spcPts val="400"/>
              </a:spcAft>
              <a:buNone/>
            </a:pPr>
            <a:r>
              <a:rPr lang="en-US" sz="1150" dirty="0">
                <a:solidFill>
                  <a:srgbClr val="6B6B66"/>
                </a:solidFill>
                <a:latin typeface="Arial" pitchFamily="34" charset="0"/>
                <a:ea typeface="Arial" pitchFamily="34" charset="-122"/>
                <a:cs typeface="Arial" pitchFamily="34" charset="-120"/>
              </a:rPr>
              <a:t>try.js gives an instant decision. The 22-check harness catches regressions.</a:t>
            </a:r>
            <a:endParaRPr lang="en-US" sz="1300" dirty="0"/>
          </a:p>
        </p:txBody>
      </p:sp>
      <p:sp>
        <p:nvSpPr>
          <p:cNvPr id="10" name="Shape 8"/>
          <p:cNvSpPr/>
          <p:nvPr/>
        </p:nvSpPr>
        <p:spPr>
          <a:xfrm>
            <a:off x="4681728" y="1554480"/>
            <a:ext cx="1847088" cy="1828800"/>
          </a:xfrm>
          <a:prstGeom prst="rect">
            <a:avLst/>
          </a:prstGeom>
          <a:solidFill>
            <a:srgbClr val="F0EEE6"/>
          </a:solidFill>
          <a:ln/>
        </p:spPr>
      </p:sp>
      <p:sp>
        <p:nvSpPr>
          <p:cNvPr id="11" name="Text 9"/>
          <p:cNvSpPr/>
          <p:nvPr/>
        </p:nvSpPr>
        <p:spPr>
          <a:xfrm>
            <a:off x="4864608" y="1700784"/>
            <a:ext cx="457200" cy="411480"/>
          </a:xfrm>
          <a:prstGeom prst="rect">
            <a:avLst/>
          </a:prstGeom>
          <a:noFill/>
          <a:ln/>
        </p:spPr>
        <p:txBody>
          <a:bodyPr wrap="square" lIns="0" tIns="0" rIns="0" bIns="0" rtlCol="0" anchor="ctr"/>
          <a:lstStyle/>
          <a:p>
            <a:pPr indent="0" marL="0">
              <a:buNone/>
            </a:pPr>
            <a:r>
              <a:rPr lang="en-US" sz="2000" dirty="0">
                <a:solidFill>
                  <a:srgbClr val="CC785C"/>
                </a:solidFill>
                <a:latin typeface="Georgia" pitchFamily="34" charset="0"/>
                <a:ea typeface="Georgia" pitchFamily="34" charset="-122"/>
                <a:cs typeface="Georgia" pitchFamily="34" charset="-120"/>
              </a:rPr>
              <a:t>3</a:t>
            </a:r>
            <a:endParaRPr lang="en-US" sz="2000" dirty="0"/>
          </a:p>
        </p:txBody>
      </p:sp>
      <p:sp>
        <p:nvSpPr>
          <p:cNvPr id="12" name="Text 10"/>
          <p:cNvSpPr/>
          <p:nvPr/>
        </p:nvSpPr>
        <p:spPr>
          <a:xfrm>
            <a:off x="4864608" y="2148840"/>
            <a:ext cx="1481328" cy="1051560"/>
          </a:xfrm>
          <a:prstGeom prst="rect">
            <a:avLst/>
          </a:prstGeom>
          <a:noFill/>
          <a:ln/>
        </p:spPr>
        <p:txBody>
          <a:bodyPr wrap="square" lIns="0" tIns="0" rIns="0" bIns="0" rtlCol="0" anchor="t"/>
          <a:lstStyle/>
          <a:p>
            <a:pPr indent="0" marL="0">
              <a:spcAft>
                <a:spcPts val="400"/>
              </a:spcAft>
              <a:buNone/>
            </a:pPr>
            <a:r>
              <a:rPr lang="en-US" sz="1300" b="1" dirty="0">
                <a:solidFill>
                  <a:srgbClr val="191919"/>
                </a:solidFill>
                <a:latin typeface="Arial" pitchFamily="34" charset="0"/>
                <a:ea typeface="Arial" pitchFamily="34" charset="-122"/>
                <a:cs typeface="Arial" pitchFamily="34" charset="-120"/>
              </a:rPr>
              <a:t>Bump the version</a:t>
            </a:r>
            <a:endParaRPr lang="en-US" sz="1300" dirty="0"/>
          </a:p>
          <a:p>
            <a:pPr indent="0" marL="0">
              <a:spcAft>
                <a:spcPts val="400"/>
              </a:spcAft>
              <a:buNone/>
            </a:pPr>
            <a:r>
              <a:rPr lang="en-US" sz="1150" dirty="0">
                <a:solidFill>
                  <a:srgbClr val="6B6B66"/>
                </a:solidFill>
                <a:latin typeface="Arial" pitchFamily="34" charset="0"/>
                <a:ea typeface="Arial" pitchFamily="34" charset="-122"/>
                <a:cs typeface="Arial" pitchFamily="34" charset="-120"/>
              </a:rPr>
              <a:t>1.0.0 to 1.0.1 in plugin.json. Push. PR review as usual.</a:t>
            </a:r>
            <a:endParaRPr lang="en-US" sz="1300" dirty="0"/>
          </a:p>
        </p:txBody>
      </p:sp>
      <p:sp>
        <p:nvSpPr>
          <p:cNvPr id="13" name="Shape 11"/>
          <p:cNvSpPr/>
          <p:nvPr/>
        </p:nvSpPr>
        <p:spPr>
          <a:xfrm>
            <a:off x="6748272" y="1554480"/>
            <a:ext cx="1847088" cy="1828800"/>
          </a:xfrm>
          <a:prstGeom prst="rect">
            <a:avLst/>
          </a:prstGeom>
          <a:solidFill>
            <a:srgbClr val="F0EEE6"/>
          </a:solidFill>
          <a:ln/>
        </p:spPr>
      </p:sp>
      <p:sp>
        <p:nvSpPr>
          <p:cNvPr id="14" name="Text 12"/>
          <p:cNvSpPr/>
          <p:nvPr/>
        </p:nvSpPr>
        <p:spPr>
          <a:xfrm>
            <a:off x="6931152" y="1700784"/>
            <a:ext cx="457200" cy="411480"/>
          </a:xfrm>
          <a:prstGeom prst="rect">
            <a:avLst/>
          </a:prstGeom>
          <a:noFill/>
          <a:ln/>
        </p:spPr>
        <p:txBody>
          <a:bodyPr wrap="square" lIns="0" tIns="0" rIns="0" bIns="0" rtlCol="0" anchor="ctr"/>
          <a:lstStyle/>
          <a:p>
            <a:pPr indent="0" marL="0">
              <a:buNone/>
            </a:pPr>
            <a:r>
              <a:rPr lang="en-US" sz="2000" dirty="0">
                <a:solidFill>
                  <a:srgbClr val="CC785C"/>
                </a:solidFill>
                <a:latin typeface="Georgia" pitchFamily="34" charset="0"/>
                <a:ea typeface="Georgia" pitchFamily="34" charset="-122"/>
                <a:cs typeface="Georgia" pitchFamily="34" charset="-120"/>
              </a:rPr>
              <a:t>4</a:t>
            </a:r>
            <a:endParaRPr lang="en-US" sz="2000" dirty="0"/>
          </a:p>
        </p:txBody>
      </p:sp>
      <p:sp>
        <p:nvSpPr>
          <p:cNvPr id="15" name="Text 13"/>
          <p:cNvSpPr/>
          <p:nvPr/>
        </p:nvSpPr>
        <p:spPr>
          <a:xfrm>
            <a:off x="6931152" y="2148840"/>
            <a:ext cx="1481328" cy="1051560"/>
          </a:xfrm>
          <a:prstGeom prst="rect">
            <a:avLst/>
          </a:prstGeom>
          <a:noFill/>
          <a:ln/>
        </p:spPr>
        <p:txBody>
          <a:bodyPr wrap="square" lIns="0" tIns="0" rIns="0" bIns="0" rtlCol="0" anchor="t"/>
          <a:lstStyle/>
          <a:p>
            <a:pPr indent="0" marL="0">
              <a:spcAft>
                <a:spcPts val="400"/>
              </a:spcAft>
              <a:buNone/>
            </a:pPr>
            <a:r>
              <a:rPr lang="en-US" sz="1300" b="1" dirty="0">
                <a:solidFill>
                  <a:srgbClr val="191919"/>
                </a:solidFill>
                <a:latin typeface="Arial" pitchFamily="34" charset="0"/>
                <a:ea typeface="Arial" pitchFamily="34" charset="-122"/>
                <a:cs typeface="Arial" pitchFamily="34" charset="-120"/>
              </a:rPr>
              <a:t>Update the fleet</a:t>
            </a:r>
            <a:endParaRPr lang="en-US" sz="1300" dirty="0"/>
          </a:p>
          <a:p>
            <a:pPr indent="0" marL="0">
              <a:spcAft>
                <a:spcPts val="400"/>
              </a:spcAft>
              <a:buNone/>
            </a:pPr>
            <a:r>
              <a:rPr lang="en-US" sz="1150" dirty="0">
                <a:solidFill>
                  <a:srgbClr val="6B6B66"/>
                </a:solidFill>
                <a:latin typeface="Arial" pitchFamily="34" charset="0"/>
                <a:ea typeface="Arial" pitchFamily="34" charset="-122"/>
                <a:cs typeface="Arial" pitchFamily="34" charset="-120"/>
              </a:rPr>
              <a:t>One command per engineer, or managed settings do it for them.</a:t>
            </a:r>
            <a:endParaRPr lang="en-US" sz="1300" dirty="0"/>
          </a:p>
        </p:txBody>
      </p:sp>
      <p:sp>
        <p:nvSpPr>
          <p:cNvPr id="16" name="Text 14"/>
          <p:cNvSpPr/>
          <p:nvPr/>
        </p:nvSpPr>
        <p:spPr>
          <a:xfrm>
            <a:off x="548640" y="3703320"/>
            <a:ext cx="7315200" cy="411480"/>
          </a:xfrm>
          <a:prstGeom prst="rect">
            <a:avLst/>
          </a:prstGeom>
          <a:noFill/>
          <a:ln/>
        </p:spPr>
        <p:txBody>
          <a:bodyPr wrap="square" lIns="0" tIns="0" rIns="0" bIns="0" rtlCol="0" anchor="ctr"/>
          <a:lstStyle/>
          <a:p>
            <a:pPr indent="0" marL="0">
              <a:buNone/>
            </a:pPr>
            <a:r>
              <a:rPr lang="en-US" sz="1600" dirty="0">
                <a:solidFill>
                  <a:srgbClr val="191919"/>
                </a:solidFill>
                <a:latin typeface="Georgia" pitchFamily="34" charset="0"/>
                <a:ea typeface="Georgia" pitchFamily="34" charset="-122"/>
                <a:cs typeface="Georgia" pitchFamily="34" charset="-120"/>
              </a:rPr>
              <a:t>One PR updates every engineer's agent.</a:t>
            </a:r>
            <a:endParaRPr lang="en-US" sz="1600" dirty="0"/>
          </a:p>
        </p:txBody>
      </p:sp>
      <p:sp>
        <p:nvSpPr>
          <p:cNvPr id="17" name="Text 15"/>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The 4-beat demo. The next twelve minutes, live.</a:t>
            </a:r>
            <a:endParaRPr lang="en-US" sz="2600" dirty="0"/>
          </a:p>
        </p:txBody>
      </p:sp>
      <p:sp>
        <p:nvSpPr>
          <p:cNvPr id="4" name="Shape 2"/>
          <p:cNvSpPr/>
          <p:nvPr/>
        </p:nvSpPr>
        <p:spPr>
          <a:xfrm>
            <a:off x="548640" y="1417320"/>
            <a:ext cx="3886200" cy="1417320"/>
          </a:xfrm>
          <a:prstGeom prst="rect">
            <a:avLst/>
          </a:prstGeom>
          <a:solidFill>
            <a:srgbClr val="F0EEE6"/>
          </a:solidFill>
          <a:ln/>
        </p:spPr>
      </p:sp>
      <p:sp>
        <p:nvSpPr>
          <p:cNvPr id="5" name="Text 3"/>
          <p:cNvSpPr/>
          <p:nvPr/>
        </p:nvSpPr>
        <p:spPr>
          <a:xfrm>
            <a:off x="804672" y="1618488"/>
            <a:ext cx="3374136" cy="36576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Install</a:t>
            </a:r>
            <a:endParaRPr lang="en-US" sz="1700" dirty="0"/>
          </a:p>
        </p:txBody>
      </p:sp>
      <p:sp>
        <p:nvSpPr>
          <p:cNvPr id="6" name="Text 4"/>
          <p:cNvSpPr/>
          <p:nvPr/>
        </p:nvSpPr>
        <p:spPr>
          <a:xfrm>
            <a:off x="804672" y="2039112"/>
            <a:ext cx="3374136" cy="594360"/>
          </a:xfrm>
          <a:prstGeom prst="rect">
            <a:avLst/>
          </a:prstGeom>
          <a:noFill/>
          <a:ln/>
        </p:spPr>
        <p:txBody>
          <a:bodyPr wrap="square" lIns="0" tIns="0" rIns="0" bIns="0" rtlCol="0" anchor="t"/>
          <a:lstStyle/>
          <a:p>
            <a:pPr indent="0" marL="0">
              <a:buNone/>
            </a:pPr>
            <a:r>
              <a:rPr lang="en-US" sz="1250" dirty="0">
                <a:solidFill>
                  <a:srgbClr val="6B6B66"/>
                </a:solidFill>
                <a:latin typeface="Arial" pitchFamily="34" charset="0"/>
                <a:ea typeface="Arial" pitchFamily="34" charset="-122"/>
                <a:cs typeface="Arial" pitchFamily="34" charset="-120"/>
              </a:rPr>
              <a:t>One command, ninety seconds.</a:t>
            </a:r>
            <a:endParaRPr lang="en-US" sz="1250" dirty="0"/>
          </a:p>
        </p:txBody>
      </p:sp>
      <p:sp>
        <p:nvSpPr>
          <p:cNvPr id="7" name="Shape 5"/>
          <p:cNvSpPr/>
          <p:nvPr/>
        </p:nvSpPr>
        <p:spPr>
          <a:xfrm>
            <a:off x="4709160" y="1417320"/>
            <a:ext cx="3886200" cy="1417320"/>
          </a:xfrm>
          <a:prstGeom prst="rect">
            <a:avLst/>
          </a:prstGeom>
          <a:solidFill>
            <a:srgbClr val="F0EEE6"/>
          </a:solidFill>
          <a:ln/>
        </p:spPr>
      </p:sp>
      <p:sp>
        <p:nvSpPr>
          <p:cNvPr id="8" name="Text 6"/>
          <p:cNvSpPr/>
          <p:nvPr/>
        </p:nvSpPr>
        <p:spPr>
          <a:xfrm>
            <a:off x="4965192" y="1618488"/>
            <a:ext cx="3374136" cy="36576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Use</a:t>
            </a:r>
            <a:endParaRPr lang="en-US" sz="1700" dirty="0"/>
          </a:p>
        </p:txBody>
      </p:sp>
      <p:sp>
        <p:nvSpPr>
          <p:cNvPr id="9" name="Text 7"/>
          <p:cNvSpPr/>
          <p:nvPr/>
        </p:nvSpPr>
        <p:spPr>
          <a:xfrm>
            <a:off x="4965192" y="2039112"/>
            <a:ext cx="3374136" cy="594360"/>
          </a:xfrm>
          <a:prstGeom prst="rect">
            <a:avLst/>
          </a:prstGeom>
          <a:noFill/>
          <a:ln/>
        </p:spPr>
        <p:txBody>
          <a:bodyPr wrap="square" lIns="0" tIns="0" rIns="0" bIns="0" rtlCol="0" anchor="t"/>
          <a:lstStyle/>
          <a:p>
            <a:pPr indent="0" marL="0">
              <a:buNone/>
            </a:pPr>
            <a:r>
              <a:rPr lang="en-US" sz="1250" dirty="0">
                <a:solidFill>
                  <a:srgbClr val="6B6B66"/>
                </a:solidFill>
                <a:latin typeface="Arial" pitchFamily="34" charset="0"/>
                <a:ea typeface="Arial" pitchFamily="34" charset="-122"/>
                <a:cs typeface="Arial" pitchFamily="34" charset="-120"/>
              </a:rPr>
              <a:t>Your conventions, applied by your reviewer.</a:t>
            </a:r>
            <a:endParaRPr lang="en-US" sz="1250" dirty="0"/>
          </a:p>
        </p:txBody>
      </p:sp>
      <p:sp>
        <p:nvSpPr>
          <p:cNvPr id="10" name="Shape 8"/>
          <p:cNvSpPr/>
          <p:nvPr/>
        </p:nvSpPr>
        <p:spPr>
          <a:xfrm>
            <a:off x="548640" y="3063240"/>
            <a:ext cx="3886200" cy="1417320"/>
          </a:xfrm>
          <a:prstGeom prst="rect">
            <a:avLst/>
          </a:prstGeom>
          <a:solidFill>
            <a:srgbClr val="F0EEE6"/>
          </a:solidFill>
          <a:ln/>
        </p:spPr>
      </p:sp>
      <p:sp>
        <p:nvSpPr>
          <p:cNvPr id="11" name="Text 9"/>
          <p:cNvSpPr/>
          <p:nvPr/>
        </p:nvSpPr>
        <p:spPr>
          <a:xfrm>
            <a:off x="804672" y="3264408"/>
            <a:ext cx="3374136" cy="36576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Govern</a:t>
            </a:r>
            <a:endParaRPr lang="en-US" sz="1700" dirty="0"/>
          </a:p>
        </p:txBody>
      </p:sp>
      <p:sp>
        <p:nvSpPr>
          <p:cNvPr id="12" name="Text 10"/>
          <p:cNvSpPr/>
          <p:nvPr/>
        </p:nvSpPr>
        <p:spPr>
          <a:xfrm>
            <a:off x="804672" y="3685032"/>
            <a:ext cx="3374136" cy="594360"/>
          </a:xfrm>
          <a:prstGeom prst="rect">
            <a:avLst/>
          </a:prstGeom>
          <a:noFill/>
          <a:ln/>
        </p:spPr>
        <p:txBody>
          <a:bodyPr wrap="square" lIns="0" tIns="0" rIns="0" bIns="0" rtlCol="0" anchor="t"/>
          <a:lstStyle/>
          <a:p>
            <a:pPr indent="0" marL="0">
              <a:buNone/>
            </a:pPr>
            <a:r>
              <a:rPr lang="en-US" sz="1250" dirty="0">
                <a:solidFill>
                  <a:srgbClr val="6B6B66"/>
                </a:solidFill>
                <a:latin typeface="Arial" pitchFamily="34" charset="0"/>
                <a:ea typeface="Arial" pitchFamily="34" charset="-122"/>
                <a:cs typeface="Arial" pitchFamily="34" charset="-120"/>
              </a:rPr>
              <a:t>Deny and ask, deterministically, with an audit trail.</a:t>
            </a:r>
            <a:endParaRPr lang="en-US" sz="1250" dirty="0"/>
          </a:p>
        </p:txBody>
      </p:sp>
      <p:sp>
        <p:nvSpPr>
          <p:cNvPr id="13" name="Shape 11"/>
          <p:cNvSpPr/>
          <p:nvPr/>
        </p:nvSpPr>
        <p:spPr>
          <a:xfrm>
            <a:off x="4709160" y="3063240"/>
            <a:ext cx="3886200" cy="1417320"/>
          </a:xfrm>
          <a:prstGeom prst="rect">
            <a:avLst/>
          </a:prstGeom>
          <a:solidFill>
            <a:srgbClr val="F0EEE6"/>
          </a:solidFill>
          <a:ln/>
        </p:spPr>
      </p:sp>
      <p:sp>
        <p:nvSpPr>
          <p:cNvPr id="14" name="Text 12"/>
          <p:cNvSpPr/>
          <p:nvPr/>
        </p:nvSpPr>
        <p:spPr>
          <a:xfrm>
            <a:off x="4965192" y="3264408"/>
            <a:ext cx="3374136" cy="36576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Ship</a:t>
            </a:r>
            <a:endParaRPr lang="en-US" sz="1700" dirty="0"/>
          </a:p>
        </p:txBody>
      </p:sp>
      <p:sp>
        <p:nvSpPr>
          <p:cNvPr id="15" name="Text 13"/>
          <p:cNvSpPr/>
          <p:nvPr/>
        </p:nvSpPr>
        <p:spPr>
          <a:xfrm>
            <a:off x="4965192" y="3685032"/>
            <a:ext cx="3374136" cy="594360"/>
          </a:xfrm>
          <a:prstGeom prst="rect">
            <a:avLst/>
          </a:prstGeom>
          <a:noFill/>
          <a:ln/>
        </p:spPr>
        <p:txBody>
          <a:bodyPr wrap="square" lIns="0" tIns="0" rIns="0" bIns="0" rtlCol="0" anchor="t"/>
          <a:lstStyle/>
          <a:p>
            <a:pPr indent="0" marL="0">
              <a:buNone/>
            </a:pPr>
            <a:r>
              <a:rPr lang="en-US" sz="1250" dirty="0">
                <a:solidFill>
                  <a:srgbClr val="6B6B66"/>
                </a:solidFill>
                <a:latin typeface="Arial" pitchFamily="34" charset="0"/>
                <a:ea typeface="Arial" pitchFamily="34" charset="-122"/>
                <a:cs typeface="Arial" pitchFamily="34" charset="-120"/>
              </a:rPr>
              <a:t>One PR updates every engineer's agent.</a:t>
            </a:r>
            <a:endParaRPr lang="en-US" sz="1250" dirty="0"/>
          </a:p>
        </p:txBody>
      </p:sp>
      <p:sp>
        <p:nvSpPr>
          <p:cNvPr id="16" name="Text 14"/>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Your turn. Minutes 20 to 26.</a:t>
            </a:r>
            <a:endParaRPr lang="en-US" sz="2600" dirty="0"/>
          </a:p>
        </p:txBody>
      </p:sp>
      <p:sp>
        <p:nvSpPr>
          <p:cNvPr id="4" name="Text 2"/>
          <p:cNvSpPr/>
          <p:nvPr/>
        </p:nvSpPr>
        <p:spPr>
          <a:xfrm>
            <a:off x="548640" y="1463040"/>
            <a:ext cx="4663440" cy="237744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191919"/>
                </a:solidFill>
                <a:latin typeface="Arial" pitchFamily="34" charset="0"/>
                <a:ea typeface="Arial" pitchFamily="34" charset="-122"/>
                <a:cs typeface="Arial" pitchFamily="34" charset="-120"/>
              </a:rPr>
              <a:t>Run the 22-check harness from your own clone</a:t>
            </a:r>
            <a:endParaRPr lang="en-US" sz="1350" dirty="0"/>
          </a:p>
          <a:p>
            <a:pPr marL="342900" indent="-342900">
              <a:spcAft>
                <a:spcPts val="1400"/>
              </a:spcAft>
              <a:buSzPct val="100000"/>
              <a:buChar char="•"/>
            </a:pPr>
            <a:r>
              <a:rPr lang="en-US" sz="1350" dirty="0">
                <a:solidFill>
                  <a:srgbClr val="191919"/>
                </a:solidFill>
                <a:latin typeface="Arial" pitchFamily="34" charset="0"/>
                <a:ea typeface="Arial" pitchFamily="34" charset="-122"/>
                <a:cs typeface="Arial" pitchFamily="34" charset="-120"/>
              </a:rPr>
              <a:t>Install the plugin from the local marketplace</a:t>
            </a:r>
            <a:endParaRPr lang="en-US" sz="1350" dirty="0"/>
          </a:p>
          <a:p>
            <a:pPr marL="342900" indent="-342900">
              <a:spcAft>
                <a:spcPts val="1400"/>
              </a:spcAft>
              <a:buSzPct val="100000"/>
              <a:buChar char="•"/>
            </a:pPr>
            <a:r>
              <a:rPr lang="en-US" sz="1350" dirty="0">
                <a:solidFill>
                  <a:srgbClr val="191919"/>
                </a:solidFill>
                <a:latin typeface="Arial" pitchFamily="34" charset="0"/>
                <a:ea typeface="Arial" pitchFamily="34" charset="-122"/>
                <a:cs typeface="Arial" pitchFamily="34" charset="-120"/>
              </a:rPr>
              <a:t>Trigger one deny yourself and read the audit line it wrote</a:t>
            </a:r>
            <a:endParaRPr lang="en-US" sz="1350" dirty="0"/>
          </a:p>
          <a:p>
            <a:pPr marL="342900" indent="-342900">
              <a:spcAft>
                <a:spcPts val="1400"/>
              </a:spcAft>
              <a:buSzPct val="100000"/>
              <a:buChar char="•"/>
            </a:pPr>
            <a:r>
              <a:rPr lang="en-US" sz="1350" dirty="0">
                <a:solidFill>
                  <a:srgbClr val="191919"/>
                </a:solidFill>
                <a:latin typeface="Arial" pitchFamily="34" charset="0"/>
                <a:ea typeface="Arial" pitchFamily="34" charset="-122"/>
                <a:cs typeface="Arial" pitchFamily="34" charset="-120"/>
              </a:rPr>
              <a:t>Author one policy rule of your own and make the harness pass with it</a:t>
            </a:r>
            <a:endParaRPr lang="en-US" sz="1350" dirty="0"/>
          </a:p>
        </p:txBody>
      </p:sp>
      <p:sp>
        <p:nvSpPr>
          <p:cNvPr id="5" name="Shape 3"/>
          <p:cNvSpPr/>
          <p:nvPr/>
        </p:nvSpPr>
        <p:spPr>
          <a:xfrm>
            <a:off x="5486400" y="1463040"/>
            <a:ext cx="3108960" cy="2286000"/>
          </a:xfrm>
          <a:prstGeom prst="rect">
            <a:avLst/>
          </a:prstGeom>
          <a:solidFill>
            <a:srgbClr val="F0EEE6"/>
          </a:solidFill>
          <a:ln/>
        </p:spPr>
      </p:sp>
      <p:sp>
        <p:nvSpPr>
          <p:cNvPr id="6" name="Text 4"/>
          <p:cNvSpPr/>
          <p:nvPr/>
        </p:nvSpPr>
        <p:spPr>
          <a:xfrm>
            <a:off x="5742432" y="1691640"/>
            <a:ext cx="2596896"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THE BAR FOR LEAVING</a:t>
            </a:r>
            <a:endParaRPr lang="en-US" sz="1050" dirty="0"/>
          </a:p>
        </p:txBody>
      </p:sp>
      <p:sp>
        <p:nvSpPr>
          <p:cNvPr id="7" name="Text 5"/>
          <p:cNvSpPr/>
          <p:nvPr/>
        </p:nvSpPr>
        <p:spPr>
          <a:xfrm>
            <a:off x="5742432" y="2103120"/>
            <a:ext cx="2596896" cy="1463040"/>
          </a:xfrm>
          <a:prstGeom prst="rect">
            <a:avLst/>
          </a:prstGeom>
          <a:noFill/>
          <a:ln/>
        </p:spPr>
        <p:txBody>
          <a:bodyPr wrap="square" lIns="0" tIns="0" rIns="0" bIns="0" rtlCol="0" anchor="t"/>
          <a:lstStyle/>
          <a:p>
            <a:pPr indent="0" marL="0">
              <a:buNone/>
            </a:pPr>
            <a:r>
              <a:rPr lang="en-US" sz="1550" dirty="0">
                <a:solidFill>
                  <a:srgbClr val="191919"/>
                </a:solidFill>
                <a:latin typeface="Georgia" pitchFamily="34" charset="0"/>
                <a:ea typeface="Georgia" pitchFamily="34" charset="-122"/>
                <a:cs typeface="Georgia" pitchFamily="34" charset="-120"/>
              </a:rPr>
              <a:t>Everyone has personally authored a rule and watched it block.</a:t>
            </a:r>
            <a:endParaRPr lang="en-US" sz="1550" dirty="0"/>
          </a:p>
        </p:txBody>
      </p:sp>
      <p:sp>
        <p:nvSpPr>
          <p:cNvPr id="8" name="Text 6"/>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Make it yours.</a:t>
            </a:r>
            <a:endParaRPr lang="en-US" sz="2600" dirty="0"/>
          </a:p>
        </p:txBody>
      </p:sp>
      <p:sp>
        <p:nvSpPr>
          <p:cNvPr id="4" name="Text 2"/>
          <p:cNvSpPr/>
          <p:nvPr/>
        </p:nvSpPr>
        <p:spPr>
          <a:xfrm>
            <a:off x="548640" y="1463040"/>
            <a:ext cx="411480" cy="457200"/>
          </a:xfrm>
          <a:prstGeom prst="rect">
            <a:avLst/>
          </a:prstGeom>
          <a:noFill/>
          <a:ln/>
        </p:spPr>
        <p:txBody>
          <a:bodyPr wrap="square" lIns="0" tIns="0" rIns="0" bIns="0" rtlCol="0" anchor="ctr"/>
          <a:lstStyle/>
          <a:p>
            <a:pPr indent="0" marL="0">
              <a:buNone/>
            </a:pPr>
            <a:r>
              <a:rPr lang="en-US" sz="1900" dirty="0">
                <a:solidFill>
                  <a:srgbClr val="CC785C"/>
                </a:solidFill>
                <a:latin typeface="Georgia" pitchFamily="34" charset="0"/>
                <a:ea typeface="Georgia" pitchFamily="34" charset="-122"/>
                <a:cs typeface="Georgia" pitchFamily="34" charset="-120"/>
              </a:rPr>
              <a:t>1</a:t>
            </a:r>
            <a:endParaRPr lang="en-US" sz="1900" dirty="0"/>
          </a:p>
        </p:txBody>
      </p:sp>
      <p:sp>
        <p:nvSpPr>
          <p:cNvPr id="5" name="Text 3"/>
          <p:cNvSpPr/>
          <p:nvPr/>
        </p:nvSpPr>
        <p:spPr>
          <a:xfrm>
            <a:off x="1051560" y="1481328"/>
            <a:ext cx="6858000" cy="45720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Who owns tooling standards</a:t>
            </a:r>
            <a:endParaRPr lang="en-US" sz="1700" dirty="0"/>
          </a:p>
        </p:txBody>
      </p:sp>
      <p:sp>
        <p:nvSpPr>
          <p:cNvPr id="6" name="Shape 4"/>
          <p:cNvSpPr/>
          <p:nvPr/>
        </p:nvSpPr>
        <p:spPr>
          <a:xfrm>
            <a:off x="548640" y="2029968"/>
            <a:ext cx="7589520" cy="0"/>
          </a:xfrm>
          <a:prstGeom prst="line">
            <a:avLst/>
          </a:prstGeom>
          <a:noFill/>
          <a:ln w="19050">
            <a:solidFill>
              <a:srgbClr val="F0EEE6"/>
            </a:solidFill>
            <a:prstDash val="solid"/>
          </a:ln>
        </p:spPr>
      </p:sp>
      <p:sp>
        <p:nvSpPr>
          <p:cNvPr id="7" name="Text 5"/>
          <p:cNvSpPr/>
          <p:nvPr/>
        </p:nvSpPr>
        <p:spPr>
          <a:xfrm>
            <a:off x="548640" y="2176272"/>
            <a:ext cx="411480" cy="457200"/>
          </a:xfrm>
          <a:prstGeom prst="rect">
            <a:avLst/>
          </a:prstGeom>
          <a:noFill/>
          <a:ln/>
        </p:spPr>
        <p:txBody>
          <a:bodyPr wrap="square" lIns="0" tIns="0" rIns="0" bIns="0" rtlCol="0" anchor="ctr"/>
          <a:lstStyle/>
          <a:p>
            <a:pPr indent="0" marL="0">
              <a:buNone/>
            </a:pPr>
            <a:r>
              <a:rPr lang="en-US" sz="1900" dirty="0">
                <a:solidFill>
                  <a:srgbClr val="CC785C"/>
                </a:solidFill>
                <a:latin typeface="Georgia" pitchFamily="34" charset="0"/>
                <a:ea typeface="Georgia" pitchFamily="34" charset="-122"/>
                <a:cs typeface="Georgia" pitchFamily="34" charset="-120"/>
              </a:rPr>
              <a:t>2</a:t>
            </a:r>
            <a:endParaRPr lang="en-US" sz="1900" dirty="0"/>
          </a:p>
        </p:txBody>
      </p:sp>
      <p:sp>
        <p:nvSpPr>
          <p:cNvPr id="8" name="Text 6"/>
          <p:cNvSpPr/>
          <p:nvPr/>
        </p:nvSpPr>
        <p:spPr>
          <a:xfrm>
            <a:off x="1051560" y="2194560"/>
            <a:ext cx="6858000" cy="45720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What's your agent audit story</a:t>
            </a:r>
            <a:endParaRPr lang="en-US" sz="1700" dirty="0"/>
          </a:p>
        </p:txBody>
      </p:sp>
      <p:sp>
        <p:nvSpPr>
          <p:cNvPr id="9" name="Shape 7"/>
          <p:cNvSpPr/>
          <p:nvPr/>
        </p:nvSpPr>
        <p:spPr>
          <a:xfrm>
            <a:off x="548640" y="2743200"/>
            <a:ext cx="7589520" cy="0"/>
          </a:xfrm>
          <a:prstGeom prst="line">
            <a:avLst/>
          </a:prstGeom>
          <a:noFill/>
          <a:ln w="19050">
            <a:solidFill>
              <a:srgbClr val="F0EEE6"/>
            </a:solidFill>
            <a:prstDash val="solid"/>
          </a:ln>
        </p:spPr>
      </p:sp>
      <p:sp>
        <p:nvSpPr>
          <p:cNvPr id="10" name="Text 8"/>
          <p:cNvSpPr/>
          <p:nvPr/>
        </p:nvSpPr>
        <p:spPr>
          <a:xfrm>
            <a:off x="548640" y="2889504"/>
            <a:ext cx="411480" cy="457200"/>
          </a:xfrm>
          <a:prstGeom prst="rect">
            <a:avLst/>
          </a:prstGeom>
          <a:noFill/>
          <a:ln/>
        </p:spPr>
        <p:txBody>
          <a:bodyPr wrap="square" lIns="0" tIns="0" rIns="0" bIns="0" rtlCol="0" anchor="ctr"/>
          <a:lstStyle/>
          <a:p>
            <a:pPr indent="0" marL="0">
              <a:buNone/>
            </a:pPr>
            <a:r>
              <a:rPr lang="en-US" sz="1900" dirty="0">
                <a:solidFill>
                  <a:srgbClr val="CC785C"/>
                </a:solidFill>
                <a:latin typeface="Georgia" pitchFamily="34" charset="0"/>
                <a:ea typeface="Georgia" pitchFamily="34" charset="-122"/>
                <a:cs typeface="Georgia" pitchFamily="34" charset="-120"/>
              </a:rPr>
              <a:t>3</a:t>
            </a:r>
            <a:endParaRPr lang="en-US" sz="1900" dirty="0"/>
          </a:p>
        </p:txBody>
      </p:sp>
      <p:sp>
        <p:nvSpPr>
          <p:cNvPr id="11" name="Text 9"/>
          <p:cNvSpPr/>
          <p:nvPr/>
        </p:nvSpPr>
        <p:spPr>
          <a:xfrm>
            <a:off x="1051560" y="2907792"/>
            <a:ext cx="6858000" cy="457200"/>
          </a:xfrm>
          <a:prstGeom prst="rect">
            <a:avLst/>
          </a:prstGeom>
          <a:noFill/>
          <a:ln/>
        </p:spPr>
        <p:txBody>
          <a:bodyPr wrap="square" lIns="0" tIns="0" rIns="0" bIns="0" rtlCol="0" anchor="ctr"/>
          <a:lstStyle/>
          <a:p>
            <a:pPr indent="0" marL="0">
              <a:buNone/>
            </a:pPr>
            <a:r>
              <a:rPr lang="en-US" sz="1700" dirty="0">
                <a:solidFill>
                  <a:srgbClr val="191919"/>
                </a:solidFill>
                <a:latin typeface="Georgia" pitchFamily="34" charset="0"/>
                <a:ea typeface="Georgia" pitchFamily="34" charset="-122"/>
                <a:cs typeface="Georgia" pitchFamily="34" charset="-120"/>
              </a:rPr>
              <a:t>What command should an agent never run here</a:t>
            </a:r>
            <a:endParaRPr lang="en-US" sz="1700" dirty="0"/>
          </a:p>
        </p:txBody>
      </p:sp>
      <p:sp>
        <p:nvSpPr>
          <p:cNvPr id="12" name="Text 10"/>
          <p:cNvSpPr/>
          <p:nvPr/>
        </p:nvSpPr>
        <p:spPr>
          <a:xfrm>
            <a:off x="548640" y="3977640"/>
            <a:ext cx="2743200" cy="274320"/>
          </a:xfrm>
          <a:prstGeom prst="rect">
            <a:avLst/>
          </a:prstGeom>
          <a:noFill/>
          <a:ln/>
        </p:spPr>
        <p:txBody>
          <a:bodyPr wrap="square" lIns="0" tIns="0" rIns="0" bIns="0" rtlCol="0" anchor="ctr"/>
          <a:lstStyle/>
          <a:p>
            <a:pPr algn="l" indent="0" marL="0">
              <a:buNone/>
            </a:pPr>
            <a:r>
              <a:rPr lang="en-US" sz="1050" b="1" spc="300" kern="0" dirty="0">
                <a:solidFill>
                  <a:srgbClr val="6B6B66"/>
                </a:solidFill>
                <a:latin typeface="Arial" pitchFamily="34" charset="0"/>
                <a:ea typeface="Arial" pitchFamily="34" charset="-122"/>
                <a:cs typeface="Arial" pitchFamily="34" charset="-120"/>
              </a:rPr>
              <a:t>THE NEXT STEP</a:t>
            </a:r>
            <a:endParaRPr lang="en-US" sz="1050" dirty="0"/>
          </a:p>
        </p:txBody>
      </p:sp>
      <p:sp>
        <p:nvSpPr>
          <p:cNvPr id="13" name="Text 11"/>
          <p:cNvSpPr/>
          <p:nvPr/>
        </p:nvSpPr>
        <p:spPr>
          <a:xfrm>
            <a:off x="548640" y="4279392"/>
            <a:ext cx="7589520" cy="411480"/>
          </a:xfrm>
          <a:prstGeom prst="rect">
            <a:avLst/>
          </a:prstGeom>
          <a:noFill/>
          <a:ln/>
        </p:spPr>
        <p:txBody>
          <a:bodyPr wrap="square" lIns="0" tIns="0" rIns="0" bIns="0" rtlCol="0" anchor="ctr"/>
          <a:lstStyle/>
          <a:p>
            <a:pPr indent="0" marL="0">
              <a:buNone/>
            </a:pPr>
            <a:r>
              <a:rPr lang="en-US" sz="1400" dirty="0">
                <a:solidFill>
                  <a:srgbClr val="191919"/>
                </a:solidFill>
                <a:latin typeface="Arial" pitchFamily="34" charset="0"/>
                <a:ea typeface="Arial" pitchFamily="34" charset="-122"/>
                <a:cs typeface="Arial" pitchFamily="34" charset="-120"/>
              </a:rPr>
              <a:t>Fork the repo, swap in your conventions, and ship your own policy gate inside two weeks.</a:t>
            </a:r>
            <a:endParaRPr lang="en-US" sz="1400" dirty="0"/>
          </a:p>
        </p:txBody>
      </p:sp>
      <p:sp>
        <p:nvSpPr>
          <p:cNvPr id="14" name="Text 12"/>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48640" y="457200"/>
            <a:ext cx="457200" cy="25603"/>
          </a:xfrm>
          <a:prstGeom prst="rect">
            <a:avLst/>
          </a:prstGeom>
          <a:solidFill>
            <a:srgbClr val="CC785C"/>
          </a:solidFill>
          <a:ln/>
        </p:spPr>
      </p:sp>
      <p:sp>
        <p:nvSpPr>
          <p:cNvPr id="3" name="Text 1"/>
          <p:cNvSpPr/>
          <p:nvPr/>
        </p:nvSpPr>
        <p:spPr>
          <a:xfrm>
            <a:off x="548640" y="566928"/>
            <a:ext cx="8046720" cy="685800"/>
          </a:xfrm>
          <a:prstGeom prst="rect">
            <a:avLst/>
          </a:prstGeom>
          <a:noFill/>
          <a:ln/>
        </p:spPr>
        <p:txBody>
          <a:bodyPr wrap="square" lIns="0" tIns="0" rIns="0" bIns="0" rtlCol="0" anchor="t"/>
          <a:lstStyle/>
          <a:p>
            <a:pPr algn="l" indent="0" marL="0">
              <a:buNone/>
            </a:pPr>
            <a:r>
              <a:rPr lang="en-US" sz="2600" dirty="0">
                <a:solidFill>
                  <a:srgbClr val="191919"/>
                </a:solidFill>
                <a:latin typeface="Georgia" pitchFamily="34" charset="0"/>
                <a:ea typeface="Georgia" pitchFamily="34" charset="-122"/>
                <a:cs typeface="Georgia" pitchFamily="34" charset="-120"/>
              </a:rPr>
              <a:t>Recap, then run it in your repo.</a:t>
            </a:r>
            <a:endParaRPr lang="en-US" sz="2600" dirty="0"/>
          </a:p>
        </p:txBody>
      </p:sp>
      <p:sp>
        <p:nvSpPr>
          <p:cNvPr id="4" name="Text 2"/>
          <p:cNvSpPr/>
          <p:nvPr/>
        </p:nvSpPr>
        <p:spPr>
          <a:xfrm>
            <a:off x="548640" y="1463040"/>
            <a:ext cx="411480" cy="457200"/>
          </a:xfrm>
          <a:prstGeom prst="rect">
            <a:avLst/>
          </a:prstGeom>
          <a:noFill/>
          <a:ln/>
        </p:spPr>
        <p:txBody>
          <a:bodyPr wrap="square" lIns="0" tIns="0" rIns="0" bIns="0" rtlCol="0" anchor="ctr"/>
          <a:lstStyle/>
          <a:p>
            <a:pPr indent="0" marL="0">
              <a:buNone/>
            </a:pPr>
            <a:r>
              <a:rPr lang="en-US" sz="1800" dirty="0">
                <a:solidFill>
                  <a:srgbClr val="CC785C"/>
                </a:solidFill>
                <a:latin typeface="Georgia" pitchFamily="34" charset="0"/>
                <a:ea typeface="Georgia" pitchFamily="34" charset="-122"/>
                <a:cs typeface="Georgia" pitchFamily="34" charset="-120"/>
              </a:rPr>
              <a:t>1</a:t>
            </a:r>
            <a:endParaRPr lang="en-US" sz="1800" dirty="0"/>
          </a:p>
        </p:txBody>
      </p:sp>
      <p:sp>
        <p:nvSpPr>
          <p:cNvPr id="5" name="Text 3"/>
          <p:cNvSpPr/>
          <p:nvPr/>
        </p:nvSpPr>
        <p:spPr>
          <a:xfrm>
            <a:off x="1051560" y="1490472"/>
            <a:ext cx="4206240" cy="548640"/>
          </a:xfrm>
          <a:prstGeom prst="rect">
            <a:avLst/>
          </a:prstGeom>
          <a:noFill/>
          <a:ln/>
        </p:spPr>
        <p:txBody>
          <a:bodyPr wrap="square" lIns="0" tIns="0" rIns="0" bIns="0" rtlCol="0" anchor="ctr"/>
          <a:lstStyle/>
          <a:p>
            <a:pPr indent="0" marL="0">
              <a:buNone/>
            </a:pPr>
            <a:r>
              <a:rPr lang="en-US" sz="1500" dirty="0">
                <a:solidFill>
                  <a:srgbClr val="191919"/>
                </a:solidFill>
                <a:latin typeface="Georgia" pitchFamily="34" charset="0"/>
                <a:ea typeface="Georgia" pitchFamily="34" charset="-122"/>
                <a:cs typeface="Georgia" pitchFamily="34" charset="-120"/>
              </a:rPr>
              <a:t>The plugin is the unit of rollout.</a:t>
            </a:r>
            <a:endParaRPr lang="en-US" sz="1500" dirty="0"/>
          </a:p>
        </p:txBody>
      </p:sp>
      <p:sp>
        <p:nvSpPr>
          <p:cNvPr id="6" name="Text 4"/>
          <p:cNvSpPr/>
          <p:nvPr/>
        </p:nvSpPr>
        <p:spPr>
          <a:xfrm>
            <a:off x="548640" y="2121408"/>
            <a:ext cx="411480" cy="457200"/>
          </a:xfrm>
          <a:prstGeom prst="rect">
            <a:avLst/>
          </a:prstGeom>
          <a:noFill/>
          <a:ln/>
        </p:spPr>
        <p:txBody>
          <a:bodyPr wrap="square" lIns="0" tIns="0" rIns="0" bIns="0" rtlCol="0" anchor="ctr"/>
          <a:lstStyle/>
          <a:p>
            <a:pPr indent="0" marL="0">
              <a:buNone/>
            </a:pPr>
            <a:r>
              <a:rPr lang="en-US" sz="1800" dirty="0">
                <a:solidFill>
                  <a:srgbClr val="CC785C"/>
                </a:solidFill>
                <a:latin typeface="Georgia" pitchFamily="34" charset="0"/>
                <a:ea typeface="Georgia" pitchFamily="34" charset="-122"/>
                <a:cs typeface="Georgia" pitchFamily="34" charset="-120"/>
              </a:rPr>
              <a:t>2</a:t>
            </a:r>
            <a:endParaRPr lang="en-US" sz="1800" dirty="0"/>
          </a:p>
        </p:txBody>
      </p:sp>
      <p:sp>
        <p:nvSpPr>
          <p:cNvPr id="7" name="Text 5"/>
          <p:cNvSpPr/>
          <p:nvPr/>
        </p:nvSpPr>
        <p:spPr>
          <a:xfrm>
            <a:off x="1051560" y="2148840"/>
            <a:ext cx="4206240" cy="548640"/>
          </a:xfrm>
          <a:prstGeom prst="rect">
            <a:avLst/>
          </a:prstGeom>
          <a:noFill/>
          <a:ln/>
        </p:spPr>
        <p:txBody>
          <a:bodyPr wrap="square" lIns="0" tIns="0" rIns="0" bIns="0" rtlCol="0" anchor="ctr"/>
          <a:lstStyle/>
          <a:p>
            <a:pPr indent="0" marL="0">
              <a:buNone/>
            </a:pPr>
            <a:r>
              <a:rPr lang="en-US" sz="1500" dirty="0">
                <a:solidFill>
                  <a:srgbClr val="191919"/>
                </a:solidFill>
                <a:latin typeface="Georgia" pitchFamily="34" charset="0"/>
                <a:ea typeface="Georgia" pitchFamily="34" charset="-122"/>
                <a:cs typeface="Georgia" pitchFamily="34" charset="-120"/>
              </a:rPr>
              <a:t>An instruction can be ignored. A process gate can't.</a:t>
            </a:r>
            <a:endParaRPr lang="en-US" sz="1500" dirty="0"/>
          </a:p>
        </p:txBody>
      </p:sp>
      <p:sp>
        <p:nvSpPr>
          <p:cNvPr id="8" name="Text 6"/>
          <p:cNvSpPr/>
          <p:nvPr/>
        </p:nvSpPr>
        <p:spPr>
          <a:xfrm>
            <a:off x="548640" y="2779776"/>
            <a:ext cx="411480" cy="457200"/>
          </a:xfrm>
          <a:prstGeom prst="rect">
            <a:avLst/>
          </a:prstGeom>
          <a:noFill/>
          <a:ln/>
        </p:spPr>
        <p:txBody>
          <a:bodyPr wrap="square" lIns="0" tIns="0" rIns="0" bIns="0" rtlCol="0" anchor="ctr"/>
          <a:lstStyle/>
          <a:p>
            <a:pPr indent="0" marL="0">
              <a:buNone/>
            </a:pPr>
            <a:r>
              <a:rPr lang="en-US" sz="1800" dirty="0">
                <a:solidFill>
                  <a:srgbClr val="CC785C"/>
                </a:solidFill>
                <a:latin typeface="Georgia" pitchFamily="34" charset="0"/>
                <a:ea typeface="Georgia" pitchFamily="34" charset="-122"/>
                <a:cs typeface="Georgia" pitchFamily="34" charset="-120"/>
              </a:rPr>
              <a:t>3</a:t>
            </a:r>
            <a:endParaRPr lang="en-US" sz="1800" dirty="0"/>
          </a:p>
        </p:txBody>
      </p:sp>
      <p:sp>
        <p:nvSpPr>
          <p:cNvPr id="9" name="Text 7"/>
          <p:cNvSpPr/>
          <p:nvPr/>
        </p:nvSpPr>
        <p:spPr>
          <a:xfrm>
            <a:off x="1051560" y="2807208"/>
            <a:ext cx="4206240" cy="548640"/>
          </a:xfrm>
          <a:prstGeom prst="rect">
            <a:avLst/>
          </a:prstGeom>
          <a:noFill/>
          <a:ln/>
        </p:spPr>
        <p:txBody>
          <a:bodyPr wrap="square" lIns="0" tIns="0" rIns="0" bIns="0" rtlCol="0" anchor="ctr"/>
          <a:lstStyle/>
          <a:p>
            <a:pPr indent="0" marL="0">
              <a:buNone/>
            </a:pPr>
            <a:r>
              <a:rPr lang="en-US" sz="1500" dirty="0">
                <a:solidFill>
                  <a:srgbClr val="191919"/>
                </a:solidFill>
                <a:latin typeface="Georgia" pitchFamily="34" charset="0"/>
                <a:ea typeface="Georgia" pitchFamily="34" charset="-122"/>
                <a:cs typeface="Georgia" pitchFamily="34" charset="-120"/>
              </a:rPr>
              <a:t>Policy ships like software.</a:t>
            </a:r>
            <a:endParaRPr lang="en-US" sz="1500" dirty="0"/>
          </a:p>
        </p:txBody>
      </p:sp>
      <p:sp>
        <p:nvSpPr>
          <p:cNvPr id="10" name="Shape 8"/>
          <p:cNvSpPr/>
          <p:nvPr/>
        </p:nvSpPr>
        <p:spPr>
          <a:xfrm>
            <a:off x="5486400" y="1417320"/>
            <a:ext cx="3108960" cy="2743200"/>
          </a:xfrm>
          <a:prstGeom prst="rect">
            <a:avLst/>
          </a:prstGeom>
          <a:solidFill>
            <a:srgbClr val="F0EEE6"/>
          </a:solidFill>
          <a:ln/>
        </p:spPr>
      </p:sp>
      <p:sp>
        <p:nvSpPr>
          <p:cNvPr id="11" name="Text 9"/>
          <p:cNvSpPr/>
          <p:nvPr/>
        </p:nvSpPr>
        <p:spPr>
          <a:xfrm>
            <a:off x="5742432" y="1600200"/>
            <a:ext cx="2596896" cy="320040"/>
          </a:xfrm>
          <a:prstGeom prst="rect">
            <a:avLst/>
          </a:prstGeom>
          <a:noFill/>
          <a:ln/>
        </p:spPr>
        <p:txBody>
          <a:bodyPr wrap="square" lIns="0" tIns="0" rIns="0" bIns="0" rtlCol="0" anchor="ctr"/>
          <a:lstStyle/>
          <a:p>
            <a:pPr indent="0" marL="0">
              <a:buNone/>
            </a:pPr>
            <a:r>
              <a:rPr lang="en-US" sz="1500" b="1" dirty="0">
                <a:solidFill>
                  <a:srgbClr val="191919"/>
                </a:solidFill>
                <a:latin typeface="Georgia" pitchFamily="34" charset="0"/>
                <a:ea typeface="Georgia" pitchFamily="34" charset="-122"/>
                <a:cs typeface="Georgia" pitchFamily="34" charset="-120"/>
              </a:rPr>
              <a:t>Next steps</a:t>
            </a:r>
            <a:endParaRPr lang="en-US" sz="1500" dirty="0"/>
          </a:p>
        </p:txBody>
      </p:sp>
      <p:sp>
        <p:nvSpPr>
          <p:cNvPr id="12" name="Text 10"/>
          <p:cNvSpPr/>
          <p:nvPr/>
        </p:nvSpPr>
        <p:spPr>
          <a:xfrm>
            <a:off x="5742432" y="2011680"/>
            <a:ext cx="2596896" cy="20116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91919"/>
                </a:solidFill>
                <a:latin typeface="Arial" pitchFamily="34" charset="0"/>
                <a:ea typeface="Arial" pitchFamily="34" charset="-122"/>
                <a:cs typeface="Arial" pitchFamily="34" charset="-120"/>
              </a:rPr>
              <a:t>Clone the repo and run the harness: 22 checks, zero tokens</a:t>
            </a:r>
            <a:endParaRPr lang="en-US" sz="1150" dirty="0"/>
          </a:p>
          <a:p>
            <a:pPr marL="342900" indent="-342900">
              <a:spcAft>
                <a:spcPts val="800"/>
              </a:spcAft>
              <a:buSzPct val="100000"/>
              <a:buChar char="•"/>
            </a:pPr>
            <a:r>
              <a:rPr lang="en-US" sz="1150" dirty="0">
                <a:solidFill>
                  <a:srgbClr val="191919"/>
                </a:solidFill>
                <a:latin typeface="Arial" pitchFamily="34" charset="0"/>
                <a:ea typeface="Arial" pitchFamily="34" charset="-122"/>
                <a:cs typeface="Arial" pitchFamily="34" charset="-120"/>
              </a:rPr>
              <a:t>Rerun the four beats yourself from PROMPTS.md</a:t>
            </a:r>
            <a:endParaRPr lang="en-US" sz="1150" dirty="0"/>
          </a:p>
          <a:p>
            <a:pPr marL="342900" indent="-342900">
              <a:spcAft>
                <a:spcPts val="800"/>
              </a:spcAft>
              <a:buSzPct val="100000"/>
              <a:buChar char="•"/>
            </a:pPr>
            <a:r>
              <a:rPr lang="en-US" sz="1150" dirty="0">
                <a:solidFill>
                  <a:srgbClr val="191919"/>
                </a:solidFill>
                <a:latin typeface="Arial" pitchFamily="34" charset="0"/>
                <a:ea typeface="Arial" pitchFamily="34" charset="-122"/>
                <a:cs typeface="Arial" pitchFamily="34" charset="-120"/>
              </a:rPr>
              <a:t>Add your first rule and prove it with try.js</a:t>
            </a:r>
            <a:endParaRPr lang="en-US" sz="1150" dirty="0"/>
          </a:p>
          <a:p>
            <a:pPr marL="342900" indent="-342900">
              <a:spcAft>
                <a:spcPts val="800"/>
              </a:spcAft>
              <a:buSzPct val="100000"/>
              <a:buChar char="•"/>
            </a:pPr>
            <a:r>
              <a:rPr lang="en-US" sz="1150" dirty="0">
                <a:solidFill>
                  <a:srgbClr val="191919"/>
                </a:solidFill>
                <a:latin typeface="Arial" pitchFamily="34" charset="0"/>
                <a:ea typeface="Arial" pitchFamily="34" charset="-122"/>
                <a:cs typeface="Arial" pitchFamily="34" charset="-120"/>
              </a:rPr>
              <a:t>Scope a two-week pilot with us</a:t>
            </a:r>
            <a:endParaRPr lang="en-US" sz="1150" dirty="0"/>
          </a:p>
        </p:txBody>
      </p:sp>
      <p:sp>
        <p:nvSpPr>
          <p:cNvPr id="13" name="Text 11"/>
          <p:cNvSpPr/>
          <p:nvPr/>
        </p:nvSpPr>
        <p:spPr>
          <a:xfrm>
            <a:off x="548640" y="4069080"/>
            <a:ext cx="4663440" cy="457200"/>
          </a:xfrm>
          <a:prstGeom prst="rect">
            <a:avLst/>
          </a:prstGeom>
          <a:noFill/>
          <a:ln/>
        </p:spPr>
        <p:txBody>
          <a:bodyPr wrap="square" lIns="0" tIns="0" rIns="0" bIns="0" rtlCol="0" anchor="ctr"/>
          <a:lstStyle/>
          <a:p>
            <a:pPr indent="0" marL="0">
              <a:buNone/>
            </a:pPr>
            <a:r>
              <a:rPr lang="en-US" sz="1400" i="1" dirty="0">
                <a:solidFill>
                  <a:srgbClr val="6B6B66"/>
                </a:solidFill>
                <a:latin typeface="Georgia" pitchFamily="34" charset="0"/>
                <a:ea typeface="Georgia" pitchFamily="34" charset="-122"/>
                <a:cs typeface="Georgia" pitchFamily="34" charset="-120"/>
              </a:rPr>
              <a:t>The demo ends with your policy in the artifact.</a:t>
            </a:r>
            <a:endParaRPr lang="en-US" sz="1400" dirty="0"/>
          </a:p>
        </p:txBody>
      </p:sp>
      <p:sp>
        <p:nvSpPr>
          <p:cNvPr id="14" name="Text 12"/>
          <p:cNvSpPr/>
          <p:nvPr/>
        </p:nvSpPr>
        <p:spPr>
          <a:xfrm>
            <a:off x="548640" y="4686300"/>
            <a:ext cx="4572000" cy="274320"/>
          </a:xfrm>
          <a:prstGeom prst="rect">
            <a:avLst/>
          </a:prstGeom>
          <a:noFill/>
          <a:ln/>
        </p:spPr>
        <p:txBody>
          <a:bodyPr wrap="square" lIns="0" tIns="0" rIns="0" bIns="0" rtlCol="0" anchor="ctr"/>
          <a:lstStyle/>
          <a:p>
            <a:pPr indent="0" marL="0">
              <a:buNone/>
            </a:pPr>
            <a:r>
              <a:rPr lang="en-US" sz="1050" dirty="0">
                <a:solidFill>
                  <a:srgbClr val="CC785C"/>
                </a:solidFill>
                <a:latin typeface="Consolas" pitchFamily="34" charset="0"/>
                <a:ea typeface="Consolas" pitchFamily="34" charset="-122"/>
                <a:cs typeface="Consolas" pitchFamily="34" charset="-120"/>
              </a:rPr>
              <a:t>github.com/andymadson/data-platform-pack</a:t>
            </a:r>
            <a:endParaRPr lang="en-US" sz="1050" dirty="0"/>
          </a:p>
        </p:txBody>
      </p:sp>
      <p:sp>
        <p:nvSpPr>
          <p:cNvPr id="15" name="Text 13"/>
          <p:cNvSpPr/>
          <p:nvPr/>
        </p:nvSpPr>
        <p:spPr>
          <a:xfrm>
            <a:off x="8458200" y="4759452"/>
            <a:ext cx="320040" cy="274320"/>
          </a:xfrm>
          <a:prstGeom prst="rect">
            <a:avLst/>
          </a:prstGeom>
          <a:noFill/>
          <a:ln/>
        </p:spPr>
        <p:txBody>
          <a:bodyPr wrap="square" lIns="0" tIns="0" rIns="0" bIns="0" rtlCol="0" anchor="ctr"/>
          <a:lstStyle/>
          <a:p>
            <a:pPr algn="r" indent="0" marL="0">
              <a:buNone/>
            </a:pPr>
            <a:r>
              <a:rPr lang="en-US" sz="900" dirty="0">
                <a:solidFill>
                  <a:srgbClr val="6B6B66"/>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Plugins: the enterprise rollout story</dc:title>
  <dc:subject>Claude Code plugins enablement</dc:subject>
  <dc:creator>Andy Madson</dc:creator>
  <cp:lastModifiedBy>Andy Madson</cp:lastModifiedBy>
  <cp:revision>1</cp:revision>
  <dcterms:created xsi:type="dcterms:W3CDTF">2026-06-10T19:42:40Z</dcterms:created>
  <dcterms:modified xsi:type="dcterms:W3CDTF">2026-06-10T19:42:40Z</dcterms:modified>
</cp:coreProperties>
</file>