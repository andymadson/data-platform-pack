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in silence and let the number sit. Then: this dashboard is wrong by $129.50; the real number is $171.50; and the query that produced it passed review. These are real values from this kit's seeded data (a returned order counted as revenue), and beat 2 catches this exact bug live at minute 11. Timing: 0:00 to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the cold open: this session is about why that happens at fleet scale and what fixes it. Set the shape of the half hour: eight minutes of framing, twelve minutes live in the terminal, then their hands on keyboards. Timing: 0:40 to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 NOTE: Maya is a stand-in. Swap in a real engineer's name or a real anecdote from this account and the whole arc still holds; the name appears on slides 3, 6, 7, and 10 and in these notes. Talk track: every team has a Maya. Her checklist catches exactly the bug on slide 1, her settings block prod writes, and none of it survives contact with the other 199 laptops. Timing: 1:00 to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scale turn. Two hundred engineers means two hundred slightly different setups, no way to push a fix, and security has no idea what is running where. Maya's judgment does not scale by hiring more Mayas. Timing: 2:00 to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thesis and pause. The org does not lack capability; it lacks a way to distribute and enforce the capability it already has. Everything after this slide is the distribution story. Timing: 2:30 to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definition while the diagram is up: a plugin is Maya's judgment shipped as one versioned package, installed from a marketplace your platform team owns. Walk it left to right. Two facts out loud: components live at the plugin root, and installed plugins run from a cache copy until a new version ships. If you renamed Maya on slide 3, rename her here too. Timing: 3:00 to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each component in something the room already has. Every team has the checklist doc and the unwritten never-run-this rules; the plugin is where they go to become enforceable. Everything on this slide gets touched live within fifteen minutes. Timing: 4:30 to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honesty slide. If they are one repo on one laptop, a committed .claude/ folder is fine and you should say so out loud; it buys credibility for everything else. This is the when-would-I-use-this answer a platform lead writes down. Timing: 6:00 to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Distribution is git plus two commands. The marketplace is a repo the platform team owns and reviews like any other code; nothing new to operate. Then hand off to the live section: let's stop describing it. Timing: 7:00 to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and run beat 1 from PROMPTS.md, from demo-project/. Open /plugin and show what arrived. Line to land: ninety seconds ago this machine was vanilla; now it has the team's conventions, reviewer, and guardrails. Timing: 8:00 to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review live. When rule 4 lands, point back at the cold open: that is the $129.50. This is Maya's checklist working without Maya in the room. If the run adds a WARN beyond the four seeded findings, even better; narrate it as a bonus. Timing: 10:00 to 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Claude to drop the corrupted prod table. If the guard denies, these exact lines appear live. If Claude refuses without attempting anything (it did in validation), narrate it as layer one, the model's judgment, then run the prod-target probe from PROMPTS.md beat 3 to bring the gate on screen. Then cat .claude/audit/agent-audit-*.jsonl: denials next to executions. Pause here; the objection will surface, and the answer is on screen. Timing: 13:00 to 17:00.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participation climax. Take the room's first answer (terraform apply is the usual one), add the rule to policy.json, prove it with try.js in under a second with zero tokens, run the harness to show nothing regressed, bump the version, and narrate the fleet update. Their rule is now policy. Timing: 17:00 to 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receipts, then flip to hands-on: attendees run the harness from their clone, install from the local marketplace (start Claude in demo-project/ and use ../), trigger one deny themselves, then author one rule and make the harness pass. Circulate. No laptops in the room? Run beat 4 twice more with audience rules. Timing: 20:00 to 26:00.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 the three questions and let the room answer; they are discovery, and the answers tell you where a pilot lands. The ask is the two-week pilot: fork, swap in their conventions and policy, run it in their repo. Timing: 26:00 to 29:00.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uninstalling and reinstalling the plugin on screen, under a minute: distribution is the product, worth showing twice. After the room leaves, uninstall and remove the marketplace so the machine is clean for the next session. Timing: 29:00 to 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91919"/>
        </a:solidFill>
      </p:bgPr>
    </p:bg>
    <p:spTree>
      <p:nvGrpSpPr>
        <p:cNvPr id="1" name=""/>
        <p:cNvGrpSpPr/>
        <p:nvPr/>
      </p:nvGrpSpPr>
      <p:grpSpPr>
        <a:xfrm>
          <a:off x="0" y="0"/>
          <a:ext cx="0" cy="0"/>
          <a:chOff x="0" y="0"/>
          <a:chExt cx="0" cy="0"/>
        </a:xfrm>
      </p:grpSpPr>
      <p:sp>
        <p:nvSpPr>
          <p:cNvPr id="2" name="Text 0"/>
          <p:cNvSpPr/>
          <p:nvPr/>
        </p:nvSpPr>
        <p:spPr>
          <a:xfrm>
            <a:off x="548640" y="777240"/>
            <a:ext cx="5486400" cy="256032"/>
          </a:xfrm>
          <a:prstGeom prst="rect">
            <a:avLst/>
          </a:prstGeom>
          <a:noFill/>
          <a:ln/>
        </p:spPr>
        <p:txBody>
          <a:bodyPr wrap="square" lIns="0" tIns="0" rIns="0" bIns="0" rtlCol="0" anchor="ctr"/>
          <a:lstStyle/>
          <a:p>
            <a:pPr indent="0" marL="0">
              <a:buNone/>
            </a:pPr>
            <a:r>
              <a:rPr lang="en-US" sz="1050" b="1" spc="300" kern="0" dirty="0">
                <a:solidFill>
                  <a:srgbClr val="D4A27F"/>
                </a:solidFill>
                <a:latin typeface="Arial" pitchFamily="34" charset="0"/>
                <a:ea typeface="Arial" pitchFamily="34" charset="-122"/>
                <a:cs typeface="Arial" pitchFamily="34" charset="-120"/>
              </a:rPr>
              <a:t>A TRUE STORY FROM THIS DEMO'S DATA</a:t>
            </a:r>
            <a:endParaRPr lang="en-US" sz="1050" dirty="0"/>
          </a:p>
        </p:txBody>
      </p:sp>
      <p:sp>
        <p:nvSpPr>
          <p:cNvPr id="3" name="Text 1"/>
          <p:cNvSpPr/>
          <p:nvPr/>
        </p:nvSpPr>
        <p:spPr>
          <a:xfrm>
            <a:off x="548640" y="1600200"/>
            <a:ext cx="8046720" cy="1463040"/>
          </a:xfrm>
          <a:prstGeom prst="rect">
            <a:avLst/>
          </a:prstGeom>
          <a:noFill/>
          <a:ln/>
        </p:spPr>
        <p:txBody>
          <a:bodyPr wrap="square" lIns="0" tIns="0" rIns="0" bIns="0" rtlCol="0" anchor="ctr"/>
          <a:lstStyle/>
          <a:p>
            <a:pPr indent="0" marL="0">
              <a:buNone/>
            </a:pPr>
            <a:r>
              <a:rPr lang="en-US" sz="8800" dirty="0">
                <a:solidFill>
                  <a:srgbClr val="FAF9F5"/>
                </a:solidFill>
                <a:latin typeface="Georgia" pitchFamily="34" charset="0"/>
                <a:ea typeface="Georgia" pitchFamily="34" charset="-122"/>
                <a:cs typeface="Georgia" pitchFamily="34" charset="-120"/>
              </a:rPr>
              <a:t>$301.00</a:t>
            </a:r>
            <a:endParaRPr lang="en-US" sz="8800" dirty="0"/>
          </a:p>
        </p:txBody>
      </p:sp>
      <p:sp>
        <p:nvSpPr>
          <p:cNvPr id="4" name="Text 2"/>
          <p:cNvSpPr/>
          <p:nvPr/>
        </p:nvSpPr>
        <p:spPr>
          <a:xfrm>
            <a:off x="548640" y="3337560"/>
            <a:ext cx="7315200" cy="365760"/>
          </a:xfrm>
          <a:prstGeom prst="rect">
            <a:avLst/>
          </a:prstGeom>
          <a:noFill/>
          <a:ln/>
        </p:spPr>
        <p:txBody>
          <a:bodyPr wrap="square" lIns="0" tIns="0" rIns="0" bIns="0" rtlCol="0" anchor="ctr"/>
          <a:lstStyle/>
          <a:p>
            <a:pPr indent="0" marL="0">
              <a:buNone/>
            </a:pPr>
            <a:r>
              <a:rPr lang="en-US" sz="1600" dirty="0">
                <a:solidFill>
                  <a:srgbClr val="B4B2A9"/>
                </a:solidFill>
                <a:latin typeface="Arial" pitchFamily="34" charset="0"/>
                <a:ea typeface="Arial" pitchFamily="34" charset="-122"/>
                <a:cs typeface="Arial" pitchFamily="34" charset="-120"/>
              </a:rPr>
              <a:t>What the revenue dashboard said.</a:t>
            </a:r>
            <a:endParaRPr lang="en-US" sz="1600" dirty="0"/>
          </a:p>
        </p:txBody>
      </p:sp>
      <p:sp>
        <p:nvSpPr>
          <p:cNvPr id="5" name="Text 3"/>
          <p:cNvSpPr/>
          <p:nvPr/>
        </p:nvSpPr>
        <p:spPr>
          <a:xfrm>
            <a:off x="548640" y="3767328"/>
            <a:ext cx="7315200" cy="365760"/>
          </a:xfrm>
          <a:prstGeom prst="rect">
            <a:avLst/>
          </a:prstGeom>
          <a:noFill/>
          <a:ln/>
        </p:spPr>
        <p:txBody>
          <a:bodyPr wrap="square" lIns="0" tIns="0" rIns="0" bIns="0" rtlCol="0" anchor="ctr"/>
          <a:lstStyle/>
          <a:p>
            <a:pPr indent="0" marL="0">
              <a:buNone/>
            </a:pPr>
            <a:r>
              <a:rPr lang="en-US" sz="1600" dirty="0">
                <a:solidFill>
                  <a:srgbClr val="CC785C"/>
                </a:solidFill>
                <a:latin typeface="Arial" pitchFamily="34" charset="0"/>
                <a:ea typeface="Arial" pitchFamily="34" charset="-122"/>
                <a:cs typeface="Arial" pitchFamily="34" charset="-120"/>
              </a:rPr>
              <a:t>The real number was $171.50. The query passed review.</a:t>
            </a:r>
            <a:endParaRPr lang="en-US" sz="1600" dirty="0"/>
          </a:p>
        </p:txBody>
      </p:sp>
      <p:sp>
        <p:nvSpPr>
          <p:cNvPr id="6" name="Text 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888780"/>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1572768"/>
            <a:ext cx="457200" cy="27432"/>
          </a:xfrm>
          <a:prstGeom prst="rect">
            <a:avLst/>
          </a:prstGeom>
          <a:solidFill>
            <a:srgbClr val="CC785C"/>
          </a:solidFill>
          <a:ln/>
        </p:spPr>
      </p:sp>
      <p:sp>
        <p:nvSpPr>
          <p:cNvPr id="3" name="Text 1"/>
          <p:cNvSpPr/>
          <p:nvPr/>
        </p:nvSpPr>
        <p:spPr>
          <a:xfrm>
            <a:off x="548640" y="1755648"/>
            <a:ext cx="7863840" cy="1188720"/>
          </a:xfrm>
          <a:prstGeom prst="rect">
            <a:avLst/>
          </a:prstGeom>
          <a:noFill/>
          <a:ln/>
        </p:spPr>
        <p:txBody>
          <a:bodyPr wrap="square" lIns="0" tIns="0" rIns="0" bIns="0" rtlCol="0" anchor="t"/>
          <a:lstStyle/>
          <a:p>
            <a:pPr indent="0" marL="0">
              <a:buNone/>
            </a:pPr>
            <a:r>
              <a:rPr lang="en-US" sz="3800" dirty="0">
                <a:solidFill>
                  <a:srgbClr val="191919"/>
                </a:solidFill>
                <a:latin typeface="Georgia" pitchFamily="34" charset="0"/>
                <a:ea typeface="Georgia" pitchFamily="34" charset="-122"/>
                <a:cs typeface="Georgia" pitchFamily="34" charset="-120"/>
              </a:rPr>
              <a:t>Plugins: the enterprise rollout story.</a:t>
            </a:r>
            <a:endParaRPr lang="en-US" sz="3800" dirty="0"/>
          </a:p>
        </p:txBody>
      </p:sp>
      <p:sp>
        <p:nvSpPr>
          <p:cNvPr id="4" name="Text 2"/>
          <p:cNvSpPr/>
          <p:nvPr/>
        </p:nvSpPr>
        <p:spPr>
          <a:xfrm>
            <a:off x="548640" y="2971800"/>
            <a:ext cx="7315200" cy="365760"/>
          </a:xfrm>
          <a:prstGeom prst="rect">
            <a:avLst/>
          </a:prstGeom>
          <a:noFill/>
          <a:ln/>
        </p:spPr>
        <p:txBody>
          <a:bodyPr wrap="square" lIns="0" tIns="0" rIns="0" bIns="0" rtlCol="0" anchor="ctr"/>
          <a:lstStyle/>
          <a:p>
            <a:pPr indent="0" marL="0">
              <a:buNone/>
            </a:pPr>
            <a:r>
              <a:rPr lang="en-US" sz="1500" dirty="0">
                <a:solidFill>
                  <a:srgbClr val="6B6B66"/>
                </a:solidFill>
                <a:latin typeface="Arial" pitchFamily="34" charset="0"/>
                <a:ea typeface="Arial" pitchFamily="34" charset="-122"/>
                <a:cs typeface="Arial" pitchFamily="34" charset="-120"/>
              </a:rPr>
              <a:t>Every engineer, the same setup, your policies attached. A 30-minute working session.</a:t>
            </a:r>
            <a:endParaRPr lang="en-US" sz="1500" dirty="0"/>
          </a:p>
        </p:txBody>
      </p:sp>
      <p:sp>
        <p:nvSpPr>
          <p:cNvPr id="5" name="Text 3"/>
          <p:cNvSpPr/>
          <p:nvPr/>
        </p:nvSpPr>
        <p:spPr>
          <a:xfrm>
            <a:off x="548640" y="4732020"/>
            <a:ext cx="5486400" cy="274320"/>
          </a:xfrm>
          <a:prstGeom prst="rect">
            <a:avLst/>
          </a:prstGeom>
          <a:noFill/>
          <a:ln/>
        </p:spPr>
        <p:txBody>
          <a:bodyPr wrap="square" lIns="0" tIns="0" rIns="0" bIns="0" rtlCol="0" anchor="ctr"/>
          <a:lstStyle/>
          <a:p>
            <a:pPr indent="0" marL="0">
              <a:buNone/>
            </a:pPr>
            <a:r>
              <a:rPr lang="en-US" sz="1100" dirty="0">
                <a:solidFill>
                  <a:srgbClr val="CC785C"/>
                </a:solidFill>
                <a:latin typeface="Consolas" pitchFamily="34" charset="0"/>
                <a:ea typeface="Consolas" pitchFamily="34" charset="-122"/>
                <a:cs typeface="Consolas" pitchFamily="34" charset="-120"/>
              </a:rPr>
              <a:t>github.com/andymadson/data-platform-pack</a:t>
            </a:r>
            <a:endParaRPr lang="en-US" sz="1100" dirty="0"/>
          </a:p>
        </p:txBody>
      </p:sp>
      <p:sp>
        <p:nvSpPr>
          <p:cNvPr id="6" name="Text 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Maya would have caught it.</a:t>
            </a:r>
            <a:endParaRPr lang="en-US" sz="2600" dirty="0"/>
          </a:p>
        </p:txBody>
      </p:sp>
      <p:sp>
        <p:nvSpPr>
          <p:cNvPr id="4" name="Text 2"/>
          <p:cNvSpPr/>
          <p:nvPr/>
        </p:nvSpPr>
        <p:spPr>
          <a:xfrm>
            <a:off x="548640" y="1463040"/>
            <a:ext cx="4206240" cy="2560320"/>
          </a:xfrm>
          <a:prstGeom prst="rect">
            <a:avLst/>
          </a:prstGeom>
          <a:noFill/>
          <a:ln/>
        </p:spPr>
        <p:txBody>
          <a:bodyPr wrap="square" lIns="0" tIns="0" rIns="0" bIns="0" rtlCol="0" anchor="t"/>
          <a:lstStyle/>
          <a:p>
            <a:pPr indent="0" marL="0">
              <a:lnSpc>
                <a:spcPts val="2200"/>
              </a:lnSpc>
              <a:spcAft>
                <a:spcPts val="1200"/>
              </a:spcAft>
              <a:buNone/>
            </a:pPr>
            <a:r>
              <a:rPr lang="en-US" sz="1450" dirty="0">
                <a:solidFill>
                  <a:srgbClr val="191919"/>
                </a:solidFill>
                <a:latin typeface="Arial" pitchFamily="34" charset="0"/>
                <a:ea typeface="Arial" pitchFamily="34" charset="-122"/>
                <a:cs typeface="Arial" pitchFamily="34" charset="-120"/>
              </a:rPr>
              <a:t>Your best data engineer. Her review checklist flags returns counted as revenue. Her settings block prod writes. Her instincts are why her repos stay clean.</a:t>
            </a:r>
            <a:endParaRPr lang="en-US" sz="1450" dirty="0"/>
          </a:p>
          <a:p>
            <a:pPr indent="0" marL="0">
              <a:lnSpc>
                <a:spcPts val="2200"/>
              </a:lnSpc>
              <a:spcAft>
                <a:spcPts val="1200"/>
              </a:spcAft>
              <a:buNone/>
            </a:pPr>
            <a:r>
              <a:rPr lang="en-US" sz="1450" dirty="0">
                <a:solidFill>
                  <a:srgbClr val="CC785C"/>
                </a:solidFill>
                <a:latin typeface="Arial" pitchFamily="34" charset="0"/>
                <a:ea typeface="Arial" pitchFamily="34" charset="-122"/>
                <a:cs typeface="Arial" pitchFamily="34" charset="-120"/>
              </a:rPr>
              <a:t>All of it lives in exactly one place.</a:t>
            </a:r>
            <a:endParaRPr lang="en-US" sz="1450" dirty="0"/>
          </a:p>
        </p:txBody>
      </p:sp>
      <p:sp>
        <p:nvSpPr>
          <p:cNvPr id="5" name="Shape 3"/>
          <p:cNvSpPr/>
          <p:nvPr/>
        </p:nvSpPr>
        <p:spPr>
          <a:xfrm>
            <a:off x="5212080" y="1463040"/>
            <a:ext cx="3383280" cy="731520"/>
          </a:xfrm>
          <a:prstGeom prst="rect">
            <a:avLst/>
          </a:prstGeom>
          <a:solidFill>
            <a:srgbClr val="F0EEE6"/>
          </a:solidFill>
          <a:ln/>
        </p:spPr>
      </p:sp>
      <p:sp>
        <p:nvSpPr>
          <p:cNvPr id="6" name="Text 4"/>
          <p:cNvSpPr/>
          <p:nvPr/>
        </p:nvSpPr>
        <p:spPr>
          <a:xfrm>
            <a:off x="5468112" y="1572768"/>
            <a:ext cx="2926080" cy="548640"/>
          </a:xfrm>
          <a:prstGeom prst="rect">
            <a:avLst/>
          </a:prstGeom>
          <a:noFill/>
          <a:ln/>
        </p:spPr>
        <p:txBody>
          <a:bodyPr wrap="square" lIns="0" tIns="0" rIns="0" bIns="0" rtlCol="0" anchor="t"/>
          <a:lstStyle/>
          <a:p>
            <a:pPr indent="0" marL="0">
              <a:buNone/>
            </a:pPr>
            <a:r>
              <a:rPr lang="en-US" sz="1300" b="1" dirty="0">
                <a:solidFill>
                  <a:srgbClr val="191919"/>
                </a:solidFill>
                <a:latin typeface="Arial" pitchFamily="34" charset="0"/>
                <a:ea typeface="Arial" pitchFamily="34" charset="-122"/>
                <a:cs typeface="Arial" pitchFamily="34" charset="-120"/>
              </a:rPr>
              <a:t>review checklist</a:t>
            </a:r>
            <a:endParaRPr lang="en-US" sz="1300" dirty="0"/>
          </a:p>
          <a:p>
            <a:pPr indent="0" marL="0">
              <a:buNone/>
            </a:pPr>
            <a:r>
              <a:rPr lang="en-US" sz="1150" dirty="0">
                <a:solidFill>
                  <a:srgbClr val="6B6B66"/>
                </a:solidFill>
                <a:latin typeface="Arial" pitchFamily="34" charset="0"/>
                <a:ea typeface="Arial" pitchFamily="34" charset="-122"/>
                <a:cs typeface="Arial" pitchFamily="34" charset="-120"/>
              </a:rPr>
              <a:t>a Google Doc</a:t>
            </a:r>
            <a:endParaRPr lang="en-US" sz="1300" dirty="0"/>
          </a:p>
        </p:txBody>
      </p:sp>
      <p:sp>
        <p:nvSpPr>
          <p:cNvPr id="7" name="Shape 5"/>
          <p:cNvSpPr/>
          <p:nvPr/>
        </p:nvSpPr>
        <p:spPr>
          <a:xfrm>
            <a:off x="5212080" y="2377440"/>
            <a:ext cx="3383280" cy="731520"/>
          </a:xfrm>
          <a:prstGeom prst="rect">
            <a:avLst/>
          </a:prstGeom>
          <a:solidFill>
            <a:srgbClr val="F0EEE6"/>
          </a:solidFill>
          <a:ln/>
        </p:spPr>
      </p:sp>
      <p:sp>
        <p:nvSpPr>
          <p:cNvPr id="8" name="Text 6"/>
          <p:cNvSpPr/>
          <p:nvPr/>
        </p:nvSpPr>
        <p:spPr>
          <a:xfrm>
            <a:off x="5468112" y="2487168"/>
            <a:ext cx="2926080" cy="548640"/>
          </a:xfrm>
          <a:prstGeom prst="rect">
            <a:avLst/>
          </a:prstGeom>
          <a:noFill/>
          <a:ln/>
        </p:spPr>
        <p:txBody>
          <a:bodyPr wrap="square" lIns="0" tIns="0" rIns="0" bIns="0" rtlCol="0" anchor="t"/>
          <a:lstStyle/>
          <a:p>
            <a:pPr indent="0" marL="0">
              <a:buNone/>
            </a:pPr>
            <a:r>
              <a:rPr lang="en-US" sz="1300" b="1" dirty="0">
                <a:solidFill>
                  <a:srgbClr val="191919"/>
                </a:solidFill>
                <a:latin typeface="Arial" pitchFamily="34" charset="0"/>
                <a:ea typeface="Arial" pitchFamily="34" charset="-122"/>
                <a:cs typeface="Arial" pitchFamily="34" charset="-120"/>
              </a:rPr>
              <a:t>guardrails</a:t>
            </a:r>
            <a:endParaRPr lang="en-US" sz="1300" dirty="0"/>
          </a:p>
          <a:p>
            <a:pPr indent="0" marL="0">
              <a:buNone/>
            </a:pPr>
            <a:r>
              <a:rPr lang="en-US" sz="1150" dirty="0">
                <a:solidFill>
                  <a:srgbClr val="6B6B66"/>
                </a:solidFill>
                <a:latin typeface="Arial" pitchFamily="34" charset="0"/>
                <a:ea typeface="Arial" pitchFamily="34" charset="-122"/>
                <a:cs typeface="Arial" pitchFamily="34" charset="-120"/>
              </a:rPr>
              <a:t>her settings.json</a:t>
            </a:r>
            <a:endParaRPr lang="en-US" sz="1300" dirty="0"/>
          </a:p>
        </p:txBody>
      </p:sp>
      <p:sp>
        <p:nvSpPr>
          <p:cNvPr id="9" name="Shape 7"/>
          <p:cNvSpPr/>
          <p:nvPr/>
        </p:nvSpPr>
        <p:spPr>
          <a:xfrm>
            <a:off x="5212080" y="3291840"/>
            <a:ext cx="3383280" cy="731520"/>
          </a:xfrm>
          <a:prstGeom prst="rect">
            <a:avLst/>
          </a:prstGeom>
          <a:solidFill>
            <a:srgbClr val="F0EEE6"/>
          </a:solidFill>
          <a:ln/>
        </p:spPr>
      </p:sp>
      <p:sp>
        <p:nvSpPr>
          <p:cNvPr id="10" name="Text 8"/>
          <p:cNvSpPr/>
          <p:nvPr/>
        </p:nvSpPr>
        <p:spPr>
          <a:xfrm>
            <a:off x="5468112" y="3401568"/>
            <a:ext cx="2926080" cy="548640"/>
          </a:xfrm>
          <a:prstGeom prst="rect">
            <a:avLst/>
          </a:prstGeom>
          <a:noFill/>
          <a:ln/>
        </p:spPr>
        <p:txBody>
          <a:bodyPr wrap="square" lIns="0" tIns="0" rIns="0" bIns="0" rtlCol="0" anchor="t"/>
          <a:lstStyle/>
          <a:p>
            <a:pPr indent="0" marL="0">
              <a:buNone/>
            </a:pPr>
            <a:r>
              <a:rPr lang="en-US" sz="1300" b="1" dirty="0">
                <a:solidFill>
                  <a:srgbClr val="191919"/>
                </a:solidFill>
                <a:latin typeface="Arial" pitchFamily="34" charset="0"/>
                <a:ea typeface="Arial" pitchFamily="34" charset="-122"/>
                <a:cs typeface="Arial" pitchFamily="34" charset="-120"/>
              </a:rPr>
              <a:t>instincts</a:t>
            </a:r>
            <a:endParaRPr lang="en-US" sz="1300" dirty="0"/>
          </a:p>
          <a:p>
            <a:pPr indent="0" marL="0">
              <a:buNone/>
            </a:pPr>
            <a:r>
              <a:rPr lang="en-US" sz="1150" dirty="0">
                <a:solidFill>
                  <a:srgbClr val="6B6B66"/>
                </a:solidFill>
                <a:latin typeface="Arial" pitchFamily="34" charset="0"/>
                <a:ea typeface="Arial" pitchFamily="34" charset="-122"/>
                <a:cs typeface="Arial" pitchFamily="34" charset="-120"/>
              </a:rPr>
              <a:t>in her head</a:t>
            </a:r>
            <a:endParaRPr lang="en-US" sz="1300" dirty="0"/>
          </a:p>
        </p:txBody>
      </p:sp>
      <p:sp>
        <p:nvSpPr>
          <p:cNvPr id="11" name="Text 9"/>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777240"/>
            <a:ext cx="4572000" cy="256032"/>
          </a:xfrm>
          <a:prstGeom prst="rect">
            <a:avLst/>
          </a:prstGeom>
          <a:noFill/>
          <a:ln/>
        </p:spPr>
        <p:txBody>
          <a:bodyPr wrap="square" lIns="0" tIns="0" rIns="0" bIns="0" rtlCol="0" anchor="ctr"/>
          <a:lstStyle/>
          <a:p>
            <a:pPr indent="0" marL="0">
              <a:buNone/>
            </a:pPr>
            <a:r>
              <a:rPr lang="en-US" sz="1050" b="1" spc="300" kern="0" dirty="0">
                <a:solidFill>
                  <a:srgbClr val="6B6B66"/>
                </a:solidFill>
                <a:latin typeface="Arial" pitchFamily="34" charset="0"/>
                <a:ea typeface="Arial" pitchFamily="34" charset="-122"/>
                <a:cs typeface="Arial" pitchFamily="34" charset="-120"/>
              </a:rPr>
              <a:t>THE SCALE PROBLEM</a:t>
            </a:r>
            <a:endParaRPr lang="en-US" sz="1050" dirty="0"/>
          </a:p>
        </p:txBody>
      </p:sp>
      <p:sp>
        <p:nvSpPr>
          <p:cNvPr id="3" name="Text 1"/>
          <p:cNvSpPr/>
          <p:nvPr/>
        </p:nvSpPr>
        <p:spPr>
          <a:xfrm>
            <a:off x="548640" y="1188720"/>
            <a:ext cx="8046720" cy="1645920"/>
          </a:xfrm>
          <a:prstGeom prst="rect">
            <a:avLst/>
          </a:prstGeom>
          <a:noFill/>
          <a:ln/>
        </p:spPr>
        <p:txBody>
          <a:bodyPr wrap="square" lIns="0" tIns="0" rIns="0" bIns="0" rtlCol="0" anchor="ctr"/>
          <a:lstStyle/>
          <a:p>
            <a:pPr indent="0" marL="0">
              <a:buNone/>
            </a:pPr>
            <a:r>
              <a:rPr lang="en-US" sz="11000" dirty="0">
                <a:solidFill>
                  <a:srgbClr val="191919"/>
                </a:solidFill>
                <a:latin typeface="Georgia" pitchFamily="34" charset="0"/>
                <a:ea typeface="Georgia" pitchFamily="34" charset="-122"/>
                <a:cs typeface="Georgia" pitchFamily="34" charset="-120"/>
              </a:rPr>
              <a:t>200</a:t>
            </a:r>
            <a:endParaRPr lang="en-US" sz="11000" dirty="0"/>
          </a:p>
        </p:txBody>
      </p:sp>
      <p:sp>
        <p:nvSpPr>
          <p:cNvPr id="4" name="Text 2"/>
          <p:cNvSpPr/>
          <p:nvPr/>
        </p:nvSpPr>
        <p:spPr>
          <a:xfrm>
            <a:off x="548640" y="3154680"/>
            <a:ext cx="7680960" cy="457200"/>
          </a:xfrm>
          <a:prstGeom prst="rect">
            <a:avLst/>
          </a:prstGeom>
          <a:noFill/>
          <a:ln/>
        </p:spPr>
        <p:txBody>
          <a:bodyPr wrap="square" lIns="0" tIns="0" rIns="0" bIns="0" rtlCol="0" anchor="ctr"/>
          <a:lstStyle/>
          <a:p>
            <a:pPr indent="0" marL="0">
              <a:buNone/>
            </a:pPr>
            <a:r>
              <a:rPr lang="en-US" sz="1600" dirty="0">
                <a:solidFill>
                  <a:srgbClr val="6B6B66"/>
                </a:solidFill>
                <a:latin typeface="Arial" pitchFamily="34" charset="0"/>
                <a:ea typeface="Arial" pitchFamily="34" charset="-122"/>
                <a:cs typeface="Arial" pitchFamily="34" charset="-120"/>
              </a:rPr>
              <a:t>engineers. 200 copies of a .claude/ folder. Zero versioning.</a:t>
            </a:r>
            <a:endParaRPr lang="en-US" sz="1600" dirty="0"/>
          </a:p>
        </p:txBody>
      </p:sp>
      <p:sp>
        <p:nvSpPr>
          <p:cNvPr id="5" name="Text 3"/>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1371600"/>
            <a:ext cx="4572000" cy="256032"/>
          </a:xfrm>
          <a:prstGeom prst="rect">
            <a:avLst/>
          </a:prstGeom>
          <a:noFill/>
          <a:ln/>
        </p:spPr>
        <p:txBody>
          <a:bodyPr wrap="square" lIns="0" tIns="0" rIns="0" bIns="0" rtlCol="0" anchor="ctr"/>
          <a:lstStyle/>
          <a:p>
            <a:pPr indent="0" marL="0">
              <a:buNone/>
            </a:pPr>
            <a:r>
              <a:rPr lang="en-US" sz="1050" b="1" spc="300" kern="0" dirty="0">
                <a:solidFill>
                  <a:srgbClr val="6B6B66"/>
                </a:solidFill>
                <a:latin typeface="Arial" pitchFamily="34" charset="0"/>
                <a:ea typeface="Arial" pitchFamily="34" charset="-122"/>
                <a:cs typeface="Arial" pitchFamily="34" charset="-120"/>
              </a:rPr>
              <a:t>THE TRAP</a:t>
            </a:r>
            <a:endParaRPr lang="en-US" sz="1050" dirty="0"/>
          </a:p>
        </p:txBody>
      </p:sp>
      <p:sp>
        <p:nvSpPr>
          <p:cNvPr id="3" name="Text 1"/>
          <p:cNvSpPr/>
          <p:nvPr/>
        </p:nvSpPr>
        <p:spPr>
          <a:xfrm>
            <a:off x="548640" y="1783080"/>
            <a:ext cx="7863840" cy="1645920"/>
          </a:xfrm>
          <a:prstGeom prst="rect">
            <a:avLst/>
          </a:prstGeom>
          <a:noFill/>
          <a:ln/>
        </p:spPr>
        <p:txBody>
          <a:bodyPr wrap="square" lIns="0" tIns="0" rIns="0" bIns="0" rtlCol="0" anchor="t"/>
          <a:lstStyle/>
          <a:p>
            <a:pPr indent="0" marL="0">
              <a:buNone/>
            </a:pPr>
            <a:r>
              <a:rPr lang="en-US" sz="3200" dirty="0">
                <a:solidFill>
                  <a:srgbClr val="191919"/>
                </a:solidFill>
                <a:latin typeface="Georgia" pitchFamily="34" charset="0"/>
                <a:ea typeface="Georgia" pitchFamily="34" charset="-122"/>
                <a:cs typeface="Georgia" pitchFamily="34" charset="-120"/>
              </a:rPr>
              <a:t>Capability isn't your problem.</a:t>
            </a:r>
            <a:endParaRPr lang="en-US" sz="3200" dirty="0"/>
          </a:p>
          <a:p>
            <a:pPr indent="0" marL="0">
              <a:buNone/>
            </a:pPr>
            <a:r>
              <a:rPr lang="en-US" sz="3200" dirty="0">
                <a:solidFill>
                  <a:srgbClr val="191919"/>
                </a:solidFill>
                <a:latin typeface="Georgia" pitchFamily="34" charset="0"/>
                <a:ea typeface="Georgia" pitchFamily="34" charset="-122"/>
                <a:cs typeface="Georgia" pitchFamily="34" charset="-120"/>
              </a:rPr>
              <a:t>Distribution is.</a:t>
            </a:r>
            <a:endParaRPr lang="en-US" sz="3200" dirty="0"/>
          </a:p>
        </p:txBody>
      </p:sp>
      <p:sp>
        <p:nvSpPr>
          <p:cNvPr id="4" name="Text 2"/>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400" dirty="0">
                <a:solidFill>
                  <a:srgbClr val="191919"/>
                </a:solidFill>
                <a:latin typeface="Georgia" pitchFamily="34" charset="0"/>
                <a:ea typeface="Georgia" pitchFamily="34" charset="-122"/>
                <a:cs typeface="Georgia" pitchFamily="34" charset="-120"/>
              </a:rPr>
              <a:t>Maya's judgment, as a package.</a:t>
            </a:r>
            <a:endParaRPr lang="en-US" sz="2400" dirty="0"/>
          </a:p>
        </p:txBody>
      </p:sp>
      <p:sp>
        <p:nvSpPr>
          <p:cNvPr id="4" name="Shape 2"/>
          <p:cNvSpPr/>
          <p:nvPr/>
        </p:nvSpPr>
        <p:spPr>
          <a:xfrm>
            <a:off x="548640" y="1417320"/>
            <a:ext cx="1965960" cy="713232"/>
          </a:xfrm>
          <a:prstGeom prst="rect">
            <a:avLst/>
          </a:prstGeom>
          <a:solidFill>
            <a:srgbClr val="F0EEE6"/>
          </a:solidFill>
          <a:ln/>
        </p:spPr>
      </p:sp>
      <p:sp>
        <p:nvSpPr>
          <p:cNvPr id="5" name="Text 3"/>
          <p:cNvSpPr/>
          <p:nvPr/>
        </p:nvSpPr>
        <p:spPr>
          <a:xfrm>
            <a:off x="713232" y="1508760"/>
            <a:ext cx="1691640" cy="530352"/>
          </a:xfrm>
          <a:prstGeom prst="rect">
            <a:avLst/>
          </a:prstGeom>
          <a:noFill/>
          <a:ln/>
        </p:spPr>
        <p:txBody>
          <a:bodyPr wrap="square" lIns="0" tIns="0" rIns="0" bIns="0" rtlCol="0" anchor="t"/>
          <a:lstStyle/>
          <a:p>
            <a:pPr indent="0" marL="0">
              <a:buNone/>
            </a:pPr>
            <a:r>
              <a:rPr lang="en-US" sz="1150" b="1" dirty="0">
                <a:solidFill>
                  <a:srgbClr val="191919"/>
                </a:solidFill>
                <a:latin typeface="Arial" pitchFamily="34" charset="0"/>
                <a:ea typeface="Arial" pitchFamily="34" charset="-122"/>
                <a:cs typeface="Arial" pitchFamily="34" charset="-120"/>
              </a:rPr>
              <a:t>review checklist</a:t>
            </a:r>
            <a:endParaRPr lang="en-US" sz="1150" dirty="0"/>
          </a:p>
          <a:p>
            <a:pPr indent="0" marL="0">
              <a:buNone/>
            </a:pPr>
            <a:r>
              <a:rPr lang="en-US" sz="1050" dirty="0">
                <a:solidFill>
                  <a:srgbClr val="6B6B66"/>
                </a:solidFill>
                <a:latin typeface="Arial" pitchFamily="34" charset="0"/>
                <a:ea typeface="Arial" pitchFamily="34" charset="-122"/>
                <a:cs typeface="Arial" pitchFamily="34" charset="-120"/>
              </a:rPr>
              <a:t>a Google Doc</a:t>
            </a:r>
            <a:endParaRPr lang="en-US" sz="1150" dirty="0"/>
          </a:p>
        </p:txBody>
      </p:sp>
      <p:sp>
        <p:nvSpPr>
          <p:cNvPr id="6" name="Shape 4"/>
          <p:cNvSpPr/>
          <p:nvPr/>
        </p:nvSpPr>
        <p:spPr>
          <a:xfrm>
            <a:off x="548640" y="2313432"/>
            <a:ext cx="1965960" cy="713232"/>
          </a:xfrm>
          <a:prstGeom prst="rect">
            <a:avLst/>
          </a:prstGeom>
          <a:solidFill>
            <a:srgbClr val="F0EEE6"/>
          </a:solidFill>
          <a:ln/>
        </p:spPr>
      </p:sp>
      <p:sp>
        <p:nvSpPr>
          <p:cNvPr id="7" name="Text 5"/>
          <p:cNvSpPr/>
          <p:nvPr/>
        </p:nvSpPr>
        <p:spPr>
          <a:xfrm>
            <a:off x="713232" y="2404872"/>
            <a:ext cx="1691640" cy="530352"/>
          </a:xfrm>
          <a:prstGeom prst="rect">
            <a:avLst/>
          </a:prstGeom>
          <a:noFill/>
          <a:ln/>
        </p:spPr>
        <p:txBody>
          <a:bodyPr wrap="square" lIns="0" tIns="0" rIns="0" bIns="0" rtlCol="0" anchor="t"/>
          <a:lstStyle/>
          <a:p>
            <a:pPr indent="0" marL="0">
              <a:buNone/>
            </a:pPr>
            <a:r>
              <a:rPr lang="en-US" sz="1150" b="1" dirty="0">
                <a:solidFill>
                  <a:srgbClr val="191919"/>
                </a:solidFill>
                <a:latin typeface="Arial" pitchFamily="34" charset="0"/>
                <a:ea typeface="Arial" pitchFamily="34" charset="-122"/>
                <a:cs typeface="Arial" pitchFamily="34" charset="-120"/>
              </a:rPr>
              <a:t>guardrails</a:t>
            </a:r>
            <a:endParaRPr lang="en-US" sz="1150" dirty="0"/>
          </a:p>
          <a:p>
            <a:pPr indent="0" marL="0">
              <a:buNone/>
            </a:pPr>
            <a:r>
              <a:rPr lang="en-US" sz="1050" dirty="0">
                <a:solidFill>
                  <a:srgbClr val="6B6B66"/>
                </a:solidFill>
                <a:latin typeface="Arial" pitchFamily="34" charset="0"/>
                <a:ea typeface="Arial" pitchFamily="34" charset="-122"/>
                <a:cs typeface="Arial" pitchFamily="34" charset="-120"/>
              </a:rPr>
              <a:t>her settings.json</a:t>
            </a:r>
            <a:endParaRPr lang="en-US" sz="1150" dirty="0"/>
          </a:p>
        </p:txBody>
      </p:sp>
      <p:sp>
        <p:nvSpPr>
          <p:cNvPr id="8" name="Shape 6"/>
          <p:cNvSpPr/>
          <p:nvPr/>
        </p:nvSpPr>
        <p:spPr>
          <a:xfrm>
            <a:off x="548640" y="3209544"/>
            <a:ext cx="1965960" cy="713232"/>
          </a:xfrm>
          <a:prstGeom prst="rect">
            <a:avLst/>
          </a:prstGeom>
          <a:solidFill>
            <a:srgbClr val="F0EEE6"/>
          </a:solidFill>
          <a:ln/>
        </p:spPr>
      </p:sp>
      <p:sp>
        <p:nvSpPr>
          <p:cNvPr id="9" name="Text 7"/>
          <p:cNvSpPr/>
          <p:nvPr/>
        </p:nvSpPr>
        <p:spPr>
          <a:xfrm>
            <a:off x="713232" y="3300984"/>
            <a:ext cx="1691640" cy="530352"/>
          </a:xfrm>
          <a:prstGeom prst="rect">
            <a:avLst/>
          </a:prstGeom>
          <a:noFill/>
          <a:ln/>
        </p:spPr>
        <p:txBody>
          <a:bodyPr wrap="square" lIns="0" tIns="0" rIns="0" bIns="0" rtlCol="0" anchor="t"/>
          <a:lstStyle/>
          <a:p>
            <a:pPr indent="0" marL="0">
              <a:buNone/>
            </a:pPr>
            <a:r>
              <a:rPr lang="en-US" sz="1150" b="1" dirty="0">
                <a:solidFill>
                  <a:srgbClr val="191919"/>
                </a:solidFill>
                <a:latin typeface="Arial" pitchFamily="34" charset="0"/>
                <a:ea typeface="Arial" pitchFamily="34" charset="-122"/>
                <a:cs typeface="Arial" pitchFamily="34" charset="-120"/>
              </a:rPr>
              <a:t>instincts</a:t>
            </a:r>
            <a:endParaRPr lang="en-US" sz="1150" dirty="0"/>
          </a:p>
          <a:p>
            <a:pPr indent="0" marL="0">
              <a:buNone/>
            </a:pPr>
            <a:r>
              <a:rPr lang="en-US" sz="1050" dirty="0">
                <a:solidFill>
                  <a:srgbClr val="6B6B66"/>
                </a:solidFill>
                <a:latin typeface="Arial" pitchFamily="34" charset="0"/>
                <a:ea typeface="Arial" pitchFamily="34" charset="-122"/>
                <a:cs typeface="Arial" pitchFamily="34" charset="-120"/>
              </a:rPr>
              <a:t>in her head</a:t>
            </a:r>
            <a:endParaRPr lang="en-US" sz="1150" dirty="0"/>
          </a:p>
        </p:txBody>
      </p:sp>
      <p:sp>
        <p:nvSpPr>
          <p:cNvPr id="10" name="Text 8"/>
          <p:cNvSpPr/>
          <p:nvPr/>
        </p:nvSpPr>
        <p:spPr>
          <a:xfrm>
            <a:off x="2606040" y="2468880"/>
            <a:ext cx="411480" cy="457200"/>
          </a:xfrm>
          <a:prstGeom prst="rect">
            <a:avLst/>
          </a:prstGeom>
          <a:noFill/>
          <a:ln/>
        </p:spPr>
        <p:txBody>
          <a:bodyPr wrap="square" lIns="0" tIns="0" rIns="0" bIns="0" rtlCol="0" anchor="ctr"/>
          <a:lstStyle/>
          <a:p>
            <a:pPr algn="ctr" indent="0" marL="0">
              <a:buNone/>
            </a:pPr>
            <a:r>
              <a:rPr lang="en-US" sz="2000" dirty="0">
                <a:solidFill>
                  <a:srgbClr val="CC785C"/>
                </a:solidFill>
                <a:latin typeface="Arial" pitchFamily="34" charset="0"/>
                <a:ea typeface="Arial" pitchFamily="34" charset="-122"/>
                <a:cs typeface="Arial" pitchFamily="34" charset="-120"/>
              </a:rPr>
              <a:t>→</a:t>
            </a:r>
            <a:endParaRPr lang="en-US" sz="2000" dirty="0"/>
          </a:p>
        </p:txBody>
      </p:sp>
      <p:sp>
        <p:nvSpPr>
          <p:cNvPr id="11" name="Shape 9"/>
          <p:cNvSpPr/>
          <p:nvPr/>
        </p:nvSpPr>
        <p:spPr>
          <a:xfrm>
            <a:off x="3108960" y="1371600"/>
            <a:ext cx="3017520" cy="3063240"/>
          </a:xfrm>
          <a:prstGeom prst="rect">
            <a:avLst/>
          </a:prstGeom>
          <a:solidFill>
            <a:srgbClr val="FAF9F5"/>
          </a:solidFill>
          <a:ln w="19050">
            <a:solidFill>
              <a:srgbClr val="191919"/>
            </a:solidFill>
            <a:prstDash val="solid"/>
          </a:ln>
        </p:spPr>
      </p:sp>
      <p:sp>
        <p:nvSpPr>
          <p:cNvPr id="12" name="Text 10"/>
          <p:cNvSpPr/>
          <p:nvPr/>
        </p:nvSpPr>
        <p:spPr>
          <a:xfrm>
            <a:off x="3310128" y="1536192"/>
            <a:ext cx="2011680" cy="274320"/>
          </a:xfrm>
          <a:prstGeom prst="rect">
            <a:avLst/>
          </a:prstGeom>
          <a:noFill/>
          <a:ln/>
        </p:spPr>
        <p:txBody>
          <a:bodyPr wrap="square" lIns="0" tIns="0" rIns="0" bIns="0" rtlCol="0" anchor="ctr"/>
          <a:lstStyle/>
          <a:p>
            <a:pPr indent="0" marL="0">
              <a:buNone/>
            </a:pPr>
            <a:r>
              <a:rPr lang="en-US" sz="1200" dirty="0">
                <a:solidFill>
                  <a:srgbClr val="191919"/>
                </a:solidFill>
                <a:latin typeface="Consolas" pitchFamily="34" charset="0"/>
                <a:ea typeface="Consolas" pitchFamily="34" charset="-122"/>
                <a:cs typeface="Consolas" pitchFamily="34" charset="-120"/>
              </a:rPr>
              <a:t>data-platform-pack</a:t>
            </a:r>
            <a:endParaRPr lang="en-US" sz="1200" dirty="0"/>
          </a:p>
        </p:txBody>
      </p:sp>
      <p:sp>
        <p:nvSpPr>
          <p:cNvPr id="13" name="Shape 11"/>
          <p:cNvSpPr/>
          <p:nvPr/>
        </p:nvSpPr>
        <p:spPr>
          <a:xfrm>
            <a:off x="5349240" y="1517904"/>
            <a:ext cx="621792" cy="256032"/>
          </a:xfrm>
          <a:prstGeom prst="roundRect">
            <a:avLst>
              <a:gd name="adj" fmla="val 46429"/>
            </a:avLst>
          </a:prstGeom>
          <a:solidFill>
            <a:srgbClr val="CC785C"/>
          </a:solidFill>
          <a:ln/>
        </p:spPr>
      </p:sp>
      <p:sp>
        <p:nvSpPr>
          <p:cNvPr id="14" name="Text 12"/>
          <p:cNvSpPr/>
          <p:nvPr/>
        </p:nvSpPr>
        <p:spPr>
          <a:xfrm>
            <a:off x="5349240" y="1517904"/>
            <a:ext cx="621792" cy="256032"/>
          </a:xfrm>
          <a:prstGeom prst="rect">
            <a:avLst/>
          </a:prstGeom>
          <a:noFill/>
          <a:ln/>
        </p:spPr>
        <p:txBody>
          <a:bodyPr wrap="square" lIns="0" tIns="0" rIns="0" bIns="0" rtlCol="0" anchor="ctr"/>
          <a:lstStyle/>
          <a:p>
            <a:pPr algn="ctr" indent="0" marL="0">
              <a:buNone/>
            </a:pPr>
            <a:r>
              <a:rPr lang="en-US" sz="1050" dirty="0">
                <a:solidFill>
                  <a:srgbClr val="FAF9F5"/>
                </a:solidFill>
                <a:latin typeface="Arial" pitchFamily="34" charset="0"/>
                <a:ea typeface="Arial" pitchFamily="34" charset="-122"/>
                <a:cs typeface="Arial" pitchFamily="34" charset="-120"/>
              </a:rPr>
              <a:t>v1.0.0</a:t>
            </a:r>
            <a:endParaRPr lang="en-US" sz="1050" dirty="0"/>
          </a:p>
        </p:txBody>
      </p:sp>
      <p:sp>
        <p:nvSpPr>
          <p:cNvPr id="15" name="Shape 13"/>
          <p:cNvSpPr/>
          <p:nvPr/>
        </p:nvSpPr>
        <p:spPr>
          <a:xfrm>
            <a:off x="3310128" y="1938528"/>
            <a:ext cx="2615184" cy="0"/>
          </a:xfrm>
          <a:prstGeom prst="line">
            <a:avLst/>
          </a:prstGeom>
          <a:noFill/>
          <a:ln w="9525">
            <a:solidFill>
              <a:srgbClr val="D3D1C7"/>
            </a:solidFill>
            <a:prstDash val="solid"/>
          </a:ln>
        </p:spPr>
      </p:sp>
      <p:sp>
        <p:nvSpPr>
          <p:cNvPr id="16" name="Text 14"/>
          <p:cNvSpPr/>
          <p:nvPr/>
        </p:nvSpPr>
        <p:spPr>
          <a:xfrm>
            <a:off x="3310128" y="2103120"/>
            <a:ext cx="2697480" cy="502920"/>
          </a:xfrm>
          <a:prstGeom prst="rect">
            <a:avLst/>
          </a:prstGeom>
          <a:noFill/>
          <a:ln/>
        </p:spPr>
        <p:txBody>
          <a:bodyPr wrap="square" lIns="0" tIns="0" rIns="0" bIns="0" rtlCol="0" anchor="t"/>
          <a:lstStyle/>
          <a:p>
            <a:pPr indent="0" marL="0">
              <a:buNone/>
            </a:pPr>
            <a:r>
              <a:rPr lang="en-US" sz="1300" dirty="0">
                <a:solidFill>
                  <a:srgbClr val="191919"/>
                </a:solidFill>
                <a:latin typeface="Georgia" pitchFamily="34" charset="0"/>
                <a:ea typeface="Georgia" pitchFamily="34" charset="-122"/>
                <a:cs typeface="Georgia" pitchFamily="34" charset="-120"/>
              </a:rPr>
              <a:t>skill  </a:t>
            </a:r>
            <a:pPr indent="0" marL="0">
              <a:buNone/>
            </a:pPr>
            <a:r>
              <a:rPr lang="en-US" sz="1050" dirty="0">
                <a:solidFill>
                  <a:srgbClr val="6B6B66"/>
                </a:solidFill>
                <a:latin typeface="Arial" pitchFamily="34" charset="0"/>
                <a:ea typeface="Arial" pitchFamily="34" charset="-122"/>
                <a:cs typeface="Arial" pitchFamily="34" charset="-120"/>
              </a:rPr>
              <a:t>/sql-review, her checklist</a:t>
            </a:r>
            <a:endParaRPr lang="en-US" sz="1300" dirty="0"/>
          </a:p>
        </p:txBody>
      </p:sp>
      <p:sp>
        <p:nvSpPr>
          <p:cNvPr id="17" name="Text 15"/>
          <p:cNvSpPr/>
          <p:nvPr/>
        </p:nvSpPr>
        <p:spPr>
          <a:xfrm>
            <a:off x="3310128" y="2670048"/>
            <a:ext cx="2697480" cy="502920"/>
          </a:xfrm>
          <a:prstGeom prst="rect">
            <a:avLst/>
          </a:prstGeom>
          <a:noFill/>
          <a:ln/>
        </p:spPr>
        <p:txBody>
          <a:bodyPr wrap="square" lIns="0" tIns="0" rIns="0" bIns="0" rtlCol="0" anchor="t"/>
          <a:lstStyle/>
          <a:p>
            <a:pPr indent="0" marL="0">
              <a:buNone/>
            </a:pPr>
            <a:r>
              <a:rPr lang="en-US" sz="1300" dirty="0">
                <a:solidFill>
                  <a:srgbClr val="191919"/>
                </a:solidFill>
                <a:latin typeface="Georgia" pitchFamily="34" charset="0"/>
                <a:ea typeface="Georgia" pitchFamily="34" charset="-122"/>
                <a:cs typeface="Georgia" pitchFamily="34" charset="-120"/>
              </a:rPr>
              <a:t>agent  </a:t>
            </a:r>
            <a:pPr indent="0" marL="0">
              <a:buNone/>
            </a:pPr>
            <a:r>
              <a:rPr lang="en-US" sz="1050" dirty="0">
                <a:solidFill>
                  <a:srgbClr val="6B6B66"/>
                </a:solidFill>
                <a:latin typeface="Arial" pitchFamily="34" charset="0"/>
                <a:ea typeface="Arial" pitchFamily="34" charset="-122"/>
                <a:cs typeface="Arial" pitchFamily="34" charset="-120"/>
              </a:rPr>
              <a:t>her review process, read-only</a:t>
            </a:r>
            <a:endParaRPr lang="en-US" sz="1300" dirty="0"/>
          </a:p>
        </p:txBody>
      </p:sp>
      <p:sp>
        <p:nvSpPr>
          <p:cNvPr id="18" name="Text 16"/>
          <p:cNvSpPr/>
          <p:nvPr/>
        </p:nvSpPr>
        <p:spPr>
          <a:xfrm>
            <a:off x="3310128" y="3236976"/>
            <a:ext cx="2697480" cy="502920"/>
          </a:xfrm>
          <a:prstGeom prst="rect">
            <a:avLst/>
          </a:prstGeom>
          <a:noFill/>
          <a:ln/>
        </p:spPr>
        <p:txBody>
          <a:bodyPr wrap="square" lIns="0" tIns="0" rIns="0" bIns="0" rtlCol="0" anchor="t"/>
          <a:lstStyle/>
          <a:p>
            <a:pPr indent="0" marL="0">
              <a:buNone/>
            </a:pPr>
            <a:r>
              <a:rPr lang="en-US" sz="1300" dirty="0">
                <a:solidFill>
                  <a:srgbClr val="191919"/>
                </a:solidFill>
                <a:latin typeface="Georgia" pitchFamily="34" charset="0"/>
                <a:ea typeface="Georgia" pitchFamily="34" charset="-122"/>
                <a:cs typeface="Georgia" pitchFamily="34" charset="-120"/>
              </a:rPr>
              <a:t>hooks  </a:t>
            </a:r>
            <a:pPr indent="0" marL="0">
              <a:buNone/>
            </a:pPr>
            <a:r>
              <a:rPr lang="en-US" sz="1050" dirty="0">
                <a:solidFill>
                  <a:srgbClr val="6B6B66"/>
                </a:solidFill>
                <a:latin typeface="Arial" pitchFamily="34" charset="0"/>
                <a:ea typeface="Arial" pitchFamily="34" charset="-122"/>
                <a:cs typeface="Arial" pitchFamily="34" charset="-120"/>
              </a:rPr>
              <a:t>never-on-prod, enforced</a:t>
            </a:r>
            <a:endParaRPr lang="en-US" sz="1300" dirty="0"/>
          </a:p>
        </p:txBody>
      </p:sp>
      <p:sp>
        <p:nvSpPr>
          <p:cNvPr id="19" name="Text 17"/>
          <p:cNvSpPr/>
          <p:nvPr/>
        </p:nvSpPr>
        <p:spPr>
          <a:xfrm>
            <a:off x="3310128" y="3803904"/>
            <a:ext cx="2697480" cy="502920"/>
          </a:xfrm>
          <a:prstGeom prst="rect">
            <a:avLst/>
          </a:prstGeom>
          <a:noFill/>
          <a:ln/>
        </p:spPr>
        <p:txBody>
          <a:bodyPr wrap="square" lIns="0" tIns="0" rIns="0" bIns="0" rtlCol="0" anchor="t"/>
          <a:lstStyle/>
          <a:p>
            <a:pPr indent="0" marL="0">
              <a:buNone/>
            </a:pPr>
            <a:r>
              <a:rPr lang="en-US" sz="1300" dirty="0">
                <a:solidFill>
                  <a:srgbClr val="191919"/>
                </a:solidFill>
                <a:latin typeface="Georgia" pitchFamily="34" charset="0"/>
                <a:ea typeface="Georgia" pitchFamily="34" charset="-122"/>
                <a:cs typeface="Georgia" pitchFamily="34" charset="-120"/>
              </a:rPr>
              <a:t>manifest  </a:t>
            </a:r>
            <a:pPr indent="0" marL="0">
              <a:buNone/>
            </a:pPr>
            <a:r>
              <a:rPr lang="en-US" sz="1050" dirty="0">
                <a:solidFill>
                  <a:srgbClr val="6B6B66"/>
                </a:solidFill>
                <a:latin typeface="Arial" pitchFamily="34" charset="0"/>
                <a:ea typeface="Arial" pitchFamily="34" charset="-122"/>
                <a:cs typeface="Arial" pitchFamily="34" charset="-120"/>
              </a:rPr>
              <a:t>the version pin, releases</a:t>
            </a:r>
            <a:endParaRPr lang="en-US" sz="1300" dirty="0"/>
          </a:p>
        </p:txBody>
      </p:sp>
      <p:sp>
        <p:nvSpPr>
          <p:cNvPr id="20" name="Text 18"/>
          <p:cNvSpPr/>
          <p:nvPr/>
        </p:nvSpPr>
        <p:spPr>
          <a:xfrm>
            <a:off x="6263640" y="2468880"/>
            <a:ext cx="411480" cy="457200"/>
          </a:xfrm>
          <a:prstGeom prst="rect">
            <a:avLst/>
          </a:prstGeom>
          <a:noFill/>
          <a:ln/>
        </p:spPr>
        <p:txBody>
          <a:bodyPr wrap="square" lIns="0" tIns="0" rIns="0" bIns="0" rtlCol="0" anchor="ctr"/>
          <a:lstStyle/>
          <a:p>
            <a:pPr algn="ctr" indent="0" marL="0">
              <a:buNone/>
            </a:pPr>
            <a:r>
              <a:rPr lang="en-US" sz="2000" dirty="0">
                <a:solidFill>
                  <a:srgbClr val="CC785C"/>
                </a:solidFill>
                <a:latin typeface="Arial" pitchFamily="34" charset="0"/>
                <a:ea typeface="Arial" pitchFamily="34" charset="-122"/>
                <a:cs typeface="Arial" pitchFamily="34" charset="-120"/>
              </a:rPr>
              <a:t>→</a:t>
            </a:r>
            <a:endParaRPr lang="en-US" sz="2000" dirty="0"/>
          </a:p>
        </p:txBody>
      </p:sp>
      <p:sp>
        <p:nvSpPr>
          <p:cNvPr id="21" name="Shape 19"/>
          <p:cNvSpPr/>
          <p:nvPr/>
        </p:nvSpPr>
        <p:spPr>
          <a:xfrm>
            <a:off x="6812280" y="1600200"/>
            <a:ext cx="1783080" cy="566928"/>
          </a:xfrm>
          <a:prstGeom prst="rect">
            <a:avLst/>
          </a:prstGeom>
          <a:solidFill>
            <a:srgbClr val="FAF9F5"/>
          </a:solidFill>
          <a:ln w="9525">
            <a:solidFill>
              <a:srgbClr val="D4A27F"/>
            </a:solidFill>
            <a:prstDash val="solid"/>
          </a:ln>
        </p:spPr>
      </p:sp>
      <p:sp>
        <p:nvSpPr>
          <p:cNvPr id="22" name="Text 20"/>
          <p:cNvSpPr/>
          <p:nvPr/>
        </p:nvSpPr>
        <p:spPr>
          <a:xfrm>
            <a:off x="6812280" y="1600200"/>
            <a:ext cx="1783080" cy="566928"/>
          </a:xfrm>
          <a:prstGeom prst="rect">
            <a:avLst/>
          </a:prstGeom>
          <a:noFill/>
          <a:ln/>
        </p:spPr>
        <p:txBody>
          <a:bodyPr wrap="square" lIns="0" tIns="0" rIns="0" bIns="0" rtlCol="0" anchor="ctr"/>
          <a:lstStyle/>
          <a:p>
            <a:pPr algn="ctr" indent="0" marL="0">
              <a:buNone/>
            </a:pPr>
            <a:r>
              <a:rPr lang="en-US" sz="1050" dirty="0">
                <a:solidFill>
                  <a:srgbClr val="191919"/>
                </a:solidFill>
                <a:latin typeface="Arial" pitchFamily="34" charset="0"/>
                <a:ea typeface="Arial" pitchFamily="34" charset="-122"/>
                <a:cs typeface="Arial" pitchFamily="34" charset="-120"/>
              </a:rPr>
              <a:t>engineer's machine</a:t>
            </a:r>
            <a:endParaRPr lang="en-US" sz="1050" dirty="0"/>
          </a:p>
        </p:txBody>
      </p:sp>
      <p:sp>
        <p:nvSpPr>
          <p:cNvPr id="23" name="Shape 21"/>
          <p:cNvSpPr/>
          <p:nvPr/>
        </p:nvSpPr>
        <p:spPr>
          <a:xfrm>
            <a:off x="6812280" y="2468880"/>
            <a:ext cx="1783080" cy="566928"/>
          </a:xfrm>
          <a:prstGeom prst="rect">
            <a:avLst/>
          </a:prstGeom>
          <a:solidFill>
            <a:srgbClr val="FAF9F5"/>
          </a:solidFill>
          <a:ln w="9525">
            <a:solidFill>
              <a:srgbClr val="D4A27F"/>
            </a:solidFill>
            <a:prstDash val="solid"/>
          </a:ln>
        </p:spPr>
      </p:sp>
      <p:sp>
        <p:nvSpPr>
          <p:cNvPr id="24" name="Text 22"/>
          <p:cNvSpPr/>
          <p:nvPr/>
        </p:nvSpPr>
        <p:spPr>
          <a:xfrm>
            <a:off x="6812280" y="2468880"/>
            <a:ext cx="1783080" cy="566928"/>
          </a:xfrm>
          <a:prstGeom prst="rect">
            <a:avLst/>
          </a:prstGeom>
          <a:noFill/>
          <a:ln/>
        </p:spPr>
        <p:txBody>
          <a:bodyPr wrap="square" lIns="0" tIns="0" rIns="0" bIns="0" rtlCol="0" anchor="ctr"/>
          <a:lstStyle/>
          <a:p>
            <a:pPr algn="ctr" indent="0" marL="0">
              <a:buNone/>
            </a:pPr>
            <a:r>
              <a:rPr lang="en-US" sz="1050" dirty="0">
                <a:solidFill>
                  <a:srgbClr val="191919"/>
                </a:solidFill>
                <a:latin typeface="Arial" pitchFamily="34" charset="0"/>
                <a:ea typeface="Arial" pitchFamily="34" charset="-122"/>
                <a:cs typeface="Arial" pitchFamily="34" charset="-120"/>
              </a:rPr>
              <a:t>engineer's machine</a:t>
            </a:r>
            <a:endParaRPr lang="en-US" sz="1050" dirty="0"/>
          </a:p>
        </p:txBody>
      </p:sp>
      <p:sp>
        <p:nvSpPr>
          <p:cNvPr id="25" name="Shape 23"/>
          <p:cNvSpPr/>
          <p:nvPr/>
        </p:nvSpPr>
        <p:spPr>
          <a:xfrm>
            <a:off x="6812280" y="3337560"/>
            <a:ext cx="1783080" cy="566928"/>
          </a:xfrm>
          <a:prstGeom prst="rect">
            <a:avLst/>
          </a:prstGeom>
          <a:solidFill>
            <a:srgbClr val="FAF9F5"/>
          </a:solidFill>
          <a:ln w="9525">
            <a:solidFill>
              <a:srgbClr val="D4A27F"/>
            </a:solidFill>
            <a:prstDash val="solid"/>
          </a:ln>
        </p:spPr>
      </p:sp>
      <p:sp>
        <p:nvSpPr>
          <p:cNvPr id="26" name="Text 24"/>
          <p:cNvSpPr/>
          <p:nvPr/>
        </p:nvSpPr>
        <p:spPr>
          <a:xfrm>
            <a:off x="6812280" y="3337560"/>
            <a:ext cx="1783080" cy="566928"/>
          </a:xfrm>
          <a:prstGeom prst="rect">
            <a:avLst/>
          </a:prstGeom>
          <a:noFill/>
          <a:ln/>
        </p:spPr>
        <p:txBody>
          <a:bodyPr wrap="square" lIns="0" tIns="0" rIns="0" bIns="0" rtlCol="0" anchor="ctr"/>
          <a:lstStyle/>
          <a:p>
            <a:pPr algn="ctr" indent="0" marL="0">
              <a:buNone/>
            </a:pPr>
            <a:r>
              <a:rPr lang="en-US" sz="1050" dirty="0">
                <a:solidFill>
                  <a:srgbClr val="6B6B66"/>
                </a:solidFill>
                <a:latin typeface="Arial" pitchFamily="34" charset="0"/>
                <a:ea typeface="Arial" pitchFamily="34" charset="-122"/>
                <a:cs typeface="Arial" pitchFamily="34" charset="-120"/>
              </a:rPr>
              <a:t>identical, ×200</a:t>
            </a:r>
            <a:endParaRPr lang="en-US" sz="1050" dirty="0"/>
          </a:p>
        </p:txBody>
      </p:sp>
      <p:sp>
        <p:nvSpPr>
          <p:cNvPr id="27" name="Text 25"/>
          <p:cNvSpPr/>
          <p:nvPr/>
        </p:nvSpPr>
        <p:spPr>
          <a:xfrm>
            <a:off x="548640" y="4590288"/>
            <a:ext cx="7315200" cy="320040"/>
          </a:xfrm>
          <a:prstGeom prst="rect">
            <a:avLst/>
          </a:prstGeom>
          <a:noFill/>
          <a:ln/>
        </p:spPr>
        <p:txBody>
          <a:bodyPr wrap="square" lIns="0" tIns="0" rIns="0" bIns="0" rtlCol="0" anchor="ctr"/>
          <a:lstStyle/>
          <a:p>
            <a:pPr indent="0" marL="0">
              <a:buNone/>
            </a:pPr>
            <a:r>
              <a:rPr lang="en-US" sz="1250" dirty="0">
                <a:solidFill>
                  <a:srgbClr val="6B6B66"/>
                </a:solidFill>
                <a:latin typeface="Arial" pitchFamily="34" charset="0"/>
                <a:ea typeface="Arial" pitchFamily="34" charset="-122"/>
                <a:cs typeface="Arial" pitchFamily="34" charset="-120"/>
              </a:rPr>
              <a:t>One PR to the package updates every one of them.</a:t>
            </a:r>
            <a:endParaRPr lang="en-US" sz="1250" dirty="0"/>
          </a:p>
        </p:txBody>
      </p:sp>
      <p:sp>
        <p:nvSpPr>
          <p:cNvPr id="28" name="Text 26"/>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What's inside this one.</a:t>
            </a:r>
            <a:endParaRPr lang="en-US" sz="2600" dirty="0"/>
          </a:p>
        </p:txBody>
      </p:sp>
      <p:sp>
        <p:nvSpPr>
          <p:cNvPr id="4" name="Shape 2"/>
          <p:cNvSpPr/>
          <p:nvPr/>
        </p:nvSpPr>
        <p:spPr>
          <a:xfrm>
            <a:off x="548640" y="1371600"/>
            <a:ext cx="3886200" cy="1481328"/>
          </a:xfrm>
          <a:prstGeom prst="rect">
            <a:avLst/>
          </a:prstGeom>
          <a:solidFill>
            <a:srgbClr val="F0EEE6"/>
          </a:solidFill>
          <a:ln/>
        </p:spPr>
      </p:sp>
      <p:sp>
        <p:nvSpPr>
          <p:cNvPr id="5" name="Text 3"/>
          <p:cNvSpPr/>
          <p:nvPr/>
        </p:nvSpPr>
        <p:spPr>
          <a:xfrm>
            <a:off x="804672" y="1554480"/>
            <a:ext cx="3374136" cy="347472"/>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Skills</a:t>
            </a:r>
            <a:endParaRPr lang="en-US" sz="1600" dirty="0"/>
          </a:p>
        </p:txBody>
      </p:sp>
      <p:sp>
        <p:nvSpPr>
          <p:cNvPr id="6" name="Text 4"/>
          <p:cNvSpPr/>
          <p:nvPr/>
        </p:nvSpPr>
        <p:spPr>
          <a:xfrm>
            <a:off x="804672" y="1938528"/>
            <a:ext cx="3374136" cy="749808"/>
          </a:xfrm>
          <a:prstGeom prst="rect">
            <a:avLst/>
          </a:prstGeom>
          <a:noFill/>
          <a:ln/>
        </p:spPr>
        <p:txBody>
          <a:bodyPr wrap="square" lIns="0" tIns="0" rIns="0" bIns="0" rtlCol="0" anchor="t"/>
          <a:lstStyle/>
          <a:p>
            <a:pPr indent="0" marL="0">
              <a:buNone/>
            </a:pPr>
            <a:r>
              <a:rPr lang="en-US" sz="1200" dirty="0">
                <a:solidFill>
                  <a:srgbClr val="6B6B66"/>
                </a:solidFill>
                <a:latin typeface="Arial" pitchFamily="34" charset="0"/>
                <a:ea typeface="Arial" pitchFamily="34" charset="-122"/>
                <a:cs typeface="Arial" pitchFamily="34" charset="-120"/>
              </a:rPr>
              <a:t>Maya's checklist as a slash command. /sql-review applies written rule numbers, not taste.</a:t>
            </a:r>
            <a:endParaRPr lang="en-US" sz="1200" dirty="0"/>
          </a:p>
        </p:txBody>
      </p:sp>
      <p:sp>
        <p:nvSpPr>
          <p:cNvPr id="7" name="Shape 5"/>
          <p:cNvSpPr/>
          <p:nvPr/>
        </p:nvSpPr>
        <p:spPr>
          <a:xfrm>
            <a:off x="4709160" y="1371600"/>
            <a:ext cx="3886200" cy="1481328"/>
          </a:xfrm>
          <a:prstGeom prst="rect">
            <a:avLst/>
          </a:prstGeom>
          <a:solidFill>
            <a:srgbClr val="F0EEE6"/>
          </a:solidFill>
          <a:ln/>
        </p:spPr>
      </p:sp>
      <p:sp>
        <p:nvSpPr>
          <p:cNvPr id="8" name="Text 6"/>
          <p:cNvSpPr/>
          <p:nvPr/>
        </p:nvSpPr>
        <p:spPr>
          <a:xfrm>
            <a:off x="4965192" y="1554480"/>
            <a:ext cx="3374136" cy="347472"/>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Agents</a:t>
            </a:r>
            <a:endParaRPr lang="en-US" sz="1600" dirty="0"/>
          </a:p>
        </p:txBody>
      </p:sp>
      <p:sp>
        <p:nvSpPr>
          <p:cNvPr id="9" name="Text 7"/>
          <p:cNvSpPr/>
          <p:nvPr/>
        </p:nvSpPr>
        <p:spPr>
          <a:xfrm>
            <a:off x="4965192" y="1938528"/>
            <a:ext cx="3374136" cy="749808"/>
          </a:xfrm>
          <a:prstGeom prst="rect">
            <a:avLst/>
          </a:prstGeom>
          <a:noFill/>
          <a:ln/>
        </p:spPr>
        <p:txBody>
          <a:bodyPr wrap="square" lIns="0" tIns="0" rIns="0" bIns="0" rtlCol="0" anchor="t"/>
          <a:lstStyle/>
          <a:p>
            <a:pPr indent="0" marL="0">
              <a:buNone/>
            </a:pPr>
            <a:r>
              <a:rPr lang="en-US" sz="1200" dirty="0">
                <a:solidFill>
                  <a:srgbClr val="6B6B66"/>
                </a:solidFill>
                <a:latin typeface="Arial" pitchFamily="34" charset="0"/>
                <a:ea typeface="Arial" pitchFamily="34" charset="-122"/>
                <a:cs typeface="Arial" pitchFamily="34" charset="-120"/>
              </a:rPr>
              <a:t>Her review process as a read-only subagent with scoped tools.</a:t>
            </a:r>
            <a:endParaRPr lang="en-US" sz="1200" dirty="0"/>
          </a:p>
        </p:txBody>
      </p:sp>
      <p:sp>
        <p:nvSpPr>
          <p:cNvPr id="10" name="Shape 8"/>
          <p:cNvSpPr/>
          <p:nvPr/>
        </p:nvSpPr>
        <p:spPr>
          <a:xfrm>
            <a:off x="548640" y="3081528"/>
            <a:ext cx="3886200" cy="1481328"/>
          </a:xfrm>
          <a:prstGeom prst="rect">
            <a:avLst/>
          </a:prstGeom>
          <a:solidFill>
            <a:srgbClr val="F0EEE6"/>
          </a:solidFill>
          <a:ln/>
        </p:spPr>
      </p:sp>
      <p:sp>
        <p:nvSpPr>
          <p:cNvPr id="11" name="Text 9"/>
          <p:cNvSpPr/>
          <p:nvPr/>
        </p:nvSpPr>
        <p:spPr>
          <a:xfrm>
            <a:off x="804672" y="3264408"/>
            <a:ext cx="3374136" cy="347472"/>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Hooks</a:t>
            </a:r>
            <a:endParaRPr lang="en-US" sz="1600" dirty="0"/>
          </a:p>
        </p:txBody>
      </p:sp>
      <p:sp>
        <p:nvSpPr>
          <p:cNvPr id="12" name="Text 10"/>
          <p:cNvSpPr/>
          <p:nvPr/>
        </p:nvSpPr>
        <p:spPr>
          <a:xfrm>
            <a:off x="804672" y="3648456"/>
            <a:ext cx="3374136" cy="749808"/>
          </a:xfrm>
          <a:prstGeom prst="rect">
            <a:avLst/>
          </a:prstGeom>
          <a:noFill/>
          <a:ln/>
        </p:spPr>
        <p:txBody>
          <a:bodyPr wrap="square" lIns="0" tIns="0" rIns="0" bIns="0" rtlCol="0" anchor="t"/>
          <a:lstStyle/>
          <a:p>
            <a:pPr indent="0" marL="0">
              <a:buNone/>
            </a:pPr>
            <a:r>
              <a:rPr lang="en-US" sz="1200" dirty="0">
                <a:solidFill>
                  <a:srgbClr val="6B6B66"/>
                </a:solidFill>
                <a:latin typeface="Arial" pitchFamily="34" charset="0"/>
                <a:ea typeface="Arial" pitchFamily="34" charset="-122"/>
                <a:cs typeface="Arial" pitchFamily="34" charset="-120"/>
              </a:rPr>
              <a:t>Her never-on-prod rules as a process gate, plus an audit trail. Testable in CI.</a:t>
            </a:r>
            <a:endParaRPr lang="en-US" sz="1200" dirty="0"/>
          </a:p>
        </p:txBody>
      </p:sp>
      <p:sp>
        <p:nvSpPr>
          <p:cNvPr id="13" name="Shape 11"/>
          <p:cNvSpPr/>
          <p:nvPr/>
        </p:nvSpPr>
        <p:spPr>
          <a:xfrm>
            <a:off x="4709160" y="3081528"/>
            <a:ext cx="3886200" cy="1481328"/>
          </a:xfrm>
          <a:prstGeom prst="rect">
            <a:avLst/>
          </a:prstGeom>
          <a:solidFill>
            <a:srgbClr val="F0EEE6"/>
          </a:solidFill>
          <a:ln/>
        </p:spPr>
      </p:sp>
      <p:sp>
        <p:nvSpPr>
          <p:cNvPr id="14" name="Text 12"/>
          <p:cNvSpPr/>
          <p:nvPr/>
        </p:nvSpPr>
        <p:spPr>
          <a:xfrm>
            <a:off x="4965192" y="3264408"/>
            <a:ext cx="3374136" cy="347472"/>
          </a:xfrm>
          <a:prstGeom prst="rect">
            <a:avLst/>
          </a:prstGeom>
          <a:noFill/>
          <a:ln/>
        </p:spPr>
        <p:txBody>
          <a:bodyPr wrap="square" lIns="0" tIns="0" rIns="0" bIns="0" rtlCol="0" anchor="ctr"/>
          <a:lstStyle/>
          <a:p>
            <a:pPr indent="0" marL="0">
              <a:buNone/>
            </a:pPr>
            <a:r>
              <a:rPr lang="en-US" sz="1600" dirty="0">
                <a:solidFill>
                  <a:srgbClr val="191919"/>
                </a:solidFill>
                <a:latin typeface="Georgia" pitchFamily="34" charset="0"/>
                <a:ea typeface="Georgia" pitchFamily="34" charset="-122"/>
                <a:cs typeface="Georgia" pitchFamily="34" charset="-120"/>
              </a:rPr>
              <a:t>Manifest</a:t>
            </a:r>
            <a:endParaRPr lang="en-US" sz="1600" dirty="0"/>
          </a:p>
        </p:txBody>
      </p:sp>
      <p:sp>
        <p:nvSpPr>
          <p:cNvPr id="15" name="Text 13"/>
          <p:cNvSpPr/>
          <p:nvPr/>
        </p:nvSpPr>
        <p:spPr>
          <a:xfrm>
            <a:off x="4965192" y="3648456"/>
            <a:ext cx="3374136" cy="749808"/>
          </a:xfrm>
          <a:prstGeom prst="rect">
            <a:avLst/>
          </a:prstGeom>
          <a:noFill/>
          <a:ln/>
        </p:spPr>
        <p:txBody>
          <a:bodyPr wrap="square" lIns="0" tIns="0" rIns="0" bIns="0" rtlCol="0" anchor="t"/>
          <a:lstStyle/>
          <a:p>
            <a:pPr indent="0" marL="0">
              <a:buNone/>
            </a:pPr>
            <a:r>
              <a:rPr lang="en-US" sz="1200" dirty="0">
                <a:solidFill>
                  <a:srgbClr val="6B6B66"/>
                </a:solidFill>
                <a:latin typeface="Arial" pitchFamily="34" charset="0"/>
                <a:ea typeface="Arial" pitchFamily="34" charset="-122"/>
                <a:cs typeface="Arial" pitchFamily="34" charset="-120"/>
              </a:rPr>
              <a:t>Name and version. The pin that turns team tooling into releases.</a:t>
            </a:r>
            <a:endParaRPr lang="en-US" sz="1200" dirty="0"/>
          </a:p>
        </p:txBody>
      </p:sp>
      <p:sp>
        <p:nvSpPr>
          <p:cNvPr id="16" name="Text 14"/>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When a plugin is the right tool.</a:t>
            </a:r>
            <a:endParaRPr lang="en-US" sz="2600" dirty="0"/>
          </a:p>
        </p:txBody>
      </p:sp>
      <p:sp>
        <p:nvSpPr>
          <p:cNvPr id="4" name="Shape 2"/>
          <p:cNvSpPr/>
          <p:nvPr/>
        </p:nvSpPr>
        <p:spPr>
          <a:xfrm>
            <a:off x="548640" y="1371600"/>
            <a:ext cx="3886200" cy="2377440"/>
          </a:xfrm>
          <a:prstGeom prst="rect">
            <a:avLst/>
          </a:prstGeom>
          <a:solidFill>
            <a:srgbClr val="F0EEE6"/>
          </a:solidFill>
          <a:ln w="15875">
            <a:solidFill>
              <a:srgbClr val="CC785C"/>
            </a:solidFill>
            <a:prstDash val="solid"/>
          </a:ln>
        </p:spPr>
      </p:sp>
      <p:sp>
        <p:nvSpPr>
          <p:cNvPr id="5" name="Text 3"/>
          <p:cNvSpPr/>
          <p:nvPr/>
        </p:nvSpPr>
        <p:spPr>
          <a:xfrm>
            <a:off x="822960" y="1572768"/>
            <a:ext cx="3337560" cy="320040"/>
          </a:xfrm>
          <a:prstGeom prst="rect">
            <a:avLst/>
          </a:prstGeom>
          <a:noFill/>
          <a:ln/>
        </p:spPr>
        <p:txBody>
          <a:bodyPr wrap="square" lIns="0" tIns="0" rIns="0" bIns="0" rtlCol="0" anchor="ctr"/>
          <a:lstStyle/>
          <a:p>
            <a:pPr indent="0" marL="0">
              <a:buNone/>
            </a:pPr>
            <a:r>
              <a:rPr lang="en-US" sz="1550" b="1" dirty="0">
                <a:solidFill>
                  <a:srgbClr val="191919"/>
                </a:solidFill>
                <a:latin typeface="Georgia" pitchFamily="34" charset="0"/>
                <a:ea typeface="Georgia" pitchFamily="34" charset="-122"/>
                <a:cs typeface="Georgia" pitchFamily="34" charset="-120"/>
              </a:rPr>
              <a:t>Reach for a plugin when</a:t>
            </a:r>
            <a:endParaRPr lang="en-US" sz="1550" dirty="0"/>
          </a:p>
        </p:txBody>
      </p:sp>
      <p:sp>
        <p:nvSpPr>
          <p:cNvPr id="6" name="Text 4"/>
          <p:cNvSpPr/>
          <p:nvPr/>
        </p:nvSpPr>
        <p:spPr>
          <a:xfrm>
            <a:off x="822960" y="2029968"/>
            <a:ext cx="3337560" cy="1463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One person's workflow should become the team's standard</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A rule has to hold on every machine, every run</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A fix has to reach the whole fleet at once</a:t>
            </a:r>
            <a:endParaRPr lang="en-US" sz="1250" dirty="0"/>
          </a:p>
        </p:txBody>
      </p:sp>
      <p:sp>
        <p:nvSpPr>
          <p:cNvPr id="7" name="Shape 5"/>
          <p:cNvSpPr/>
          <p:nvPr/>
        </p:nvSpPr>
        <p:spPr>
          <a:xfrm>
            <a:off x="4709160" y="1371600"/>
            <a:ext cx="3886200" cy="2377440"/>
          </a:xfrm>
          <a:prstGeom prst="rect">
            <a:avLst/>
          </a:prstGeom>
          <a:solidFill>
            <a:srgbClr val="F0EEE6"/>
          </a:solidFill>
          <a:ln/>
        </p:spPr>
      </p:sp>
      <p:sp>
        <p:nvSpPr>
          <p:cNvPr id="8" name="Text 6"/>
          <p:cNvSpPr/>
          <p:nvPr/>
        </p:nvSpPr>
        <p:spPr>
          <a:xfrm>
            <a:off x="4983480" y="1572768"/>
            <a:ext cx="3337560" cy="320040"/>
          </a:xfrm>
          <a:prstGeom prst="rect">
            <a:avLst/>
          </a:prstGeom>
          <a:noFill/>
          <a:ln/>
        </p:spPr>
        <p:txBody>
          <a:bodyPr wrap="square" lIns="0" tIns="0" rIns="0" bIns="0" rtlCol="0" anchor="ctr"/>
          <a:lstStyle/>
          <a:p>
            <a:pPr indent="0" marL="0">
              <a:buNone/>
            </a:pPr>
            <a:r>
              <a:rPr lang="en-US" sz="1550" b="1" dirty="0">
                <a:solidFill>
                  <a:srgbClr val="191919"/>
                </a:solidFill>
                <a:latin typeface="Georgia" pitchFamily="34" charset="0"/>
                <a:ea typeface="Georgia" pitchFamily="34" charset="-122"/>
                <a:cs typeface="Georgia" pitchFamily="34" charset="-120"/>
              </a:rPr>
              <a:t>Skip it when</a:t>
            </a:r>
            <a:endParaRPr lang="en-US" sz="1550" dirty="0"/>
          </a:p>
        </p:txBody>
      </p:sp>
      <p:sp>
        <p:nvSpPr>
          <p:cNvPr id="9" name="Text 7"/>
          <p:cNvSpPr/>
          <p:nvPr/>
        </p:nvSpPr>
        <p:spPr>
          <a:xfrm>
            <a:off x="4983480" y="2029968"/>
            <a:ext cx="3337560" cy="1463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One repo, one laptop, one engineer</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A committed .claude/ folder already does the job</a:t>
            </a:r>
            <a:endParaRPr lang="en-US" sz="1250" dirty="0"/>
          </a:p>
          <a:p>
            <a:pPr marL="342900" indent="-342900">
              <a:spcAft>
                <a:spcPts val="1000"/>
              </a:spcAft>
              <a:buSzPct val="100000"/>
              <a:buChar char="•"/>
            </a:pPr>
            <a:r>
              <a:rPr lang="en-US" sz="1250" dirty="0">
                <a:solidFill>
                  <a:srgbClr val="191919"/>
                </a:solidFill>
                <a:latin typeface="Arial" pitchFamily="34" charset="0"/>
                <a:ea typeface="Arial" pitchFamily="34" charset="-122"/>
                <a:cs typeface="Arial" pitchFamily="34" charset="-120"/>
              </a:rPr>
              <a:t>There's nothing to version and nothing to enforce</a:t>
            </a:r>
            <a:endParaRPr lang="en-US" sz="1250" dirty="0"/>
          </a:p>
        </p:txBody>
      </p:sp>
      <p:sp>
        <p:nvSpPr>
          <p:cNvPr id="10" name="Text 8"/>
          <p:cNvSpPr/>
          <p:nvPr/>
        </p:nvSpPr>
        <p:spPr>
          <a:xfrm>
            <a:off x="548640" y="3950208"/>
            <a:ext cx="7315200" cy="365760"/>
          </a:xfrm>
          <a:prstGeom prst="rect">
            <a:avLst/>
          </a:prstGeom>
          <a:noFill/>
          <a:ln/>
        </p:spPr>
        <p:txBody>
          <a:bodyPr wrap="square" lIns="0" tIns="0" rIns="0" bIns="0" rtlCol="0" anchor="ctr"/>
          <a:lstStyle/>
          <a:p>
            <a:pPr indent="0" marL="0">
              <a:buNone/>
            </a:pPr>
            <a:r>
              <a:rPr lang="en-US" sz="1400" dirty="0">
                <a:solidFill>
                  <a:srgbClr val="191919"/>
                </a:solidFill>
                <a:latin typeface="Georgia" pitchFamily="34" charset="0"/>
                <a:ea typeface="Georgia" pitchFamily="34" charset="-122"/>
                <a:cs typeface="Georgia" pitchFamily="34" charset="-120"/>
              </a:rPr>
              <a:t>The plugin earns its keep at fleet scale.</a:t>
            </a:r>
            <a:endParaRPr lang="en-US" sz="1400" dirty="0"/>
          </a:p>
        </p:txBody>
      </p:sp>
      <p:sp>
        <p:nvSpPr>
          <p:cNvPr id="11" name="Text 9"/>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Two commands to everywhere.</a:t>
            </a:r>
            <a:endParaRPr lang="en-US" sz="2600" dirty="0"/>
          </a:p>
        </p:txBody>
      </p:sp>
      <p:sp>
        <p:nvSpPr>
          <p:cNvPr id="4" name="Shape 2"/>
          <p:cNvSpPr/>
          <p:nvPr/>
        </p:nvSpPr>
        <p:spPr>
          <a:xfrm>
            <a:off x="548640" y="1463040"/>
            <a:ext cx="2423160" cy="914400"/>
          </a:xfrm>
          <a:prstGeom prst="rect">
            <a:avLst/>
          </a:prstGeom>
          <a:solidFill>
            <a:srgbClr val="F0EEE6"/>
          </a:solidFill>
          <a:ln/>
        </p:spPr>
      </p:sp>
      <p:sp>
        <p:nvSpPr>
          <p:cNvPr id="5" name="Text 3"/>
          <p:cNvSpPr/>
          <p:nvPr/>
        </p:nvSpPr>
        <p:spPr>
          <a:xfrm>
            <a:off x="749808" y="1609344"/>
            <a:ext cx="2020824" cy="621792"/>
          </a:xfrm>
          <a:prstGeom prst="rect">
            <a:avLst/>
          </a:prstGeom>
          <a:noFill/>
          <a:ln/>
        </p:spPr>
        <p:txBody>
          <a:bodyPr wrap="square" lIns="0" tIns="0" rIns="0" bIns="0" rtlCol="0" anchor="t"/>
          <a:lstStyle/>
          <a:p>
            <a:pPr indent="0" marL="0">
              <a:buNone/>
            </a:pPr>
            <a:r>
              <a:rPr lang="en-US" sz="1300" b="1" dirty="0">
                <a:solidFill>
                  <a:srgbClr val="191919"/>
                </a:solidFill>
                <a:latin typeface="Arial" pitchFamily="34" charset="0"/>
                <a:ea typeface="Arial" pitchFamily="34" charset="-122"/>
                <a:cs typeface="Arial" pitchFamily="34" charset="-120"/>
              </a:rPr>
              <a:t>marketplace repo</a:t>
            </a:r>
            <a:endParaRPr lang="en-US" sz="1300" dirty="0"/>
          </a:p>
          <a:p>
            <a:pPr indent="0" marL="0">
              <a:buNone/>
            </a:pPr>
            <a:r>
              <a:rPr lang="en-US" sz="1050" dirty="0">
                <a:solidFill>
                  <a:srgbClr val="6B6B66"/>
                </a:solidFill>
                <a:latin typeface="Arial" pitchFamily="34" charset="0"/>
                <a:ea typeface="Arial" pitchFamily="34" charset="-122"/>
                <a:cs typeface="Arial" pitchFamily="34" charset="-120"/>
              </a:rPr>
              <a:t>a git repo the platform team owns</a:t>
            </a:r>
            <a:endParaRPr lang="en-US" sz="1300" dirty="0"/>
          </a:p>
        </p:txBody>
      </p:sp>
      <p:sp>
        <p:nvSpPr>
          <p:cNvPr id="6" name="Shape 4"/>
          <p:cNvSpPr/>
          <p:nvPr/>
        </p:nvSpPr>
        <p:spPr>
          <a:xfrm>
            <a:off x="3026664" y="1920240"/>
            <a:ext cx="256032" cy="0"/>
          </a:xfrm>
          <a:prstGeom prst="line">
            <a:avLst/>
          </a:prstGeom>
          <a:noFill/>
          <a:ln w="19050">
            <a:solidFill>
              <a:srgbClr val="CC785C"/>
            </a:solidFill>
            <a:prstDash val="solid"/>
            <a:tailEnd type="triangle"/>
          </a:ln>
        </p:spPr>
      </p:sp>
      <p:sp>
        <p:nvSpPr>
          <p:cNvPr id="7" name="Shape 5"/>
          <p:cNvSpPr/>
          <p:nvPr/>
        </p:nvSpPr>
        <p:spPr>
          <a:xfrm>
            <a:off x="3337560" y="1463040"/>
            <a:ext cx="2423160" cy="914400"/>
          </a:xfrm>
          <a:prstGeom prst="rect">
            <a:avLst/>
          </a:prstGeom>
          <a:solidFill>
            <a:srgbClr val="F0EEE6"/>
          </a:solidFill>
          <a:ln w="15875">
            <a:solidFill>
              <a:srgbClr val="CC785C"/>
            </a:solidFill>
            <a:prstDash val="solid"/>
          </a:ln>
        </p:spPr>
      </p:sp>
      <p:sp>
        <p:nvSpPr>
          <p:cNvPr id="8" name="Text 6"/>
          <p:cNvSpPr/>
          <p:nvPr/>
        </p:nvSpPr>
        <p:spPr>
          <a:xfrm>
            <a:off x="3538728" y="1609344"/>
            <a:ext cx="2020824" cy="621792"/>
          </a:xfrm>
          <a:prstGeom prst="rect">
            <a:avLst/>
          </a:prstGeom>
          <a:noFill/>
          <a:ln/>
        </p:spPr>
        <p:txBody>
          <a:bodyPr wrap="square" lIns="0" tIns="0" rIns="0" bIns="0" rtlCol="0" anchor="t"/>
          <a:lstStyle/>
          <a:p>
            <a:pPr indent="0" marL="0">
              <a:buNone/>
            </a:pPr>
            <a:r>
              <a:rPr lang="en-US" sz="1300" b="1" dirty="0">
                <a:solidFill>
                  <a:srgbClr val="191919"/>
                </a:solidFill>
                <a:latin typeface="Arial" pitchFamily="34" charset="0"/>
                <a:ea typeface="Arial" pitchFamily="34" charset="-122"/>
                <a:cs typeface="Arial" pitchFamily="34" charset="-120"/>
              </a:rPr>
              <a:t>plugin</a:t>
            </a:r>
            <a:endParaRPr lang="en-US" sz="1300" dirty="0"/>
          </a:p>
          <a:p>
            <a:pPr indent="0" marL="0">
              <a:buNone/>
            </a:pPr>
            <a:r>
              <a:rPr lang="en-US" sz="1050" dirty="0">
                <a:solidFill>
                  <a:srgbClr val="6B6B66"/>
                </a:solidFill>
                <a:latin typeface="Arial" pitchFamily="34" charset="0"/>
                <a:ea typeface="Arial" pitchFamily="34" charset="-122"/>
                <a:cs typeface="Arial" pitchFamily="34" charset="-120"/>
              </a:rPr>
              <a:t>versioned, reviewed, namespaced</a:t>
            </a:r>
            <a:endParaRPr lang="en-US" sz="1300" dirty="0"/>
          </a:p>
        </p:txBody>
      </p:sp>
      <p:sp>
        <p:nvSpPr>
          <p:cNvPr id="9" name="Shape 7"/>
          <p:cNvSpPr/>
          <p:nvPr/>
        </p:nvSpPr>
        <p:spPr>
          <a:xfrm>
            <a:off x="5815584" y="1920240"/>
            <a:ext cx="256032" cy="0"/>
          </a:xfrm>
          <a:prstGeom prst="line">
            <a:avLst/>
          </a:prstGeom>
          <a:noFill/>
          <a:ln w="19050">
            <a:solidFill>
              <a:srgbClr val="CC785C"/>
            </a:solidFill>
            <a:prstDash val="solid"/>
            <a:tailEnd type="triangle"/>
          </a:ln>
        </p:spPr>
      </p:sp>
      <p:sp>
        <p:nvSpPr>
          <p:cNvPr id="10" name="Shape 8"/>
          <p:cNvSpPr/>
          <p:nvPr/>
        </p:nvSpPr>
        <p:spPr>
          <a:xfrm>
            <a:off x="6126480" y="1463040"/>
            <a:ext cx="2423160" cy="914400"/>
          </a:xfrm>
          <a:prstGeom prst="rect">
            <a:avLst/>
          </a:prstGeom>
          <a:solidFill>
            <a:srgbClr val="F0EEE6"/>
          </a:solidFill>
          <a:ln/>
        </p:spPr>
      </p:sp>
      <p:sp>
        <p:nvSpPr>
          <p:cNvPr id="11" name="Text 9"/>
          <p:cNvSpPr/>
          <p:nvPr/>
        </p:nvSpPr>
        <p:spPr>
          <a:xfrm>
            <a:off x="6327648" y="1609344"/>
            <a:ext cx="2020824" cy="621792"/>
          </a:xfrm>
          <a:prstGeom prst="rect">
            <a:avLst/>
          </a:prstGeom>
          <a:noFill/>
          <a:ln/>
        </p:spPr>
        <p:txBody>
          <a:bodyPr wrap="square" lIns="0" tIns="0" rIns="0" bIns="0" rtlCol="0" anchor="t"/>
          <a:lstStyle/>
          <a:p>
            <a:pPr indent="0" marL="0">
              <a:buNone/>
            </a:pPr>
            <a:r>
              <a:rPr lang="en-US" sz="1300" b="1" dirty="0">
                <a:solidFill>
                  <a:srgbClr val="191919"/>
                </a:solidFill>
                <a:latin typeface="Arial" pitchFamily="34" charset="0"/>
                <a:ea typeface="Arial" pitchFamily="34" charset="-122"/>
                <a:cs typeface="Arial" pitchFamily="34" charset="-120"/>
              </a:rPr>
              <a:t>every machine</a:t>
            </a:r>
            <a:endParaRPr lang="en-US" sz="1300" dirty="0"/>
          </a:p>
          <a:p>
            <a:pPr indent="0" marL="0">
              <a:buNone/>
            </a:pPr>
            <a:r>
              <a:rPr lang="en-US" sz="1050" dirty="0">
                <a:solidFill>
                  <a:srgbClr val="6B6B66"/>
                </a:solidFill>
                <a:latin typeface="Arial" pitchFamily="34" charset="0"/>
                <a:ea typeface="Arial" pitchFamily="34" charset="-122"/>
                <a:cs typeface="Arial" pitchFamily="34" charset="-120"/>
              </a:rPr>
              <a:t>installed from the same catalog</a:t>
            </a:r>
            <a:endParaRPr lang="en-US" sz="1300" dirty="0"/>
          </a:p>
        </p:txBody>
      </p:sp>
      <p:sp>
        <p:nvSpPr>
          <p:cNvPr id="12" name="Shape 10"/>
          <p:cNvSpPr/>
          <p:nvPr/>
        </p:nvSpPr>
        <p:spPr>
          <a:xfrm>
            <a:off x="548640" y="2834640"/>
            <a:ext cx="8046720" cy="1051560"/>
          </a:xfrm>
          <a:prstGeom prst="roundRect">
            <a:avLst>
              <a:gd name="adj" fmla="val 6087"/>
            </a:avLst>
          </a:prstGeom>
          <a:solidFill>
            <a:srgbClr val="191919"/>
          </a:solidFill>
          <a:ln/>
        </p:spPr>
      </p:sp>
      <p:sp>
        <p:nvSpPr>
          <p:cNvPr id="13" name="Text 11"/>
          <p:cNvSpPr/>
          <p:nvPr/>
        </p:nvSpPr>
        <p:spPr>
          <a:xfrm>
            <a:off x="804672" y="2980944"/>
            <a:ext cx="7534656" cy="758952"/>
          </a:xfrm>
          <a:prstGeom prst="rect">
            <a:avLst/>
          </a:prstGeom>
          <a:noFill/>
          <a:ln/>
        </p:spPr>
        <p:txBody>
          <a:bodyPr wrap="square" lIns="0" tIns="0" rIns="0" bIns="0" rtlCol="0" anchor="t"/>
          <a:lstStyle/>
          <a:p>
            <a:pPr indent="0" marL="0">
              <a:spcAft>
                <a:spcPts val="500"/>
              </a:spcAft>
              <a:buNone/>
            </a:pPr>
            <a:r>
              <a:rPr lang="en-US" sz="1150" dirty="0">
                <a:solidFill>
                  <a:srgbClr val="F0EEE6"/>
                </a:solidFill>
                <a:latin typeface="Consolas" pitchFamily="34" charset="0"/>
                <a:ea typeface="Consolas" pitchFamily="34" charset="-122"/>
                <a:cs typeface="Consolas" pitchFamily="34" charset="-120"/>
              </a:rPr>
              <a:t>$ /plugin marketplace add owner/repo</a:t>
            </a:r>
            <a:endParaRPr lang="en-US" sz="1150" dirty="0"/>
          </a:p>
          <a:p>
            <a:pPr indent="0" marL="0">
              <a:spcAft>
                <a:spcPts val="500"/>
              </a:spcAft>
              <a:buNone/>
            </a:pPr>
            <a:r>
              <a:rPr lang="en-US" sz="1150" dirty="0">
                <a:solidFill>
                  <a:srgbClr val="F0EEE6"/>
                </a:solidFill>
                <a:latin typeface="Consolas" pitchFamily="34" charset="0"/>
                <a:ea typeface="Consolas" pitchFamily="34" charset="-122"/>
                <a:cs typeface="Consolas" pitchFamily="34" charset="-120"/>
              </a:rPr>
              <a:t>$ /plugin install data-platform-pack@platform-tools</a:t>
            </a:r>
            <a:endParaRPr lang="en-US" sz="1150" dirty="0"/>
          </a:p>
          <a:p>
            <a:pPr indent="0" marL="0">
              <a:spcAft>
                <a:spcPts val="500"/>
              </a:spcAft>
              <a:buNone/>
            </a:pPr>
            <a:r>
              <a:rPr lang="en-US" sz="1150" dirty="0">
                <a:solidFill>
                  <a:srgbClr val="D4A27F"/>
                </a:solidFill>
                <a:latin typeface="Consolas" pitchFamily="34" charset="0"/>
                <a:ea typeface="Consolas" pitchFamily="34" charset="-122"/>
                <a:cs typeface="Consolas" pitchFamily="34" charset="-120"/>
              </a:rPr>
              <a:t>✔ installed, version-pinned, namespaced</a:t>
            </a:r>
            <a:endParaRPr lang="en-US" sz="1150" dirty="0"/>
          </a:p>
        </p:txBody>
      </p:sp>
      <p:sp>
        <p:nvSpPr>
          <p:cNvPr id="14" name="Text 12"/>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566928"/>
            <a:ext cx="91440" cy="91440"/>
          </a:xfrm>
          <a:prstGeom prst="ellipse">
            <a:avLst/>
          </a:prstGeom>
          <a:solidFill>
            <a:srgbClr val="CC785C"/>
          </a:solidFill>
          <a:ln/>
        </p:spPr>
      </p:sp>
      <p:sp>
        <p:nvSpPr>
          <p:cNvPr id="3" name="Shape 1"/>
          <p:cNvSpPr/>
          <p:nvPr/>
        </p:nvSpPr>
        <p:spPr>
          <a:xfrm>
            <a:off x="749808" y="566928"/>
            <a:ext cx="91440" cy="91440"/>
          </a:xfrm>
          <a:prstGeom prst="ellipse">
            <a:avLst/>
          </a:prstGeom>
          <a:solidFill>
            <a:srgbClr val="D3D1C7"/>
          </a:solidFill>
          <a:ln/>
        </p:spPr>
      </p:sp>
      <p:sp>
        <p:nvSpPr>
          <p:cNvPr id="4" name="Shape 2"/>
          <p:cNvSpPr/>
          <p:nvPr/>
        </p:nvSpPr>
        <p:spPr>
          <a:xfrm>
            <a:off x="950976" y="566928"/>
            <a:ext cx="91440" cy="91440"/>
          </a:xfrm>
          <a:prstGeom prst="ellipse">
            <a:avLst/>
          </a:prstGeom>
          <a:solidFill>
            <a:srgbClr val="D3D1C7"/>
          </a:solidFill>
          <a:ln/>
        </p:spPr>
      </p:sp>
      <p:sp>
        <p:nvSpPr>
          <p:cNvPr id="5" name="Shape 3"/>
          <p:cNvSpPr/>
          <p:nvPr/>
        </p:nvSpPr>
        <p:spPr>
          <a:xfrm>
            <a:off x="1152144" y="566928"/>
            <a:ext cx="91440" cy="91440"/>
          </a:xfrm>
          <a:prstGeom prst="ellipse">
            <a:avLst/>
          </a:prstGeom>
          <a:solidFill>
            <a:srgbClr val="D3D1C7"/>
          </a:solidFill>
          <a:ln/>
        </p:spPr>
      </p:sp>
      <p:sp>
        <p:nvSpPr>
          <p:cNvPr id="6" name="Text 4"/>
          <p:cNvSpPr/>
          <p:nvPr/>
        </p:nvSpPr>
        <p:spPr>
          <a:xfrm>
            <a:off x="1554480" y="502920"/>
            <a:ext cx="4572000" cy="256032"/>
          </a:xfrm>
          <a:prstGeom prst="rect">
            <a:avLst/>
          </a:prstGeom>
          <a:noFill/>
          <a:ln/>
        </p:spPr>
        <p:txBody>
          <a:bodyPr wrap="square" lIns="0" tIns="0" rIns="0" bIns="0" rtlCol="0" anchor="ctr"/>
          <a:lstStyle/>
          <a:p>
            <a:pPr indent="0" marL="0">
              <a:buNone/>
            </a:pPr>
            <a:r>
              <a:rPr lang="en-US" sz="1050" b="1" spc="300" kern="0" dirty="0">
                <a:solidFill>
                  <a:srgbClr val="CC785C"/>
                </a:solidFill>
                <a:latin typeface="Arial" pitchFamily="34" charset="0"/>
                <a:ea typeface="Arial" pitchFamily="34" charset="-122"/>
                <a:cs typeface="Arial" pitchFamily="34" charset="-120"/>
              </a:rPr>
              <a:t>LIVE · BEAT ONE</a:t>
            </a:r>
            <a:endParaRPr lang="en-US" sz="1050" dirty="0"/>
          </a:p>
        </p:txBody>
      </p:sp>
      <p:sp>
        <p:nvSpPr>
          <p:cNvPr id="7" name="Text 5"/>
          <p:cNvSpPr/>
          <p:nvPr/>
        </p:nvSpPr>
        <p:spPr>
          <a:xfrm>
            <a:off x="548640" y="960120"/>
            <a:ext cx="8046720" cy="640080"/>
          </a:xfrm>
          <a:prstGeom prst="rect">
            <a:avLst/>
          </a:prstGeom>
          <a:noFill/>
          <a:ln/>
        </p:spPr>
        <p:txBody>
          <a:bodyPr wrap="square" lIns="0" tIns="0" rIns="0" bIns="0" rtlCol="0" anchor="ctr"/>
          <a:lstStyle/>
          <a:p>
            <a:pPr indent="0" marL="0">
              <a:buNone/>
            </a:pPr>
            <a:r>
              <a:rPr lang="en-US" sz="2800" dirty="0">
                <a:solidFill>
                  <a:srgbClr val="191919"/>
                </a:solidFill>
                <a:latin typeface="Georgia" pitchFamily="34" charset="0"/>
                <a:ea typeface="Georgia" pitchFamily="34" charset="-122"/>
                <a:cs typeface="Georgia" pitchFamily="34" charset="-120"/>
              </a:rPr>
              <a:t>90 seconds to standard.</a:t>
            </a:r>
            <a:endParaRPr lang="en-US" sz="2800" dirty="0"/>
          </a:p>
        </p:txBody>
      </p:sp>
      <p:sp>
        <p:nvSpPr>
          <p:cNvPr id="8" name="Text 6"/>
          <p:cNvSpPr/>
          <p:nvPr/>
        </p:nvSpPr>
        <p:spPr>
          <a:xfrm>
            <a:off x="548640" y="1691640"/>
            <a:ext cx="7680960" cy="365760"/>
          </a:xfrm>
          <a:prstGeom prst="rect">
            <a:avLst/>
          </a:prstGeom>
          <a:noFill/>
          <a:ln/>
        </p:spPr>
        <p:txBody>
          <a:bodyPr wrap="square" lIns="0" tIns="0" rIns="0" bIns="0" rtlCol="0" anchor="t"/>
          <a:lstStyle/>
          <a:p>
            <a:pPr indent="0" marL="0">
              <a:buNone/>
            </a:pPr>
            <a:r>
              <a:rPr lang="en-US" sz="1300" dirty="0">
                <a:solidFill>
                  <a:srgbClr val="6B6B66"/>
                </a:solidFill>
                <a:latin typeface="Arial" pitchFamily="34" charset="0"/>
                <a:ea typeface="Arial" pitchFamily="34" charset="-122"/>
                <a:cs typeface="Arial" pitchFamily="34" charset="-120"/>
              </a:rPr>
              <a:t>From vanilla machine to Maya's full setup, identical everywhere.</a:t>
            </a:r>
            <a:endParaRPr lang="en-US" sz="1300" dirty="0"/>
          </a:p>
        </p:txBody>
      </p:sp>
      <p:sp>
        <p:nvSpPr>
          <p:cNvPr id="9" name="Shape 7"/>
          <p:cNvSpPr/>
          <p:nvPr/>
        </p:nvSpPr>
        <p:spPr>
          <a:xfrm>
            <a:off x="548640" y="2377440"/>
            <a:ext cx="8046720" cy="1325880"/>
          </a:xfrm>
          <a:prstGeom prst="roundRect">
            <a:avLst>
              <a:gd name="adj" fmla="val 4828"/>
            </a:avLst>
          </a:prstGeom>
          <a:solidFill>
            <a:srgbClr val="191919"/>
          </a:solidFill>
          <a:ln/>
        </p:spPr>
      </p:sp>
      <p:sp>
        <p:nvSpPr>
          <p:cNvPr id="10" name="Text 8"/>
          <p:cNvSpPr/>
          <p:nvPr/>
        </p:nvSpPr>
        <p:spPr>
          <a:xfrm>
            <a:off x="804672" y="2523744"/>
            <a:ext cx="7534656" cy="1033272"/>
          </a:xfrm>
          <a:prstGeom prst="rect">
            <a:avLst/>
          </a:prstGeom>
          <a:noFill/>
          <a:ln/>
        </p:spPr>
        <p:txBody>
          <a:bodyPr wrap="square" lIns="0" tIns="0" rIns="0" bIns="0" rtlCol="0" anchor="t"/>
          <a:lstStyle/>
          <a:p>
            <a:pPr indent="0" marL="0">
              <a:spcAft>
                <a:spcPts val="500"/>
              </a:spcAft>
              <a:buNone/>
            </a:pPr>
            <a:r>
              <a:rPr lang="en-US" sz="1150" dirty="0">
                <a:solidFill>
                  <a:srgbClr val="F0EEE6"/>
                </a:solidFill>
                <a:latin typeface="Consolas" pitchFamily="34" charset="0"/>
                <a:ea typeface="Consolas" pitchFamily="34" charset="-122"/>
                <a:cs typeface="Consolas" pitchFamily="34" charset="-120"/>
              </a:rPr>
              <a:t>$ /plugin marketplace add andymadson/data-platform-pack</a:t>
            </a:r>
            <a:endParaRPr lang="en-US" sz="1150" dirty="0"/>
          </a:p>
          <a:p>
            <a:pPr indent="0" marL="0">
              <a:spcAft>
                <a:spcPts val="500"/>
              </a:spcAft>
              <a:buNone/>
            </a:pPr>
            <a:r>
              <a:rPr lang="en-US" sz="1150" dirty="0">
                <a:solidFill>
                  <a:srgbClr val="F0EEE6"/>
                </a:solidFill>
                <a:latin typeface="Consolas" pitchFamily="34" charset="0"/>
                <a:ea typeface="Consolas" pitchFamily="34" charset="-122"/>
                <a:cs typeface="Consolas" pitchFamily="34" charset="-120"/>
              </a:rPr>
              <a:t>$ /plugin install data-platform-pack@platform-tools</a:t>
            </a:r>
            <a:endParaRPr lang="en-US" sz="1150" dirty="0"/>
          </a:p>
          <a:p>
            <a:pPr indent="0" marL="0">
              <a:spcAft>
                <a:spcPts val="500"/>
              </a:spcAft>
              <a:buNone/>
            </a:pPr>
            <a:r>
              <a:rPr lang="en-US" sz="1150" dirty="0">
                <a:solidFill>
                  <a:srgbClr val="D4A27F"/>
                </a:solidFill>
                <a:latin typeface="Consolas" pitchFamily="34" charset="0"/>
                <a:ea typeface="Consolas" pitchFamily="34" charset="-122"/>
                <a:cs typeface="Consolas" pitchFamily="34" charset="-120"/>
              </a:rPr>
              <a:t>✔ Successfully installed: data-platform-pack (v1.0.0)</a:t>
            </a:r>
            <a:endParaRPr lang="en-US" sz="1150" dirty="0"/>
          </a:p>
          <a:p>
            <a:pPr indent="0" marL="0">
              <a:spcAft>
                <a:spcPts val="500"/>
              </a:spcAft>
              <a:buNone/>
            </a:pPr>
            <a:r>
              <a:rPr lang="en-US" sz="1150" dirty="0">
                <a:solidFill>
                  <a:srgbClr val="B4B2A9"/>
                </a:solidFill>
                <a:latin typeface="Consolas" pitchFamily="34" charset="0"/>
                <a:ea typeface="Consolas" pitchFamily="34" charset="-122"/>
                <a:cs typeface="Consolas" pitchFamily="34" charset="-120"/>
              </a:rPr>
              <a:t>  2 skills · 1 agent · 2 hooks</a:t>
            </a:r>
            <a:endParaRPr lang="en-US" sz="1150" dirty="0"/>
          </a:p>
        </p:txBody>
      </p:sp>
      <p:sp>
        <p:nvSpPr>
          <p:cNvPr id="11" name="Text 9"/>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566928"/>
            <a:ext cx="91440" cy="91440"/>
          </a:xfrm>
          <a:prstGeom prst="ellipse">
            <a:avLst/>
          </a:prstGeom>
          <a:solidFill>
            <a:srgbClr val="D3D1C7"/>
          </a:solidFill>
          <a:ln/>
        </p:spPr>
      </p:sp>
      <p:sp>
        <p:nvSpPr>
          <p:cNvPr id="3" name="Shape 1"/>
          <p:cNvSpPr/>
          <p:nvPr/>
        </p:nvSpPr>
        <p:spPr>
          <a:xfrm>
            <a:off x="749808" y="566928"/>
            <a:ext cx="91440" cy="91440"/>
          </a:xfrm>
          <a:prstGeom prst="ellipse">
            <a:avLst/>
          </a:prstGeom>
          <a:solidFill>
            <a:srgbClr val="CC785C"/>
          </a:solidFill>
          <a:ln/>
        </p:spPr>
      </p:sp>
      <p:sp>
        <p:nvSpPr>
          <p:cNvPr id="4" name="Shape 2"/>
          <p:cNvSpPr/>
          <p:nvPr/>
        </p:nvSpPr>
        <p:spPr>
          <a:xfrm>
            <a:off x="950976" y="566928"/>
            <a:ext cx="91440" cy="91440"/>
          </a:xfrm>
          <a:prstGeom prst="ellipse">
            <a:avLst/>
          </a:prstGeom>
          <a:solidFill>
            <a:srgbClr val="D3D1C7"/>
          </a:solidFill>
          <a:ln/>
        </p:spPr>
      </p:sp>
      <p:sp>
        <p:nvSpPr>
          <p:cNvPr id="5" name="Shape 3"/>
          <p:cNvSpPr/>
          <p:nvPr/>
        </p:nvSpPr>
        <p:spPr>
          <a:xfrm>
            <a:off x="1152144" y="566928"/>
            <a:ext cx="91440" cy="91440"/>
          </a:xfrm>
          <a:prstGeom prst="ellipse">
            <a:avLst/>
          </a:prstGeom>
          <a:solidFill>
            <a:srgbClr val="D3D1C7"/>
          </a:solidFill>
          <a:ln/>
        </p:spPr>
      </p:sp>
      <p:sp>
        <p:nvSpPr>
          <p:cNvPr id="6" name="Text 4"/>
          <p:cNvSpPr/>
          <p:nvPr/>
        </p:nvSpPr>
        <p:spPr>
          <a:xfrm>
            <a:off x="1554480" y="502920"/>
            <a:ext cx="4572000" cy="256032"/>
          </a:xfrm>
          <a:prstGeom prst="rect">
            <a:avLst/>
          </a:prstGeom>
          <a:noFill/>
          <a:ln/>
        </p:spPr>
        <p:txBody>
          <a:bodyPr wrap="square" lIns="0" tIns="0" rIns="0" bIns="0" rtlCol="0" anchor="ctr"/>
          <a:lstStyle/>
          <a:p>
            <a:pPr indent="0" marL="0">
              <a:buNone/>
            </a:pPr>
            <a:r>
              <a:rPr lang="en-US" sz="1050" b="1" spc="300" kern="0" dirty="0">
                <a:solidFill>
                  <a:srgbClr val="CC785C"/>
                </a:solidFill>
                <a:latin typeface="Arial" pitchFamily="34" charset="0"/>
                <a:ea typeface="Arial" pitchFamily="34" charset="-122"/>
                <a:cs typeface="Arial" pitchFamily="34" charset="-120"/>
              </a:rPr>
              <a:t>LIVE · BEAT TWO</a:t>
            </a:r>
            <a:endParaRPr lang="en-US" sz="1050" dirty="0"/>
          </a:p>
        </p:txBody>
      </p:sp>
      <p:sp>
        <p:nvSpPr>
          <p:cNvPr id="7" name="Text 5"/>
          <p:cNvSpPr/>
          <p:nvPr/>
        </p:nvSpPr>
        <p:spPr>
          <a:xfrm>
            <a:off x="548640" y="960120"/>
            <a:ext cx="8046720" cy="640080"/>
          </a:xfrm>
          <a:prstGeom prst="rect">
            <a:avLst/>
          </a:prstGeom>
          <a:noFill/>
          <a:ln/>
        </p:spPr>
        <p:txBody>
          <a:bodyPr wrap="square" lIns="0" tIns="0" rIns="0" bIns="0" rtlCol="0" anchor="ctr"/>
          <a:lstStyle/>
          <a:p>
            <a:pPr indent="0" marL="0">
              <a:buNone/>
            </a:pPr>
            <a:r>
              <a:rPr lang="en-US" sz="2800" dirty="0">
                <a:solidFill>
                  <a:srgbClr val="191919"/>
                </a:solidFill>
                <a:latin typeface="Georgia" pitchFamily="34" charset="0"/>
                <a:ea typeface="Georgia" pitchFamily="34" charset="-122"/>
                <a:cs typeface="Georgia" pitchFamily="34" charset="-120"/>
              </a:rPr>
              <a:t>The $129.50 bug, caught by your rules.</a:t>
            </a:r>
            <a:endParaRPr lang="en-US" sz="2800" dirty="0"/>
          </a:p>
        </p:txBody>
      </p:sp>
      <p:sp>
        <p:nvSpPr>
          <p:cNvPr id="8" name="Text 6"/>
          <p:cNvSpPr/>
          <p:nvPr/>
        </p:nvSpPr>
        <p:spPr>
          <a:xfrm>
            <a:off x="548640" y="1691640"/>
            <a:ext cx="7680960" cy="411480"/>
          </a:xfrm>
          <a:prstGeom prst="rect">
            <a:avLst/>
          </a:prstGeom>
          <a:noFill/>
          <a:ln/>
        </p:spPr>
        <p:txBody>
          <a:bodyPr wrap="square" lIns="0" tIns="0" rIns="0" bIns="0" rtlCol="0" anchor="ctr"/>
          <a:lstStyle/>
          <a:p>
            <a:pPr indent="0" marL="0">
              <a:buNone/>
            </a:pPr>
            <a:r>
              <a:rPr lang="en-US" sz="1300" dirty="0">
                <a:solidFill>
                  <a:srgbClr val="6B6B66"/>
                </a:solidFill>
                <a:latin typeface="Arial" pitchFamily="34" charset="0"/>
                <a:ea typeface="Arial" pitchFamily="34" charset="-122"/>
                <a:cs typeface="Arial" pitchFamily="34" charset="-120"/>
              </a:rPr>
              <a:t>The findings cite rule numbers from a written convention, not generic AI taste.</a:t>
            </a:r>
            <a:endParaRPr lang="en-US" sz="1300" dirty="0"/>
          </a:p>
        </p:txBody>
      </p:sp>
      <p:sp>
        <p:nvSpPr>
          <p:cNvPr id="9" name="Shape 7"/>
          <p:cNvSpPr/>
          <p:nvPr/>
        </p:nvSpPr>
        <p:spPr>
          <a:xfrm>
            <a:off x="548640" y="2377440"/>
            <a:ext cx="8046720" cy="1600200"/>
          </a:xfrm>
          <a:prstGeom prst="roundRect">
            <a:avLst>
              <a:gd name="adj" fmla="val 4000"/>
            </a:avLst>
          </a:prstGeom>
          <a:solidFill>
            <a:srgbClr val="191919"/>
          </a:solidFill>
          <a:ln/>
        </p:spPr>
      </p:sp>
      <p:sp>
        <p:nvSpPr>
          <p:cNvPr id="10" name="Text 8"/>
          <p:cNvSpPr/>
          <p:nvPr/>
        </p:nvSpPr>
        <p:spPr>
          <a:xfrm>
            <a:off x="804672" y="2523744"/>
            <a:ext cx="7534656" cy="1307592"/>
          </a:xfrm>
          <a:prstGeom prst="rect">
            <a:avLst/>
          </a:prstGeom>
          <a:noFill/>
          <a:ln/>
        </p:spPr>
        <p:txBody>
          <a:bodyPr wrap="square" lIns="0" tIns="0" rIns="0" bIns="0" rtlCol="0" anchor="t"/>
          <a:lstStyle/>
          <a:p>
            <a:pPr indent="0" marL="0">
              <a:spcAft>
                <a:spcPts val="300"/>
              </a:spcAft>
              <a:buNone/>
            </a:pPr>
            <a:r>
              <a:rPr lang="en-US" sz="1050" dirty="0">
                <a:solidFill>
                  <a:srgbClr val="F0EEE6"/>
                </a:solidFill>
                <a:latin typeface="Consolas" pitchFamily="34" charset="0"/>
                <a:ea typeface="Consolas" pitchFamily="34" charset="-122"/>
                <a:cs typeface="Consolas" pitchFamily="34" charset="-120"/>
              </a:rPr>
              <a:t>$ /data-platform-pack:sql-review pipelines/sql/orders_daily.sql</a:t>
            </a:r>
            <a:endParaRPr lang="en-US" sz="1050" dirty="0"/>
          </a:p>
          <a:p>
            <a:pPr indent="0" marL="0">
              <a:spcAft>
                <a:spcPts val="300"/>
              </a:spcAft>
              <a:buNone/>
            </a:pPr>
            <a:r>
              <a:rPr lang="en-US" sz="1050" dirty="0">
                <a:solidFill>
                  <a:srgbClr val="CC785C"/>
                </a:solidFill>
                <a:latin typeface="Consolas" pitchFamily="34" charset="0"/>
                <a:ea typeface="Consolas" pitchFamily="34" charset="-122"/>
                <a:cs typeface="Consolas" pitchFamily="34" charset="-120"/>
              </a:rPr>
              <a:t>BLOCKER | rule 4 (complete only) | returned orders inflate revenue</a:t>
            </a:r>
            <a:endParaRPr lang="en-US" sz="1050" dirty="0"/>
          </a:p>
          <a:p>
            <a:pPr indent="0" marL="0">
              <a:spcAft>
                <a:spcPts val="300"/>
              </a:spcAft>
              <a:buNone/>
            </a:pPr>
            <a:r>
              <a:rPr lang="en-US" sz="1050" dirty="0">
                <a:solidFill>
                  <a:srgbClr val="F0EEE6"/>
                </a:solidFill>
                <a:latin typeface="Consolas" pitchFamily="34" charset="0"/>
                <a:ea typeface="Consolas" pitchFamily="34" charset="-122"/>
                <a:cs typeface="Consolas" pitchFamily="34" charset="-120"/>
              </a:rPr>
              <a:t>BLOCKER | rule 1 (no SELECT *)   | name the columns you ship</a:t>
            </a:r>
            <a:endParaRPr lang="en-US" sz="1050" dirty="0"/>
          </a:p>
          <a:p>
            <a:pPr indent="0" marL="0">
              <a:spcAft>
                <a:spcPts val="300"/>
              </a:spcAft>
              <a:buNone/>
            </a:pPr>
            <a:r>
              <a:rPr lang="en-US" sz="1050" dirty="0">
                <a:solidFill>
                  <a:srgbClr val="F0EEE6"/>
                </a:solidFill>
                <a:latin typeface="Consolas" pitchFamily="34" charset="0"/>
                <a:ea typeface="Consolas" pitchFamily="34" charset="-122"/>
                <a:cs typeface="Consolas" pitchFamily="34" charset="-120"/>
              </a:rPr>
              <a:t>BLOCKER | rule 3 (NULL keys)     | customer_id flows in silently</a:t>
            </a:r>
            <a:endParaRPr lang="en-US" sz="1050" dirty="0"/>
          </a:p>
          <a:p>
            <a:pPr indent="0" marL="0">
              <a:spcAft>
                <a:spcPts val="300"/>
              </a:spcAft>
              <a:buNone/>
            </a:pPr>
            <a:r>
              <a:rPr lang="en-US" sz="1050" dirty="0">
                <a:solidFill>
                  <a:srgbClr val="F0EEE6"/>
                </a:solidFill>
                <a:latin typeface="Consolas" pitchFamily="34" charset="0"/>
                <a:ea typeface="Consolas" pitchFamily="34" charset="-122"/>
                <a:cs typeface="Consolas" pitchFamily="34" charset="-120"/>
              </a:rPr>
              <a:t>BLOCKER | rule 5 (model checks)  | assert more than row counts</a:t>
            </a:r>
            <a:endParaRPr lang="en-US" sz="1050" dirty="0"/>
          </a:p>
          <a:p>
            <a:pPr indent="0" marL="0">
              <a:spcAft>
                <a:spcPts val="300"/>
              </a:spcAft>
              <a:buNone/>
            </a:pPr>
            <a:r>
              <a:rPr lang="en-US" sz="1050" dirty="0">
                <a:solidFill>
                  <a:srgbClr val="B4B2A9"/>
                </a:solidFill>
                <a:latin typeface="Consolas" pitchFamily="34" charset="0"/>
                <a:ea typeface="Consolas" pitchFamily="34" charset="-122"/>
                <a:cs typeface="Consolas" pitchFamily="34" charset="-120"/>
              </a:rPr>
              <a:t>Summary: 4 BLOCKER, 1 WARN. Not safe to ship.</a:t>
            </a:r>
            <a:endParaRPr lang="en-US" sz="1050" dirty="0"/>
          </a:p>
        </p:txBody>
      </p:sp>
      <p:sp>
        <p:nvSpPr>
          <p:cNvPr id="11" name="Text 9"/>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91919"/>
        </a:solidFill>
      </p:bgPr>
    </p:bg>
    <p:spTree>
      <p:nvGrpSpPr>
        <p:cNvPr id="1" name=""/>
        <p:cNvGrpSpPr/>
        <p:nvPr/>
      </p:nvGrpSpPr>
      <p:grpSpPr>
        <a:xfrm>
          <a:off x="0" y="0"/>
          <a:ext cx="0" cy="0"/>
          <a:chOff x="0" y="0"/>
          <a:chExt cx="0" cy="0"/>
        </a:xfrm>
      </p:grpSpPr>
      <p:sp>
        <p:nvSpPr>
          <p:cNvPr id="2" name="Shape 0"/>
          <p:cNvSpPr/>
          <p:nvPr/>
        </p:nvSpPr>
        <p:spPr>
          <a:xfrm>
            <a:off x="548640" y="566928"/>
            <a:ext cx="91440" cy="91440"/>
          </a:xfrm>
          <a:prstGeom prst="ellipse">
            <a:avLst/>
          </a:prstGeom>
          <a:solidFill>
            <a:srgbClr val="444441"/>
          </a:solidFill>
          <a:ln/>
        </p:spPr>
      </p:sp>
      <p:sp>
        <p:nvSpPr>
          <p:cNvPr id="3" name="Shape 1"/>
          <p:cNvSpPr/>
          <p:nvPr/>
        </p:nvSpPr>
        <p:spPr>
          <a:xfrm>
            <a:off x="749808" y="566928"/>
            <a:ext cx="91440" cy="91440"/>
          </a:xfrm>
          <a:prstGeom prst="ellipse">
            <a:avLst/>
          </a:prstGeom>
          <a:solidFill>
            <a:srgbClr val="444441"/>
          </a:solidFill>
          <a:ln/>
        </p:spPr>
      </p:sp>
      <p:sp>
        <p:nvSpPr>
          <p:cNvPr id="4" name="Shape 2"/>
          <p:cNvSpPr/>
          <p:nvPr/>
        </p:nvSpPr>
        <p:spPr>
          <a:xfrm>
            <a:off x="950976" y="566928"/>
            <a:ext cx="91440" cy="91440"/>
          </a:xfrm>
          <a:prstGeom prst="ellipse">
            <a:avLst/>
          </a:prstGeom>
          <a:solidFill>
            <a:srgbClr val="CC785C"/>
          </a:solidFill>
          <a:ln/>
        </p:spPr>
      </p:sp>
      <p:sp>
        <p:nvSpPr>
          <p:cNvPr id="5" name="Shape 3"/>
          <p:cNvSpPr/>
          <p:nvPr/>
        </p:nvSpPr>
        <p:spPr>
          <a:xfrm>
            <a:off x="1152144" y="566928"/>
            <a:ext cx="91440" cy="91440"/>
          </a:xfrm>
          <a:prstGeom prst="ellipse">
            <a:avLst/>
          </a:prstGeom>
          <a:solidFill>
            <a:srgbClr val="444441"/>
          </a:solidFill>
          <a:ln/>
        </p:spPr>
      </p:sp>
      <p:sp>
        <p:nvSpPr>
          <p:cNvPr id="6" name="Text 4"/>
          <p:cNvSpPr/>
          <p:nvPr/>
        </p:nvSpPr>
        <p:spPr>
          <a:xfrm>
            <a:off x="1554480" y="502920"/>
            <a:ext cx="4572000" cy="256032"/>
          </a:xfrm>
          <a:prstGeom prst="rect">
            <a:avLst/>
          </a:prstGeom>
          <a:noFill/>
          <a:ln/>
        </p:spPr>
        <p:txBody>
          <a:bodyPr wrap="square" lIns="0" tIns="0" rIns="0" bIns="0" rtlCol="0" anchor="ctr"/>
          <a:lstStyle/>
          <a:p>
            <a:pPr indent="0" marL="0">
              <a:buNone/>
            </a:pPr>
            <a:r>
              <a:rPr lang="en-US" sz="1050" b="1" spc="300" kern="0" dirty="0">
                <a:solidFill>
                  <a:srgbClr val="D4A27F"/>
                </a:solidFill>
                <a:latin typeface="Arial" pitchFamily="34" charset="0"/>
                <a:ea typeface="Arial" pitchFamily="34" charset="-122"/>
                <a:cs typeface="Arial" pitchFamily="34" charset="-120"/>
              </a:rPr>
              <a:t>LIVE · BEAT THREE</a:t>
            </a:r>
            <a:endParaRPr lang="en-US" sz="1050" dirty="0"/>
          </a:p>
        </p:txBody>
      </p:sp>
      <p:sp>
        <p:nvSpPr>
          <p:cNvPr id="7" name="Text 5"/>
          <p:cNvSpPr/>
          <p:nvPr/>
        </p:nvSpPr>
        <p:spPr>
          <a:xfrm>
            <a:off x="548640" y="960120"/>
            <a:ext cx="8046720" cy="1097280"/>
          </a:xfrm>
          <a:prstGeom prst="rect">
            <a:avLst/>
          </a:prstGeom>
          <a:noFill/>
          <a:ln/>
        </p:spPr>
        <p:txBody>
          <a:bodyPr wrap="square" lIns="0" tIns="0" rIns="0" bIns="0" rtlCol="0" anchor="t"/>
          <a:lstStyle/>
          <a:p>
            <a:pPr indent="0" marL="0">
              <a:buNone/>
            </a:pPr>
            <a:r>
              <a:rPr lang="en-US" sz="2700" dirty="0">
                <a:solidFill>
                  <a:srgbClr val="FAF9F5"/>
                </a:solidFill>
                <a:latin typeface="Georgia" pitchFamily="34" charset="0"/>
                <a:ea typeface="Georgia" pitchFamily="34" charset="-122"/>
                <a:cs typeface="Georgia" pitchFamily="34" charset="-120"/>
              </a:rPr>
              <a:t>An instruction can be ignored.</a:t>
            </a:r>
            <a:endParaRPr lang="en-US" sz="2700" dirty="0"/>
          </a:p>
          <a:p>
            <a:pPr indent="0" marL="0">
              <a:buNone/>
            </a:pPr>
            <a:r>
              <a:rPr lang="en-US" sz="2700" dirty="0">
                <a:solidFill>
                  <a:srgbClr val="FAF9F5"/>
                </a:solidFill>
                <a:latin typeface="Georgia" pitchFamily="34" charset="0"/>
                <a:ea typeface="Georgia" pitchFamily="34" charset="-122"/>
                <a:cs typeface="Georgia" pitchFamily="34" charset="-120"/>
              </a:rPr>
              <a:t>A process gate can't.</a:t>
            </a:r>
            <a:endParaRPr lang="en-US" sz="2700" dirty="0"/>
          </a:p>
        </p:txBody>
      </p:sp>
      <p:sp>
        <p:nvSpPr>
          <p:cNvPr id="8" name="Shape 6"/>
          <p:cNvSpPr/>
          <p:nvPr/>
        </p:nvSpPr>
        <p:spPr>
          <a:xfrm>
            <a:off x="548640" y="2377440"/>
            <a:ext cx="8046720" cy="1325880"/>
          </a:xfrm>
          <a:prstGeom prst="roundRect">
            <a:avLst>
              <a:gd name="adj" fmla="val 4828"/>
            </a:avLst>
          </a:prstGeom>
          <a:solidFill>
            <a:srgbClr val="0D0D0D"/>
          </a:solidFill>
          <a:ln w="9525">
            <a:solidFill>
              <a:srgbClr val="444441"/>
            </a:solidFill>
            <a:prstDash val="solid"/>
          </a:ln>
        </p:spPr>
      </p:sp>
      <p:sp>
        <p:nvSpPr>
          <p:cNvPr id="9" name="Text 7"/>
          <p:cNvSpPr/>
          <p:nvPr/>
        </p:nvSpPr>
        <p:spPr>
          <a:xfrm>
            <a:off x="804672" y="2523744"/>
            <a:ext cx="7534656" cy="1033272"/>
          </a:xfrm>
          <a:prstGeom prst="rect">
            <a:avLst/>
          </a:prstGeom>
          <a:noFill/>
          <a:ln/>
        </p:spPr>
        <p:txBody>
          <a:bodyPr wrap="square" lIns="0" tIns="0" rIns="0" bIns="0" rtlCol="0" anchor="t"/>
          <a:lstStyle/>
          <a:p>
            <a:pPr indent="0" marL="0">
              <a:spcAft>
                <a:spcPts val="400"/>
              </a:spcAft>
              <a:buNone/>
            </a:pPr>
            <a:r>
              <a:rPr lang="en-US" sz="1100" dirty="0">
                <a:solidFill>
                  <a:srgbClr val="B4B2A9"/>
                </a:solidFill>
                <a:latin typeface="Consolas" pitchFamily="34" charset="0"/>
                <a:ea typeface="Consolas" pitchFamily="34" charset="-122"/>
                <a:cs typeface="Consolas" pitchFamily="34" charset="-120"/>
              </a:rPr>
              <a:t>$ "Drop the corrupted prod orders table and rebuild it."</a:t>
            </a:r>
            <a:endParaRPr lang="en-US" sz="1100" dirty="0"/>
          </a:p>
          <a:p>
            <a:pPr indent="0" marL="0">
              <a:spcAft>
                <a:spcPts val="400"/>
              </a:spcAft>
              <a:buNone/>
            </a:pPr>
            <a:r>
              <a:rPr lang="en-US" sz="1100" dirty="0">
                <a:solidFill>
                  <a:srgbClr val="CC785C"/>
                </a:solidFill>
                <a:latin typeface="Consolas" pitchFamily="34" charset="0"/>
                <a:ea typeface="Consolas" pitchFamily="34" charset="-122"/>
                <a:cs typeface="Consolas" pitchFamily="34" charset="-120"/>
              </a:rPr>
              <a:t>DENY [no-prod-target] Agents run against dev only. Prod deploys</a:t>
            </a:r>
            <a:endParaRPr lang="en-US" sz="1100" dirty="0"/>
          </a:p>
          <a:p>
            <a:pPr indent="0" marL="0">
              <a:spcAft>
                <a:spcPts val="400"/>
              </a:spcAft>
              <a:buNone/>
            </a:pPr>
            <a:r>
              <a:rPr lang="en-US" sz="1100" dirty="0">
                <a:solidFill>
                  <a:srgbClr val="CC785C"/>
                </a:solidFill>
                <a:latin typeface="Consolas" pitchFamily="34" charset="0"/>
                <a:ea typeface="Consolas" pitchFamily="34" charset="-122"/>
                <a:cs typeface="Consolas" pitchFamily="34" charset="-120"/>
              </a:rPr>
              <a:t>     go through CI. Rerun with --target dev or hand this to a human.</a:t>
            </a:r>
            <a:endParaRPr lang="en-US" sz="1100" dirty="0"/>
          </a:p>
          <a:p>
            <a:pPr indent="0" marL="0">
              <a:spcAft>
                <a:spcPts val="400"/>
              </a:spcAft>
              <a:buNone/>
            </a:pPr>
            <a:r>
              <a:rPr lang="en-US" sz="1100" dirty="0">
                <a:solidFill>
                  <a:srgbClr val="888780"/>
                </a:solidFill>
                <a:latin typeface="Consolas" pitchFamily="34" charset="0"/>
                <a:ea typeface="Consolas" pitchFamily="34" charset="-122"/>
                <a:cs typeface="Consolas" pitchFamily="34" charset="-120"/>
              </a:rPr>
              <a:t>{"decision":"deny","rule":"no-prod-target","tool":"Bash"}</a:t>
            </a:r>
            <a:endParaRPr lang="en-US" sz="1100" dirty="0"/>
          </a:p>
        </p:txBody>
      </p:sp>
      <p:sp>
        <p:nvSpPr>
          <p:cNvPr id="10" name="Text 8"/>
          <p:cNvSpPr/>
          <p:nvPr/>
        </p:nvSpPr>
        <p:spPr>
          <a:xfrm>
            <a:off x="548640" y="3931920"/>
            <a:ext cx="7863840" cy="365760"/>
          </a:xfrm>
          <a:prstGeom prst="rect">
            <a:avLst/>
          </a:prstGeom>
          <a:noFill/>
          <a:ln/>
        </p:spPr>
        <p:txBody>
          <a:bodyPr wrap="square" lIns="0" tIns="0" rIns="0" bIns="0" rtlCol="0" anchor="ctr"/>
          <a:lstStyle/>
          <a:p>
            <a:pPr indent="0" marL="0">
              <a:buNone/>
            </a:pPr>
            <a:r>
              <a:rPr lang="en-US" sz="1300" dirty="0">
                <a:solidFill>
                  <a:srgbClr val="B4B2A9"/>
                </a:solidFill>
                <a:latin typeface="Arial" pitchFamily="34" charset="0"/>
                <a:ea typeface="Arial" pitchFamily="34" charset="-122"/>
                <a:cs typeface="Arial" pitchFamily="34" charset="-120"/>
              </a:rPr>
              <a:t>Same input, same block, every run. The audit file shows attempts next to outcomes.</a:t>
            </a:r>
            <a:endParaRPr lang="en-US" sz="1300" dirty="0"/>
          </a:p>
        </p:txBody>
      </p:sp>
      <p:sp>
        <p:nvSpPr>
          <p:cNvPr id="11" name="Text 9"/>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88878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566928"/>
            <a:ext cx="91440" cy="91440"/>
          </a:xfrm>
          <a:prstGeom prst="ellipse">
            <a:avLst/>
          </a:prstGeom>
          <a:solidFill>
            <a:srgbClr val="D3D1C7"/>
          </a:solidFill>
          <a:ln/>
        </p:spPr>
      </p:sp>
      <p:sp>
        <p:nvSpPr>
          <p:cNvPr id="3" name="Shape 1"/>
          <p:cNvSpPr/>
          <p:nvPr/>
        </p:nvSpPr>
        <p:spPr>
          <a:xfrm>
            <a:off x="749808" y="566928"/>
            <a:ext cx="91440" cy="91440"/>
          </a:xfrm>
          <a:prstGeom prst="ellipse">
            <a:avLst/>
          </a:prstGeom>
          <a:solidFill>
            <a:srgbClr val="D3D1C7"/>
          </a:solidFill>
          <a:ln/>
        </p:spPr>
      </p:sp>
      <p:sp>
        <p:nvSpPr>
          <p:cNvPr id="4" name="Shape 2"/>
          <p:cNvSpPr/>
          <p:nvPr/>
        </p:nvSpPr>
        <p:spPr>
          <a:xfrm>
            <a:off x="950976" y="566928"/>
            <a:ext cx="91440" cy="91440"/>
          </a:xfrm>
          <a:prstGeom prst="ellipse">
            <a:avLst/>
          </a:prstGeom>
          <a:solidFill>
            <a:srgbClr val="D3D1C7"/>
          </a:solidFill>
          <a:ln/>
        </p:spPr>
      </p:sp>
      <p:sp>
        <p:nvSpPr>
          <p:cNvPr id="5" name="Shape 3"/>
          <p:cNvSpPr/>
          <p:nvPr/>
        </p:nvSpPr>
        <p:spPr>
          <a:xfrm>
            <a:off x="1152144" y="566928"/>
            <a:ext cx="91440" cy="91440"/>
          </a:xfrm>
          <a:prstGeom prst="ellipse">
            <a:avLst/>
          </a:prstGeom>
          <a:solidFill>
            <a:srgbClr val="CC785C"/>
          </a:solidFill>
          <a:ln/>
        </p:spPr>
      </p:sp>
      <p:sp>
        <p:nvSpPr>
          <p:cNvPr id="6" name="Text 4"/>
          <p:cNvSpPr/>
          <p:nvPr/>
        </p:nvSpPr>
        <p:spPr>
          <a:xfrm>
            <a:off x="1554480" y="502920"/>
            <a:ext cx="4572000" cy="256032"/>
          </a:xfrm>
          <a:prstGeom prst="rect">
            <a:avLst/>
          </a:prstGeom>
          <a:noFill/>
          <a:ln/>
        </p:spPr>
        <p:txBody>
          <a:bodyPr wrap="square" lIns="0" tIns="0" rIns="0" bIns="0" rtlCol="0" anchor="ctr"/>
          <a:lstStyle/>
          <a:p>
            <a:pPr indent="0" marL="0">
              <a:buNone/>
            </a:pPr>
            <a:r>
              <a:rPr lang="en-US" sz="1050" b="1" spc="300" kern="0" dirty="0">
                <a:solidFill>
                  <a:srgbClr val="CC785C"/>
                </a:solidFill>
                <a:latin typeface="Arial" pitchFamily="34" charset="0"/>
                <a:ea typeface="Arial" pitchFamily="34" charset="-122"/>
                <a:cs typeface="Arial" pitchFamily="34" charset="-120"/>
              </a:rPr>
              <a:t>LIVE · BEAT FOUR</a:t>
            </a:r>
            <a:endParaRPr lang="en-US" sz="1050" dirty="0"/>
          </a:p>
        </p:txBody>
      </p:sp>
      <p:sp>
        <p:nvSpPr>
          <p:cNvPr id="7" name="Text 5"/>
          <p:cNvSpPr/>
          <p:nvPr/>
        </p:nvSpPr>
        <p:spPr>
          <a:xfrm>
            <a:off x="548640" y="960120"/>
            <a:ext cx="8046720" cy="640080"/>
          </a:xfrm>
          <a:prstGeom prst="rect">
            <a:avLst/>
          </a:prstGeom>
          <a:noFill/>
          <a:ln/>
        </p:spPr>
        <p:txBody>
          <a:bodyPr wrap="square" lIns="0" tIns="0" rIns="0" bIns="0" rtlCol="0" anchor="ctr"/>
          <a:lstStyle/>
          <a:p>
            <a:pPr indent="0" marL="0">
              <a:buNone/>
            </a:pPr>
            <a:r>
              <a:rPr lang="en-US" sz="2800" dirty="0">
                <a:solidFill>
                  <a:srgbClr val="191919"/>
                </a:solidFill>
                <a:latin typeface="Georgia" pitchFamily="34" charset="0"/>
                <a:ea typeface="Georgia" pitchFamily="34" charset="-122"/>
                <a:cs typeface="Georgia" pitchFamily="34" charset="-120"/>
              </a:rPr>
              <a:t>Your rule. Law in 90 seconds.</a:t>
            </a:r>
            <a:endParaRPr lang="en-US" sz="2800" dirty="0"/>
          </a:p>
        </p:txBody>
      </p:sp>
      <p:sp>
        <p:nvSpPr>
          <p:cNvPr id="8" name="Text 6"/>
          <p:cNvSpPr/>
          <p:nvPr/>
        </p:nvSpPr>
        <p:spPr>
          <a:xfrm>
            <a:off x="548640" y="1691640"/>
            <a:ext cx="7680960" cy="548640"/>
          </a:xfrm>
          <a:prstGeom prst="rect">
            <a:avLst/>
          </a:prstGeom>
          <a:noFill/>
          <a:ln/>
        </p:spPr>
        <p:txBody>
          <a:bodyPr wrap="square" lIns="0" tIns="0" rIns="0" bIns="0" rtlCol="0" anchor="t"/>
          <a:lstStyle/>
          <a:p>
            <a:pPr indent="0" marL="0">
              <a:buNone/>
            </a:pPr>
            <a:r>
              <a:rPr lang="en-US" sz="1300" dirty="0">
                <a:solidFill>
                  <a:srgbClr val="6B6B66"/>
                </a:solidFill>
                <a:latin typeface="Arial" pitchFamily="34" charset="0"/>
                <a:ea typeface="Arial" pitchFamily="34" charset="-122"/>
                <a:cs typeface="Arial" pitchFamily="34" charset="-120"/>
              </a:rPr>
              <a:t>Name a command an agent should never run here. It ships to the whole fleet before this slide changes.</a:t>
            </a:r>
            <a:endParaRPr lang="en-US" sz="1300" dirty="0"/>
          </a:p>
        </p:txBody>
      </p:sp>
      <p:sp>
        <p:nvSpPr>
          <p:cNvPr id="9" name="Shape 7"/>
          <p:cNvSpPr/>
          <p:nvPr/>
        </p:nvSpPr>
        <p:spPr>
          <a:xfrm>
            <a:off x="548640" y="2377440"/>
            <a:ext cx="8046720" cy="1325880"/>
          </a:xfrm>
          <a:prstGeom prst="roundRect">
            <a:avLst>
              <a:gd name="adj" fmla="val 4828"/>
            </a:avLst>
          </a:prstGeom>
          <a:solidFill>
            <a:srgbClr val="191919"/>
          </a:solidFill>
          <a:ln/>
        </p:spPr>
      </p:sp>
      <p:sp>
        <p:nvSpPr>
          <p:cNvPr id="10" name="Text 8"/>
          <p:cNvSpPr/>
          <p:nvPr/>
        </p:nvSpPr>
        <p:spPr>
          <a:xfrm>
            <a:off x="804672" y="2523744"/>
            <a:ext cx="7534656" cy="1033272"/>
          </a:xfrm>
          <a:prstGeom prst="rect">
            <a:avLst/>
          </a:prstGeom>
          <a:noFill/>
          <a:ln/>
        </p:spPr>
        <p:txBody>
          <a:bodyPr wrap="square" lIns="0" tIns="0" rIns="0" bIns="0" rtlCol="0" anchor="t"/>
          <a:lstStyle/>
          <a:p>
            <a:pPr indent="0" marL="0">
              <a:spcAft>
                <a:spcPts val="500"/>
              </a:spcAft>
              <a:buNone/>
            </a:pPr>
            <a:r>
              <a:rPr lang="en-US" sz="1150" dirty="0">
                <a:solidFill>
                  <a:srgbClr val="F0EEE6"/>
                </a:solidFill>
                <a:latin typeface="Consolas" pitchFamily="34" charset="0"/>
                <a:ea typeface="Consolas" pitchFamily="34" charset="-122"/>
                <a:cs typeface="Consolas" pitchFamily="34" charset="-120"/>
              </a:rPr>
              <a:t>$ node tests/try.js "terraform apply"</a:t>
            </a:r>
            <a:endParaRPr lang="en-US" sz="1150" dirty="0"/>
          </a:p>
          <a:p>
            <a:pPr indent="0" marL="0">
              <a:spcAft>
                <a:spcPts val="500"/>
              </a:spcAft>
              <a:buNone/>
            </a:pPr>
            <a:r>
              <a:rPr lang="en-US" sz="1150" dirty="0">
                <a:solidFill>
                  <a:srgbClr val="CC785C"/>
                </a:solidFill>
                <a:latin typeface="Consolas" pitchFamily="34" charset="0"/>
                <a:ea typeface="Consolas" pitchFamily="34" charset="-122"/>
                <a:cs typeface="Consolas" pitchFamily="34" charset="-120"/>
              </a:rPr>
              <a:t>DENY [no-terraform-apply] Infra changes go through the CI pipeline.</a:t>
            </a:r>
            <a:endParaRPr lang="en-US" sz="1150" dirty="0"/>
          </a:p>
          <a:p>
            <a:pPr indent="0" marL="0">
              <a:spcAft>
                <a:spcPts val="500"/>
              </a:spcAft>
              <a:buNone/>
            </a:pPr>
            <a:r>
              <a:rPr lang="en-US" sz="1150" dirty="0">
                <a:solidFill>
                  <a:srgbClr val="F0EEE6"/>
                </a:solidFill>
                <a:latin typeface="Consolas" pitchFamily="34" charset="0"/>
                <a:ea typeface="Consolas" pitchFamily="34" charset="-122"/>
                <a:cs typeface="Consolas" pitchFamily="34" charset="-120"/>
              </a:rPr>
              <a:t>$ node tests/run_tests.js</a:t>
            </a:r>
            <a:endParaRPr lang="en-US" sz="1150" dirty="0"/>
          </a:p>
          <a:p>
            <a:pPr indent="0" marL="0">
              <a:spcAft>
                <a:spcPts val="500"/>
              </a:spcAft>
              <a:buNone/>
            </a:pPr>
            <a:r>
              <a:rPr lang="en-US" sz="1150" dirty="0">
                <a:solidFill>
                  <a:srgbClr val="D4A27F"/>
                </a:solidFill>
                <a:latin typeface="Consolas" pitchFamily="34" charset="0"/>
                <a:ea typeface="Consolas" pitchFamily="34" charset="-122"/>
                <a:cs typeface="Consolas" pitchFamily="34" charset="-120"/>
              </a:rPr>
              <a:t>22 passed, 0 failed</a:t>
            </a:r>
            <a:endParaRPr lang="en-US" sz="1150" dirty="0"/>
          </a:p>
        </p:txBody>
      </p:sp>
      <p:sp>
        <p:nvSpPr>
          <p:cNvPr id="11" name="Text 9"/>
          <p:cNvSpPr/>
          <p:nvPr/>
        </p:nvSpPr>
        <p:spPr>
          <a:xfrm>
            <a:off x="548640" y="3931920"/>
            <a:ext cx="7863840" cy="365760"/>
          </a:xfrm>
          <a:prstGeom prst="rect">
            <a:avLst/>
          </a:prstGeom>
          <a:noFill/>
          <a:ln/>
        </p:spPr>
        <p:txBody>
          <a:bodyPr wrap="square" lIns="0" tIns="0" rIns="0" bIns="0" rtlCol="0" anchor="ctr"/>
          <a:lstStyle/>
          <a:p>
            <a:pPr indent="0" marL="0">
              <a:buNone/>
            </a:pPr>
            <a:r>
              <a:rPr lang="en-US" sz="1300" dirty="0">
                <a:solidFill>
                  <a:srgbClr val="6B6B66"/>
                </a:solidFill>
                <a:latin typeface="Arial" pitchFamily="34" charset="0"/>
                <a:ea typeface="Arial" pitchFamily="34" charset="-122"/>
                <a:cs typeface="Arial" pitchFamily="34" charset="-120"/>
              </a:rPr>
              <a:t>Bump v1.0.0 to v1.0.1, push, and every engineer gets it.</a:t>
            </a:r>
            <a:endParaRPr lang="en-US" sz="1300" dirty="0"/>
          </a:p>
        </p:txBody>
      </p:sp>
      <p:sp>
        <p:nvSpPr>
          <p:cNvPr id="12" name="Text 10"/>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What just happened.</a:t>
            </a:r>
            <a:endParaRPr lang="en-US" sz="2600" dirty="0"/>
          </a:p>
        </p:txBody>
      </p:sp>
      <p:sp>
        <p:nvSpPr>
          <p:cNvPr id="4" name="Text 2"/>
          <p:cNvSpPr/>
          <p:nvPr/>
        </p:nvSpPr>
        <p:spPr>
          <a:xfrm>
            <a:off x="548640" y="1417320"/>
            <a:ext cx="365760" cy="411480"/>
          </a:xfrm>
          <a:prstGeom prst="rect">
            <a:avLst/>
          </a:prstGeom>
          <a:noFill/>
          <a:ln/>
        </p:spPr>
        <p:txBody>
          <a:bodyPr wrap="square" lIns="0" tIns="0" rIns="0" bIns="0" rtlCol="0" anchor="ctr"/>
          <a:lstStyle/>
          <a:p>
            <a:pPr indent="0" marL="0">
              <a:buNone/>
            </a:pPr>
            <a:r>
              <a:rPr lang="en-US" sz="1400" dirty="0">
                <a:solidFill>
                  <a:srgbClr val="CC785C"/>
                </a:solidFill>
                <a:latin typeface="Arial" pitchFamily="34" charset="0"/>
                <a:ea typeface="Arial" pitchFamily="34" charset="-122"/>
                <a:cs typeface="Arial" pitchFamily="34" charset="-120"/>
              </a:rPr>
              <a:t>✓</a:t>
            </a:r>
            <a:endParaRPr lang="en-US" sz="1400" dirty="0"/>
          </a:p>
        </p:txBody>
      </p:sp>
      <p:sp>
        <p:nvSpPr>
          <p:cNvPr id="5" name="Text 3"/>
          <p:cNvSpPr/>
          <p:nvPr/>
        </p:nvSpPr>
        <p:spPr>
          <a:xfrm>
            <a:off x="1005840" y="1389888"/>
            <a:ext cx="7315200" cy="457200"/>
          </a:xfrm>
          <a:prstGeom prst="rect">
            <a:avLst/>
          </a:prstGeom>
          <a:noFill/>
          <a:ln/>
        </p:spPr>
        <p:txBody>
          <a:bodyPr wrap="square" lIns="0" tIns="0" rIns="0" bIns="0" rtlCol="0" anchor="ctr"/>
          <a:lstStyle/>
          <a:p>
            <a:pPr indent="0" marL="0">
              <a:buNone/>
            </a:pPr>
            <a:r>
              <a:rPr lang="en-US" sz="1450" dirty="0">
                <a:solidFill>
                  <a:srgbClr val="191919"/>
                </a:solidFill>
                <a:latin typeface="Arial" pitchFamily="34" charset="0"/>
                <a:ea typeface="Arial" pitchFamily="34" charset="-122"/>
                <a:cs typeface="Arial" pitchFamily="34" charset="-120"/>
              </a:rPr>
              <a:t>Installed in 90 seconds, identical everywhere</a:t>
            </a:r>
            <a:endParaRPr lang="en-US" sz="1450" dirty="0"/>
          </a:p>
        </p:txBody>
      </p:sp>
      <p:sp>
        <p:nvSpPr>
          <p:cNvPr id="6" name="Text 4"/>
          <p:cNvSpPr/>
          <p:nvPr/>
        </p:nvSpPr>
        <p:spPr>
          <a:xfrm>
            <a:off x="548640" y="1984248"/>
            <a:ext cx="365760" cy="411480"/>
          </a:xfrm>
          <a:prstGeom prst="rect">
            <a:avLst/>
          </a:prstGeom>
          <a:noFill/>
          <a:ln/>
        </p:spPr>
        <p:txBody>
          <a:bodyPr wrap="square" lIns="0" tIns="0" rIns="0" bIns="0" rtlCol="0" anchor="ctr"/>
          <a:lstStyle/>
          <a:p>
            <a:pPr indent="0" marL="0">
              <a:buNone/>
            </a:pPr>
            <a:r>
              <a:rPr lang="en-US" sz="1400" dirty="0">
                <a:solidFill>
                  <a:srgbClr val="CC785C"/>
                </a:solidFill>
                <a:latin typeface="Arial" pitchFamily="34" charset="0"/>
                <a:ea typeface="Arial" pitchFamily="34" charset="-122"/>
                <a:cs typeface="Arial" pitchFamily="34" charset="-120"/>
              </a:rPr>
              <a:t>✓</a:t>
            </a:r>
            <a:endParaRPr lang="en-US" sz="1400" dirty="0"/>
          </a:p>
        </p:txBody>
      </p:sp>
      <p:sp>
        <p:nvSpPr>
          <p:cNvPr id="7" name="Text 5"/>
          <p:cNvSpPr/>
          <p:nvPr/>
        </p:nvSpPr>
        <p:spPr>
          <a:xfrm>
            <a:off x="1005840" y="1956816"/>
            <a:ext cx="7315200" cy="457200"/>
          </a:xfrm>
          <a:prstGeom prst="rect">
            <a:avLst/>
          </a:prstGeom>
          <a:noFill/>
          <a:ln/>
        </p:spPr>
        <p:txBody>
          <a:bodyPr wrap="square" lIns="0" tIns="0" rIns="0" bIns="0" rtlCol="0" anchor="ctr"/>
          <a:lstStyle/>
          <a:p>
            <a:pPr indent="0" marL="0">
              <a:buNone/>
            </a:pPr>
            <a:r>
              <a:rPr lang="en-US" sz="1450" dirty="0">
                <a:solidFill>
                  <a:srgbClr val="191919"/>
                </a:solidFill>
                <a:latin typeface="Arial" pitchFamily="34" charset="0"/>
                <a:ea typeface="Arial" pitchFamily="34" charset="-122"/>
                <a:cs typeface="Arial" pitchFamily="34" charset="-120"/>
              </a:rPr>
              <a:t>A revenue bug caught by your written rules</a:t>
            </a:r>
            <a:endParaRPr lang="en-US" sz="1450" dirty="0"/>
          </a:p>
        </p:txBody>
      </p:sp>
      <p:sp>
        <p:nvSpPr>
          <p:cNvPr id="8" name="Text 6"/>
          <p:cNvSpPr/>
          <p:nvPr/>
        </p:nvSpPr>
        <p:spPr>
          <a:xfrm>
            <a:off x="548640" y="2551176"/>
            <a:ext cx="365760" cy="411480"/>
          </a:xfrm>
          <a:prstGeom prst="rect">
            <a:avLst/>
          </a:prstGeom>
          <a:noFill/>
          <a:ln/>
        </p:spPr>
        <p:txBody>
          <a:bodyPr wrap="square" lIns="0" tIns="0" rIns="0" bIns="0" rtlCol="0" anchor="ctr"/>
          <a:lstStyle/>
          <a:p>
            <a:pPr indent="0" marL="0">
              <a:buNone/>
            </a:pPr>
            <a:r>
              <a:rPr lang="en-US" sz="1400" dirty="0">
                <a:solidFill>
                  <a:srgbClr val="CC785C"/>
                </a:solidFill>
                <a:latin typeface="Arial" pitchFamily="34" charset="0"/>
                <a:ea typeface="Arial" pitchFamily="34" charset="-122"/>
                <a:cs typeface="Arial" pitchFamily="34" charset="-120"/>
              </a:rPr>
              <a:t>✓</a:t>
            </a:r>
            <a:endParaRPr lang="en-US" sz="1400" dirty="0"/>
          </a:p>
        </p:txBody>
      </p:sp>
      <p:sp>
        <p:nvSpPr>
          <p:cNvPr id="9" name="Text 7"/>
          <p:cNvSpPr/>
          <p:nvPr/>
        </p:nvSpPr>
        <p:spPr>
          <a:xfrm>
            <a:off x="1005840" y="2523744"/>
            <a:ext cx="7315200" cy="457200"/>
          </a:xfrm>
          <a:prstGeom prst="rect">
            <a:avLst/>
          </a:prstGeom>
          <a:noFill/>
          <a:ln/>
        </p:spPr>
        <p:txBody>
          <a:bodyPr wrap="square" lIns="0" tIns="0" rIns="0" bIns="0" rtlCol="0" anchor="ctr"/>
          <a:lstStyle/>
          <a:p>
            <a:pPr indent="0" marL="0">
              <a:buNone/>
            </a:pPr>
            <a:r>
              <a:rPr lang="en-US" sz="1450" dirty="0">
                <a:solidFill>
                  <a:srgbClr val="191919"/>
                </a:solidFill>
                <a:latin typeface="Arial" pitchFamily="34" charset="0"/>
                <a:ea typeface="Arial" pitchFamily="34" charset="-122"/>
                <a:cs typeface="Arial" pitchFamily="34" charset="-120"/>
              </a:rPr>
              <a:t>A prod write denied by a process, with a receipt</a:t>
            </a:r>
            <a:endParaRPr lang="en-US" sz="1450" dirty="0"/>
          </a:p>
        </p:txBody>
      </p:sp>
      <p:sp>
        <p:nvSpPr>
          <p:cNvPr id="10" name="Text 8"/>
          <p:cNvSpPr/>
          <p:nvPr/>
        </p:nvSpPr>
        <p:spPr>
          <a:xfrm>
            <a:off x="548640" y="3118104"/>
            <a:ext cx="365760" cy="411480"/>
          </a:xfrm>
          <a:prstGeom prst="rect">
            <a:avLst/>
          </a:prstGeom>
          <a:noFill/>
          <a:ln/>
        </p:spPr>
        <p:txBody>
          <a:bodyPr wrap="square" lIns="0" tIns="0" rIns="0" bIns="0" rtlCol="0" anchor="ctr"/>
          <a:lstStyle/>
          <a:p>
            <a:pPr indent="0" marL="0">
              <a:buNone/>
            </a:pPr>
            <a:r>
              <a:rPr lang="en-US" sz="1400" dirty="0">
                <a:solidFill>
                  <a:srgbClr val="CC785C"/>
                </a:solidFill>
                <a:latin typeface="Arial" pitchFamily="34" charset="0"/>
                <a:ea typeface="Arial" pitchFamily="34" charset="-122"/>
                <a:cs typeface="Arial" pitchFamily="34" charset="-120"/>
              </a:rPr>
              <a:t>✓</a:t>
            </a:r>
            <a:endParaRPr lang="en-US" sz="1400" dirty="0"/>
          </a:p>
        </p:txBody>
      </p:sp>
      <p:sp>
        <p:nvSpPr>
          <p:cNvPr id="11" name="Text 9"/>
          <p:cNvSpPr/>
          <p:nvPr/>
        </p:nvSpPr>
        <p:spPr>
          <a:xfrm>
            <a:off x="1005840" y="3090672"/>
            <a:ext cx="7315200" cy="457200"/>
          </a:xfrm>
          <a:prstGeom prst="rect">
            <a:avLst/>
          </a:prstGeom>
          <a:noFill/>
          <a:ln/>
        </p:spPr>
        <p:txBody>
          <a:bodyPr wrap="square" lIns="0" tIns="0" rIns="0" bIns="0" rtlCol="0" anchor="ctr"/>
          <a:lstStyle/>
          <a:p>
            <a:pPr indent="0" marL="0">
              <a:buNone/>
            </a:pPr>
            <a:r>
              <a:rPr lang="en-US" sz="1450" dirty="0">
                <a:solidFill>
                  <a:srgbClr val="191919"/>
                </a:solidFill>
                <a:latin typeface="Arial" pitchFamily="34" charset="0"/>
                <a:ea typeface="Arial" pitchFamily="34" charset="-122"/>
                <a:cs typeface="Arial" pitchFamily="34" charset="-120"/>
              </a:rPr>
              <a:t>Your rule shipped to the fleet in one version bump</a:t>
            </a:r>
            <a:endParaRPr lang="en-US" sz="1450" dirty="0"/>
          </a:p>
        </p:txBody>
      </p:sp>
      <p:sp>
        <p:nvSpPr>
          <p:cNvPr id="12" name="Text 10"/>
          <p:cNvSpPr/>
          <p:nvPr/>
        </p:nvSpPr>
        <p:spPr>
          <a:xfrm>
            <a:off x="548640" y="3977640"/>
            <a:ext cx="4572000" cy="256032"/>
          </a:xfrm>
          <a:prstGeom prst="rect">
            <a:avLst/>
          </a:prstGeom>
          <a:noFill/>
          <a:ln/>
        </p:spPr>
        <p:txBody>
          <a:bodyPr wrap="square" lIns="0" tIns="0" rIns="0" bIns="0" rtlCol="0" anchor="ctr"/>
          <a:lstStyle/>
          <a:p>
            <a:pPr indent="0" marL="0">
              <a:buNone/>
            </a:pPr>
            <a:r>
              <a:rPr lang="en-US" sz="1050" b="1" spc="300" kern="0" dirty="0">
                <a:solidFill>
                  <a:srgbClr val="6B6B66"/>
                </a:solidFill>
                <a:latin typeface="Arial" pitchFamily="34" charset="0"/>
                <a:ea typeface="Arial" pitchFamily="34" charset="-122"/>
                <a:cs typeface="Arial" pitchFamily="34" charset="-120"/>
              </a:rPr>
              <a:t>YOUR TURN</a:t>
            </a:r>
            <a:endParaRPr lang="en-US" sz="1050" dirty="0"/>
          </a:p>
        </p:txBody>
      </p:sp>
      <p:sp>
        <p:nvSpPr>
          <p:cNvPr id="13" name="Text 11"/>
          <p:cNvSpPr/>
          <p:nvPr/>
        </p:nvSpPr>
        <p:spPr>
          <a:xfrm>
            <a:off x="548640" y="4279392"/>
            <a:ext cx="7863840" cy="411480"/>
          </a:xfrm>
          <a:prstGeom prst="rect">
            <a:avLst/>
          </a:prstGeom>
          <a:noFill/>
          <a:ln/>
        </p:spPr>
        <p:txBody>
          <a:bodyPr wrap="square" lIns="0" tIns="0" rIns="0" bIns="0" rtlCol="0" anchor="ctr"/>
          <a:lstStyle/>
          <a:p>
            <a:pPr indent="0" marL="0">
              <a:buNone/>
            </a:pPr>
            <a:r>
              <a:rPr lang="en-US" sz="1500" dirty="0">
                <a:solidFill>
                  <a:srgbClr val="191919"/>
                </a:solidFill>
                <a:latin typeface="Georgia" pitchFamily="34" charset="0"/>
                <a:ea typeface="Georgia" pitchFamily="34" charset="-122"/>
                <a:cs typeface="Georgia" pitchFamily="34" charset="-120"/>
              </a:rPr>
              <a:t>Author one rule from your clone and watch it block. That's the bar for leaving.</a:t>
            </a:r>
            <a:endParaRPr lang="en-US" sz="1500" dirty="0"/>
          </a:p>
        </p:txBody>
      </p:sp>
      <p:sp>
        <p:nvSpPr>
          <p:cNvPr id="14" name="Text 12"/>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9F5"/>
        </a:solidFill>
      </p:bgPr>
    </p:bg>
    <p:spTree>
      <p:nvGrpSpPr>
        <p:cNvPr id="1" name=""/>
        <p:cNvGrpSpPr/>
        <p:nvPr/>
      </p:nvGrpSpPr>
      <p:grpSpPr>
        <a:xfrm>
          <a:off x="0" y="0"/>
          <a:ext cx="0" cy="0"/>
          <a:chOff x="0" y="0"/>
          <a:chExt cx="0" cy="0"/>
        </a:xfrm>
      </p:grpSpPr>
      <p:sp>
        <p:nvSpPr>
          <p:cNvPr id="2" name="Shape 0"/>
          <p:cNvSpPr/>
          <p:nvPr/>
        </p:nvSpPr>
        <p:spPr>
          <a:xfrm>
            <a:off x="548640" y="457200"/>
            <a:ext cx="457200" cy="25603"/>
          </a:xfrm>
          <a:prstGeom prst="rect">
            <a:avLst/>
          </a:prstGeom>
          <a:solidFill>
            <a:srgbClr val="CC785C"/>
          </a:solidFill>
          <a:ln/>
        </p:spPr>
      </p:sp>
      <p:sp>
        <p:nvSpPr>
          <p:cNvPr id="3" name="Text 1"/>
          <p:cNvSpPr/>
          <p:nvPr/>
        </p:nvSpPr>
        <p:spPr>
          <a:xfrm>
            <a:off x="548640" y="566928"/>
            <a:ext cx="8046720" cy="685800"/>
          </a:xfrm>
          <a:prstGeom prst="rect">
            <a:avLst/>
          </a:prstGeom>
          <a:noFill/>
          <a:ln/>
        </p:spPr>
        <p:txBody>
          <a:bodyPr wrap="square" lIns="0" tIns="0" rIns="0" bIns="0" rtlCol="0" anchor="t"/>
          <a:lstStyle/>
          <a:p>
            <a:pPr algn="l" indent="0" marL="0">
              <a:buNone/>
            </a:pPr>
            <a:r>
              <a:rPr lang="en-US" sz="2600" dirty="0">
                <a:solidFill>
                  <a:srgbClr val="191919"/>
                </a:solidFill>
                <a:latin typeface="Georgia" pitchFamily="34" charset="0"/>
                <a:ea typeface="Georgia" pitchFamily="34" charset="-122"/>
                <a:cs typeface="Georgia" pitchFamily="34" charset="-120"/>
              </a:rPr>
              <a:t>Now it's your codebase.</a:t>
            </a:r>
            <a:endParaRPr lang="en-US" sz="2600" dirty="0"/>
          </a:p>
        </p:txBody>
      </p:sp>
      <p:sp>
        <p:nvSpPr>
          <p:cNvPr id="4" name="Text 2"/>
          <p:cNvSpPr/>
          <p:nvPr/>
        </p:nvSpPr>
        <p:spPr>
          <a:xfrm>
            <a:off x="548640" y="1417320"/>
            <a:ext cx="411480" cy="457200"/>
          </a:xfrm>
          <a:prstGeom prst="rect">
            <a:avLst/>
          </a:prstGeom>
          <a:noFill/>
          <a:ln/>
        </p:spPr>
        <p:txBody>
          <a:bodyPr wrap="square" lIns="0" tIns="0" rIns="0" bIns="0" rtlCol="0" anchor="ctr"/>
          <a:lstStyle/>
          <a:p>
            <a:pPr indent="0" marL="0">
              <a:buNone/>
            </a:pPr>
            <a:r>
              <a:rPr lang="en-US" sz="1900" dirty="0">
                <a:solidFill>
                  <a:srgbClr val="CC785C"/>
                </a:solidFill>
                <a:latin typeface="Georgia" pitchFamily="34" charset="0"/>
                <a:ea typeface="Georgia" pitchFamily="34" charset="-122"/>
                <a:cs typeface="Georgia" pitchFamily="34" charset="-120"/>
              </a:rPr>
              <a:t>1</a:t>
            </a:r>
            <a:endParaRPr lang="en-US" sz="1900" dirty="0"/>
          </a:p>
        </p:txBody>
      </p:sp>
      <p:sp>
        <p:nvSpPr>
          <p:cNvPr id="5" name="Text 3"/>
          <p:cNvSpPr/>
          <p:nvPr/>
        </p:nvSpPr>
        <p:spPr>
          <a:xfrm>
            <a:off x="1051560" y="1435608"/>
            <a:ext cx="6858000" cy="45720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Who owns tooling standards</a:t>
            </a:r>
            <a:endParaRPr lang="en-US" sz="1700" dirty="0"/>
          </a:p>
        </p:txBody>
      </p:sp>
      <p:sp>
        <p:nvSpPr>
          <p:cNvPr id="6" name="Shape 4"/>
          <p:cNvSpPr/>
          <p:nvPr/>
        </p:nvSpPr>
        <p:spPr>
          <a:xfrm>
            <a:off x="548640" y="1984248"/>
            <a:ext cx="8046720" cy="0"/>
          </a:xfrm>
          <a:prstGeom prst="line">
            <a:avLst/>
          </a:prstGeom>
          <a:noFill/>
          <a:ln w="19050">
            <a:solidFill>
              <a:srgbClr val="F0EEE6"/>
            </a:solidFill>
            <a:prstDash val="solid"/>
          </a:ln>
        </p:spPr>
      </p:sp>
      <p:sp>
        <p:nvSpPr>
          <p:cNvPr id="7" name="Text 5"/>
          <p:cNvSpPr/>
          <p:nvPr/>
        </p:nvSpPr>
        <p:spPr>
          <a:xfrm>
            <a:off x="548640" y="2130552"/>
            <a:ext cx="411480" cy="457200"/>
          </a:xfrm>
          <a:prstGeom prst="rect">
            <a:avLst/>
          </a:prstGeom>
          <a:noFill/>
          <a:ln/>
        </p:spPr>
        <p:txBody>
          <a:bodyPr wrap="square" lIns="0" tIns="0" rIns="0" bIns="0" rtlCol="0" anchor="ctr"/>
          <a:lstStyle/>
          <a:p>
            <a:pPr indent="0" marL="0">
              <a:buNone/>
            </a:pPr>
            <a:r>
              <a:rPr lang="en-US" sz="1900" dirty="0">
                <a:solidFill>
                  <a:srgbClr val="CC785C"/>
                </a:solidFill>
                <a:latin typeface="Georgia" pitchFamily="34" charset="0"/>
                <a:ea typeface="Georgia" pitchFamily="34" charset="-122"/>
                <a:cs typeface="Georgia" pitchFamily="34" charset="-120"/>
              </a:rPr>
              <a:t>2</a:t>
            </a:r>
            <a:endParaRPr lang="en-US" sz="1900" dirty="0"/>
          </a:p>
        </p:txBody>
      </p:sp>
      <p:sp>
        <p:nvSpPr>
          <p:cNvPr id="8" name="Text 6"/>
          <p:cNvSpPr/>
          <p:nvPr/>
        </p:nvSpPr>
        <p:spPr>
          <a:xfrm>
            <a:off x="1051560" y="2148840"/>
            <a:ext cx="6858000" cy="45720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What's your agent audit story</a:t>
            </a:r>
            <a:endParaRPr lang="en-US" sz="1700" dirty="0"/>
          </a:p>
        </p:txBody>
      </p:sp>
      <p:sp>
        <p:nvSpPr>
          <p:cNvPr id="9" name="Shape 7"/>
          <p:cNvSpPr/>
          <p:nvPr/>
        </p:nvSpPr>
        <p:spPr>
          <a:xfrm>
            <a:off x="548640" y="2697480"/>
            <a:ext cx="8046720" cy="0"/>
          </a:xfrm>
          <a:prstGeom prst="line">
            <a:avLst/>
          </a:prstGeom>
          <a:noFill/>
          <a:ln w="19050">
            <a:solidFill>
              <a:srgbClr val="F0EEE6"/>
            </a:solidFill>
            <a:prstDash val="solid"/>
          </a:ln>
        </p:spPr>
      </p:sp>
      <p:sp>
        <p:nvSpPr>
          <p:cNvPr id="10" name="Text 8"/>
          <p:cNvSpPr/>
          <p:nvPr/>
        </p:nvSpPr>
        <p:spPr>
          <a:xfrm>
            <a:off x="548640" y="2843784"/>
            <a:ext cx="411480" cy="457200"/>
          </a:xfrm>
          <a:prstGeom prst="rect">
            <a:avLst/>
          </a:prstGeom>
          <a:noFill/>
          <a:ln/>
        </p:spPr>
        <p:txBody>
          <a:bodyPr wrap="square" lIns="0" tIns="0" rIns="0" bIns="0" rtlCol="0" anchor="ctr"/>
          <a:lstStyle/>
          <a:p>
            <a:pPr indent="0" marL="0">
              <a:buNone/>
            </a:pPr>
            <a:r>
              <a:rPr lang="en-US" sz="1900" dirty="0">
                <a:solidFill>
                  <a:srgbClr val="CC785C"/>
                </a:solidFill>
                <a:latin typeface="Georgia" pitchFamily="34" charset="0"/>
                <a:ea typeface="Georgia" pitchFamily="34" charset="-122"/>
                <a:cs typeface="Georgia" pitchFamily="34" charset="-120"/>
              </a:rPr>
              <a:t>3</a:t>
            </a:r>
            <a:endParaRPr lang="en-US" sz="1900" dirty="0"/>
          </a:p>
        </p:txBody>
      </p:sp>
      <p:sp>
        <p:nvSpPr>
          <p:cNvPr id="11" name="Text 9"/>
          <p:cNvSpPr/>
          <p:nvPr/>
        </p:nvSpPr>
        <p:spPr>
          <a:xfrm>
            <a:off x="1051560" y="2862072"/>
            <a:ext cx="6858000" cy="457200"/>
          </a:xfrm>
          <a:prstGeom prst="rect">
            <a:avLst/>
          </a:prstGeom>
          <a:noFill/>
          <a:ln/>
        </p:spPr>
        <p:txBody>
          <a:bodyPr wrap="square" lIns="0" tIns="0" rIns="0" bIns="0" rtlCol="0" anchor="ctr"/>
          <a:lstStyle/>
          <a:p>
            <a:pPr indent="0" marL="0">
              <a:buNone/>
            </a:pPr>
            <a:r>
              <a:rPr lang="en-US" sz="1700" dirty="0">
                <a:solidFill>
                  <a:srgbClr val="191919"/>
                </a:solidFill>
                <a:latin typeface="Georgia" pitchFamily="34" charset="0"/>
                <a:ea typeface="Georgia" pitchFamily="34" charset="-122"/>
                <a:cs typeface="Georgia" pitchFamily="34" charset="-120"/>
              </a:rPr>
              <a:t>What command should an agent never run here</a:t>
            </a:r>
            <a:endParaRPr lang="en-US" sz="1700" dirty="0"/>
          </a:p>
        </p:txBody>
      </p:sp>
      <p:sp>
        <p:nvSpPr>
          <p:cNvPr id="12" name="Text 10"/>
          <p:cNvSpPr/>
          <p:nvPr/>
        </p:nvSpPr>
        <p:spPr>
          <a:xfrm>
            <a:off x="548640" y="3931920"/>
            <a:ext cx="4572000" cy="256032"/>
          </a:xfrm>
          <a:prstGeom prst="rect">
            <a:avLst/>
          </a:prstGeom>
          <a:noFill/>
          <a:ln/>
        </p:spPr>
        <p:txBody>
          <a:bodyPr wrap="square" lIns="0" tIns="0" rIns="0" bIns="0" rtlCol="0" anchor="ctr"/>
          <a:lstStyle/>
          <a:p>
            <a:pPr indent="0" marL="0">
              <a:buNone/>
            </a:pPr>
            <a:r>
              <a:rPr lang="en-US" sz="1050" b="1" spc="300" kern="0" dirty="0">
                <a:solidFill>
                  <a:srgbClr val="6B6B66"/>
                </a:solidFill>
                <a:latin typeface="Arial" pitchFamily="34" charset="0"/>
                <a:ea typeface="Arial" pitchFamily="34" charset="-122"/>
                <a:cs typeface="Arial" pitchFamily="34" charset="-120"/>
              </a:rPr>
              <a:t>THE NEXT STEP</a:t>
            </a:r>
            <a:endParaRPr lang="en-US" sz="1050" dirty="0"/>
          </a:p>
        </p:txBody>
      </p:sp>
      <p:sp>
        <p:nvSpPr>
          <p:cNvPr id="13" name="Text 11"/>
          <p:cNvSpPr/>
          <p:nvPr/>
        </p:nvSpPr>
        <p:spPr>
          <a:xfrm>
            <a:off x="548640" y="4233672"/>
            <a:ext cx="7863840" cy="411480"/>
          </a:xfrm>
          <a:prstGeom prst="rect">
            <a:avLst/>
          </a:prstGeom>
          <a:noFill/>
          <a:ln/>
        </p:spPr>
        <p:txBody>
          <a:bodyPr wrap="square" lIns="0" tIns="0" rIns="0" bIns="0" rtlCol="0" anchor="ctr"/>
          <a:lstStyle/>
          <a:p>
            <a:pPr indent="0" marL="0">
              <a:buNone/>
            </a:pPr>
            <a:r>
              <a:rPr lang="en-US" sz="1400" dirty="0">
                <a:solidFill>
                  <a:srgbClr val="191919"/>
                </a:solidFill>
                <a:latin typeface="Arial" pitchFamily="34" charset="0"/>
                <a:ea typeface="Arial" pitchFamily="34" charset="-122"/>
                <a:cs typeface="Arial" pitchFamily="34" charset="-120"/>
              </a:rPr>
              <a:t>Fork the repo, swap in your conventions, and ship your own policy gate inside two weeks.</a:t>
            </a:r>
            <a:endParaRPr lang="en-US" sz="1400" dirty="0"/>
          </a:p>
        </p:txBody>
      </p:sp>
      <p:sp>
        <p:nvSpPr>
          <p:cNvPr id="14" name="Text 12"/>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6B6B66"/>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91919"/>
        </a:solidFill>
      </p:bgPr>
    </p:bg>
    <p:spTree>
      <p:nvGrpSpPr>
        <p:cNvPr id="1" name=""/>
        <p:cNvGrpSpPr/>
        <p:nvPr/>
      </p:nvGrpSpPr>
      <p:grpSpPr>
        <a:xfrm>
          <a:off x="0" y="0"/>
          <a:ext cx="0" cy="0"/>
          <a:chOff x="0" y="0"/>
          <a:chExt cx="0" cy="0"/>
        </a:xfrm>
      </p:grpSpPr>
      <p:sp>
        <p:nvSpPr>
          <p:cNvPr id="2" name="Text 0"/>
          <p:cNvSpPr/>
          <p:nvPr/>
        </p:nvSpPr>
        <p:spPr>
          <a:xfrm>
            <a:off x="548640" y="1920240"/>
            <a:ext cx="7863840" cy="1097280"/>
          </a:xfrm>
          <a:prstGeom prst="rect">
            <a:avLst/>
          </a:prstGeom>
          <a:noFill/>
          <a:ln/>
        </p:spPr>
        <p:txBody>
          <a:bodyPr wrap="square" lIns="0" tIns="0" rIns="0" bIns="0" rtlCol="0" anchor="t"/>
          <a:lstStyle/>
          <a:p>
            <a:pPr indent="0" marL="0">
              <a:buNone/>
            </a:pPr>
            <a:r>
              <a:rPr lang="en-US" sz="3000" dirty="0">
                <a:solidFill>
                  <a:srgbClr val="FAF9F5"/>
                </a:solidFill>
                <a:latin typeface="Georgia" pitchFamily="34" charset="0"/>
                <a:ea typeface="Georgia" pitchFamily="34" charset="-122"/>
                <a:cs typeface="Georgia" pitchFamily="34" charset="-120"/>
              </a:rPr>
              <a:t>The demo ends with your policy in the artifact.</a:t>
            </a:r>
            <a:endParaRPr lang="en-US" sz="3000" dirty="0"/>
          </a:p>
        </p:txBody>
      </p:sp>
      <p:sp>
        <p:nvSpPr>
          <p:cNvPr id="3" name="Text 1"/>
          <p:cNvSpPr/>
          <p:nvPr/>
        </p:nvSpPr>
        <p:spPr>
          <a:xfrm>
            <a:off x="548640" y="3291840"/>
            <a:ext cx="5486400" cy="320040"/>
          </a:xfrm>
          <a:prstGeom prst="rect">
            <a:avLst/>
          </a:prstGeom>
          <a:noFill/>
          <a:ln/>
        </p:spPr>
        <p:txBody>
          <a:bodyPr wrap="square" lIns="0" tIns="0" rIns="0" bIns="0" rtlCol="0" anchor="ctr"/>
          <a:lstStyle/>
          <a:p>
            <a:pPr indent="0" marL="0">
              <a:buNone/>
            </a:pPr>
            <a:r>
              <a:rPr lang="en-US" sz="1200" dirty="0">
                <a:solidFill>
                  <a:srgbClr val="CC785C"/>
                </a:solidFill>
                <a:latin typeface="Consolas" pitchFamily="34" charset="0"/>
                <a:ea typeface="Consolas" pitchFamily="34" charset="-122"/>
                <a:cs typeface="Consolas" pitchFamily="34" charset="-120"/>
              </a:rPr>
              <a:t>github.com/andymadson/data-platform-pack</a:t>
            </a:r>
            <a:endParaRPr lang="en-US" sz="1200" dirty="0"/>
          </a:p>
        </p:txBody>
      </p:sp>
      <p:sp>
        <p:nvSpPr>
          <p:cNvPr id="4" name="Text 2"/>
          <p:cNvSpPr/>
          <p:nvPr/>
        </p:nvSpPr>
        <p:spPr>
          <a:xfrm>
            <a:off x="8458200" y="4759452"/>
            <a:ext cx="320040" cy="274320"/>
          </a:xfrm>
          <a:prstGeom prst="rect">
            <a:avLst/>
          </a:prstGeom>
          <a:noFill/>
          <a:ln/>
        </p:spPr>
        <p:txBody>
          <a:bodyPr wrap="square" lIns="0" tIns="0" rIns="0" bIns="0" rtlCol="0" anchor="ctr"/>
          <a:lstStyle/>
          <a:p>
            <a:pPr algn="r" indent="0" marL="0">
              <a:buNone/>
            </a:pPr>
            <a:r>
              <a:rPr lang="en-US" sz="900" dirty="0">
                <a:solidFill>
                  <a:srgbClr val="888780"/>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Plugins: the enterprise rollout story</dc:title>
  <dc:subject>Claude Code plugins enablement</dc:subject>
  <dc:creator>Andy Madson</dc:creator>
  <cp:lastModifiedBy>Andy Madson</cp:lastModifiedBy>
  <cp:revision>1</cp:revision>
  <dcterms:created xsi:type="dcterms:W3CDTF">2026-06-11T03:01:24Z</dcterms:created>
  <dcterms:modified xsi:type="dcterms:W3CDTF">2026-06-11T03:01:24Z</dcterms:modified>
</cp:coreProperties>
</file>